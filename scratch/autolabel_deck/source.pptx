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151"/>
  </p:normalViewPr>
  <p:slideViewPr>
    <p:cSldViewPr snapToGrid="0" snapToObjects="1">
      <p:cViewPr varScale="1">
        <p:scale>
          <a:sx n="105" d="100"/>
          <a:sy n="105" d="100"/>
        </p:scale>
        <p:origin x="13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Hours/year</c:v>
                </c:pt>
              </c:strCache>
            </c:strRef>
          </c:tx>
          <c:spPr>
            <a:solidFill>
              <a:srgbClr val="2563EB"/>
            </a:solidFill>
            <a:effectLst/>
          </c:spPr>
          <c:invertIfNegative val="0"/>
          <c:dPt>
            <c:idx val="0"/>
            <c:invertIfNegative val="0"/>
            <c:bubble3D val="0"/>
            <c:extLst>
              <c:ext xmlns:c16="http://schemas.microsoft.com/office/drawing/2014/chart" uri="{C3380CC4-5D6E-409C-BE32-E72D297353CC}">
                <c16:uniqueId val="{00000001-097D-2E47-B1C0-AA586A3F7DA5}"/>
              </c:ext>
            </c:extLst>
          </c:dPt>
          <c:dPt>
            <c:idx val="1"/>
            <c:invertIfNegative val="0"/>
            <c:bubble3D val="0"/>
            <c:spPr>
              <a:solidFill>
                <a:srgbClr val="16A34A"/>
              </a:solidFill>
              <a:effectLst/>
            </c:spPr>
            <c:extLst>
              <c:ext xmlns:c16="http://schemas.microsoft.com/office/drawing/2014/chart" uri="{C3380CC4-5D6E-409C-BE32-E72D297353CC}">
                <c16:uniqueId val="{00000003-097D-2E47-B1C0-AA586A3F7DA5}"/>
              </c:ext>
            </c:extLst>
          </c:dPt>
          <c:dPt>
            <c:idx val="2"/>
            <c:invertIfNegative val="0"/>
            <c:bubble3D val="0"/>
            <c:spPr>
              <a:solidFill>
                <a:srgbClr val="22C55E"/>
              </a:solidFill>
              <a:effectLst/>
            </c:spPr>
            <c:extLst>
              <c:ext xmlns:c16="http://schemas.microsoft.com/office/drawing/2014/chart" uri="{C3380CC4-5D6E-409C-BE32-E72D297353CC}">
                <c16:uniqueId val="{00000005-097D-2E47-B1C0-AA586A3F7DA5}"/>
              </c:ext>
            </c:extLst>
          </c:dPt>
          <c:dPt>
            <c:idx val="3"/>
            <c:invertIfNegative val="0"/>
            <c:bubble3D val="0"/>
            <c:spPr>
              <a:solidFill>
                <a:srgbClr val="D97706"/>
              </a:solidFill>
              <a:effectLst/>
            </c:spPr>
            <c:extLst>
              <c:ext xmlns:c16="http://schemas.microsoft.com/office/drawing/2014/chart" uri="{C3380CC4-5D6E-409C-BE32-E72D297353CC}">
                <c16:uniqueId val="{00000007-097D-2E47-B1C0-AA586A3F7DA5}"/>
              </c:ext>
            </c:extLst>
          </c:dPt>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Manual first-pass effort</c:v>
                </c:pt>
                <c:pt idx="1">
                  <c:v>Saved at 25%</c:v>
                </c:pt>
                <c:pt idx="2">
                  <c:v>Saved at 35%</c:v>
                </c:pt>
                <c:pt idx="3">
                  <c:v>Additional iteration savings</c:v>
                </c:pt>
              </c:strCache>
            </c:strRef>
          </c:cat>
          <c:val>
            <c:numRef>
              <c:f>Sheet1!$B$2:$B$5</c:f>
              <c:numCache>
                <c:formatCode>General</c:formatCode>
                <c:ptCount val="4"/>
                <c:pt idx="0">
                  <c:v>556</c:v>
                </c:pt>
                <c:pt idx="1">
                  <c:v>139</c:v>
                </c:pt>
                <c:pt idx="2">
                  <c:v>194</c:v>
                </c:pt>
                <c:pt idx="3">
                  <c:v>160</c:v>
                </c:pt>
              </c:numCache>
            </c:numRef>
          </c:val>
          <c:extLst>
            <c:ext xmlns:c16="http://schemas.microsoft.com/office/drawing/2014/chart" uri="{C3380CC4-5D6E-409C-BE32-E72D297353CC}">
              <c16:uniqueId val="{00000008-097D-2E47-B1C0-AA586A3F7DA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6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0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812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My proposal is an On-Device AI-Assisted Labeling System for edge-deployable perception models. The core idea is to build a practical </a:t>
            </a:r>
            <a:r>
              <a:rPr lang="en-US" sz="1200" b="1" kern="1200" dirty="0">
                <a:solidFill>
                  <a:schemeClr val="tx1"/>
                </a:solidFill>
                <a:effectLst/>
                <a:latin typeface="+mn-lt"/>
                <a:ea typeface="+mn-ea"/>
                <a:cs typeface="+mn-cs"/>
              </a:rPr>
              <a:t>labeling assistant </a:t>
            </a:r>
            <a:r>
              <a:rPr lang="en-US" sz="1200" kern="1200" dirty="0">
                <a:solidFill>
                  <a:schemeClr val="tx1"/>
                </a:solidFill>
                <a:effectLst/>
                <a:latin typeface="+mn-lt"/>
                <a:ea typeface="+mn-ea"/>
                <a:cs typeface="+mn-cs"/>
              </a:rPr>
              <a:t>that can run on target edge hardware and generate candidate labels—such as bounding boxes or segmentation masks—together with confidence scores, runtime metadata, and review flags. The important point is that this is not intended to replace human review. It is designed to reduce first-pass manual labeling effort while keeping review, traceability, and validation mandatory.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motivation comes from a recurring challenge in perception data workflows. Manual labeling is expensive and slow, label quality can vary, and iteration cycles become long when teams need to prepare new datasets repeatedly. Another issue is that hardware constraints are often considered late, after a model or workflow has already been designed offline. My proposal addresses this gap by creating a compact on-device detector or </a:t>
            </a:r>
            <a:r>
              <a:rPr lang="en-US" sz="1200" kern="1200" dirty="0" err="1">
                <a:solidFill>
                  <a:schemeClr val="tx1"/>
                </a:solidFill>
                <a:effectLst/>
                <a:latin typeface="+mn-lt"/>
                <a:ea typeface="+mn-ea"/>
                <a:cs typeface="+mn-cs"/>
              </a:rPr>
              <a:t>segmenter</a:t>
            </a:r>
            <a:r>
              <a:rPr lang="en-US" sz="1200" kern="1200" dirty="0">
                <a:solidFill>
                  <a:schemeClr val="tx1"/>
                </a:solidFill>
                <a:effectLst/>
                <a:latin typeface="+mn-lt"/>
                <a:ea typeface="+mn-ea"/>
                <a:cs typeface="+mn-cs"/>
              </a:rPr>
              <a:t> that produces pre-labels and metadata directly in an edge-aware workflow. The output then goes to a human-in-the-loop review process, where labels can be accepted, corrected, or rejected, while every run remains versioned and traceable</a:t>
            </a:r>
            <a:r>
              <a:rPr lang="en-US"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keep the project feasible for the DSX Senior Phase, I am intentionally limiting the first prototype. The initial scope would focus on one representative camera or perception domain and approximately </a:t>
            </a:r>
            <a:r>
              <a:rPr lang="en-US" sz="1200" b="1" kern="1200" dirty="0">
                <a:solidFill>
                  <a:schemeClr val="tx1"/>
                </a:solidFill>
                <a:effectLst/>
                <a:latin typeface="+mn-lt"/>
                <a:ea typeface="+mn-ea"/>
                <a:cs typeface="+mn-cs"/>
              </a:rPr>
              <a:t>two to five high-value </a:t>
            </a:r>
            <a:r>
              <a:rPr lang="en-US" sz="1200" kern="1200" dirty="0">
                <a:solidFill>
                  <a:schemeClr val="tx1"/>
                </a:solidFill>
                <a:effectLst/>
                <a:latin typeface="+mn-lt"/>
                <a:ea typeface="+mn-ea"/>
                <a:cs typeface="+mn-cs"/>
              </a:rPr>
              <a:t>object classes or label types. For the pilot, I assume a training and validation subset of around 5,000 to 20,000 frames and a smaller device benchmark set of around 500 to 2,000 frames. The data should include realistic variation—lighting, occlusion, object distance, and sensor setup. Success would not mean perfect autonomous labeling. Success means the pre-labels are useful enough to reduce human first-pass effort, the model runs within target device constraints, and the results include structured metadata and scenario-level failure analysis.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workflow is designed as an end-to-end prototype rather than a single model experiment. First, we select the dataset, classes, and label ontology. Second, we prepare labels and, where useful, use stronger offline teacher models to generate candidate pseudo-labels. Third, we fine-tune a compact student model for the selected classes. Fourth, we export and optimize the model for edge inference, for example through ONNX and a suitable runtime such as </a:t>
            </a:r>
            <a:r>
              <a:rPr lang="en-US" sz="1200" kern="1200" dirty="0" err="1">
                <a:solidFill>
                  <a:schemeClr val="tx1"/>
                </a:solidFill>
                <a:effectLst/>
                <a:latin typeface="+mn-lt"/>
                <a:ea typeface="+mn-ea"/>
                <a:cs typeface="+mn-cs"/>
              </a:rPr>
              <a:t>TensorRT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OpenVINO</a:t>
            </a:r>
            <a:r>
              <a:rPr lang="en-US" sz="1200" kern="1200" dirty="0">
                <a:solidFill>
                  <a:schemeClr val="tx1"/>
                </a:solidFill>
                <a:effectLst/>
                <a:latin typeface="+mn-lt"/>
                <a:ea typeface="+mn-ea"/>
                <a:cs typeface="+mn-cs"/>
              </a:rPr>
              <a:t>, or </a:t>
            </a:r>
            <a:r>
              <a:rPr lang="en-US" sz="1200" kern="1200" dirty="0" err="1">
                <a:solidFill>
                  <a:schemeClr val="tx1"/>
                </a:solidFill>
                <a:effectLst/>
                <a:latin typeface="+mn-lt"/>
                <a:ea typeface="+mn-ea"/>
                <a:cs typeface="+mn-cs"/>
              </a:rPr>
              <a:t>TFLite</a:t>
            </a:r>
            <a:r>
              <a:rPr lang="en-US" sz="1200" kern="1200" dirty="0">
                <a:solidFill>
                  <a:schemeClr val="tx1"/>
                </a:solidFill>
                <a:effectLst/>
                <a:latin typeface="+mn-lt"/>
                <a:ea typeface="+mn-ea"/>
                <a:cs typeface="+mn-cs"/>
              </a:rPr>
              <a:t> depending on the hardware. Fifth, we benchmark the model on device for latency, memory, FPS, model size, and cold-start behavior. Finally, the predictions are integrated into a review workflow such as </a:t>
            </a:r>
            <a:r>
              <a:rPr lang="en-US" sz="1200" kern="1200" dirty="0" err="1">
                <a:solidFill>
                  <a:schemeClr val="tx1"/>
                </a:solidFill>
                <a:effectLst/>
                <a:latin typeface="+mn-lt"/>
                <a:ea typeface="+mn-ea"/>
                <a:cs typeface="+mn-cs"/>
              </a:rPr>
              <a:t>FiftyOne</a:t>
            </a:r>
            <a:r>
              <a:rPr lang="en-US" sz="1200" kern="1200" dirty="0">
                <a:solidFill>
                  <a:schemeClr val="tx1"/>
                </a:solidFill>
                <a:effectLst/>
                <a:latin typeface="+mn-lt"/>
                <a:ea typeface="+mn-ea"/>
                <a:cs typeface="+mn-cs"/>
              </a:rPr>
              <a:t> or a lightweight UI/API, and the result is documented in a quality and failure-analysis report.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model strategy separates offline intelligence from on-device execution. Offline, we may use stronger teacher or foundation models to help bootstrap pseudo-labels. But the device component should remain compact and efficient. The primary candidate is a YOLO-style detector or </a:t>
            </a:r>
            <a:r>
              <a:rPr lang="en-US" sz="1200" kern="1200" dirty="0" err="1">
                <a:solidFill>
                  <a:schemeClr val="tx1"/>
                </a:solidFill>
                <a:effectLst/>
                <a:latin typeface="+mn-lt"/>
                <a:ea typeface="+mn-ea"/>
                <a:cs typeface="+mn-cs"/>
              </a:rPr>
              <a:t>segmenter</a:t>
            </a:r>
            <a:r>
              <a:rPr lang="en-US" sz="1200" kern="1200" dirty="0">
                <a:solidFill>
                  <a:schemeClr val="tx1"/>
                </a:solidFill>
                <a:effectLst/>
                <a:latin typeface="+mn-lt"/>
                <a:ea typeface="+mn-ea"/>
                <a:cs typeface="+mn-cs"/>
              </a:rPr>
              <a:t> because it is practical to fine-tune, has mature export paths, and can provide fast inference for boxes and masks. If mask quality becomes more important than speed, a second lightweight segmentation candidate can be compared. Evaluation will include classical model-quality metrics such as precision, recall, </a:t>
            </a:r>
            <a:r>
              <a:rPr lang="en-US" sz="1200" kern="1200" dirty="0" err="1">
                <a:solidFill>
                  <a:schemeClr val="tx1"/>
                </a:solidFill>
                <a:effectLst/>
                <a:latin typeface="+mn-lt"/>
                <a:ea typeface="+mn-ea"/>
                <a:cs typeface="+mn-cs"/>
              </a:rPr>
              <a:t>mAP</a:t>
            </a:r>
            <a:r>
              <a:rPr lang="en-US" sz="1200" kern="1200" dirty="0">
                <a:solidFill>
                  <a:schemeClr val="tx1"/>
                </a:solidFill>
                <a:effectLst/>
                <a:latin typeface="+mn-lt"/>
                <a:ea typeface="+mn-ea"/>
                <a:cs typeface="+mn-cs"/>
              </a:rPr>
              <a:t>, and mask </a:t>
            </a:r>
            <a:r>
              <a:rPr lang="en-US" sz="1200" kern="1200" dirty="0" err="1">
                <a:solidFill>
                  <a:schemeClr val="tx1"/>
                </a:solidFill>
                <a:effectLst/>
                <a:latin typeface="+mn-lt"/>
                <a:ea typeface="+mn-ea"/>
                <a:cs typeface="+mn-cs"/>
              </a:rPr>
              <a:t>IoU</a:t>
            </a:r>
            <a:r>
              <a:rPr lang="en-US" sz="1200" kern="1200" dirty="0">
                <a:solidFill>
                  <a:schemeClr val="tx1"/>
                </a:solidFill>
                <a:effectLst/>
                <a:latin typeface="+mn-lt"/>
                <a:ea typeface="+mn-ea"/>
                <a:cs typeface="+mn-cs"/>
              </a:rPr>
              <a:t>, but also engineering metrics such as latency, FPS, memory usage, model size, and cold-start time. This combination is important because a labeling assistant only creates value if it is both accurate enough and operationally usable</a:t>
            </a:r>
            <a:r>
              <a:rPr lang="en-US"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There are four main risks.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first is edge constraint risk: the model may be too large or too slow. I would mitigate this by benchmarking early, starting with nano or small model variants, tuning input resolution, and using FP16 or INT8 optimization where appropriate.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second risk is label quality. Because the output could be wrong, human review remains mandatory, and acceptance gates will be defined per class and scenario.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The third risk is domain shift across sensors, lighting, object distance, or scenarios. To address this, the validation split should be representative and metrics should be reported at scenario level, not only as global averages.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fourth risk is integration complexity. To avoid creating a separate labeling silo, the prototype will standardize the output schema and integrate with existing review workflows and dataset pipelines.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business case is based on conservative assumptions. For one pilot workflow with 100,000 frames per year and about 20 seconds of manual first-pass effort per frame, the annual effort is about 556 hours. If pre-labeling reduces that first-pass effort by 25 to 35 percent, the saving is roughly 139 to 194 hours per year for one workflow. At an assumed internal cost of 70 euros per hour, that is about 9,700 to 13,600 euros per year. The more important value appears when the prototype is reused across multiple similar workflows and reduces dataset iteration time. With three comparable workflows and faster iteration cycles, the conservative annual benefit is approximately 35,000 to 55,000 euros, excluding secondary benefits such as better traceability, improved V&amp;V evidence, and reduced rework from inconsistent labels.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implementation plan is scoped for approximately 8 to 12 weeks of part-time DSX Senior Phase work. In the first two weeks, I would finalize the dataset, ontology, target device, and baseline metrics. In weeks three to five, I would build the training and pseudo-label pipeline. In weeks six to eight, I would export, optimize, and deploy the compact model on the target hardware. In weeks nine and ten, I would integrate the output with a review workflow and run validation. In the final weeks, I would prepare the report, documentation, and handoff material. The required inputs are a representative dataset, access to target or benchmark hardware, selected classes or ontology, and access to the review workflow. My ask is to approve this as a reusable edge-aware labeling assistant prototype with measurable quality, runtime, and traceability outcomes.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6473952"/>
            <a:ext cx="2743200" cy="201168"/>
          </a:xfrm>
          <a:prstGeom prst="rect">
            <a:avLst/>
          </a:prstGeom>
          <a:noFill/>
          <a:ln/>
        </p:spPr>
        <p:txBody>
          <a:bodyPr wrap="square" lIns="0" tIns="0" rIns="0" bIns="0" rtlCol="0" anchor="ctr"/>
          <a:lstStyle/>
          <a:p>
            <a:pPr marL="0" indent="0">
              <a:buNone/>
            </a:pPr>
            <a:r>
              <a:rPr lang="en-US" sz="1000" dirty="0">
                <a:solidFill>
                  <a:srgbClr val="64748B"/>
                </a:solidFill>
              </a:rPr>
              <a:t>DSX Senior Phase Proposal</a:t>
            </a:r>
            <a:endParaRPr lang="en-US" sz="1000" dirty="0"/>
          </a:p>
        </p:txBody>
      </p:sp>
      <p:sp>
        <p:nvSpPr>
          <p:cNvPr id="4" name="Text 2"/>
          <p:cNvSpPr/>
          <p:nvPr/>
        </p:nvSpPr>
        <p:spPr>
          <a:xfrm>
            <a:off x="9692640" y="6473952"/>
            <a:ext cx="1920240" cy="201168"/>
          </a:xfrm>
          <a:prstGeom prst="rect">
            <a:avLst/>
          </a:prstGeom>
          <a:noFill/>
          <a:ln/>
        </p:spPr>
        <p:txBody>
          <a:bodyPr wrap="square" lIns="0" tIns="0" rIns="0" bIns="0" rtlCol="0" anchor="ctr"/>
          <a:lstStyle/>
          <a:p>
            <a:pPr marL="0" indent="0" algn="r">
              <a:buNone/>
            </a:pPr>
            <a:r>
              <a:rPr lang="en-US" sz="1000" dirty="0">
                <a:solidFill>
                  <a:srgbClr val="64748B"/>
                </a:solidFill>
              </a:rPr>
              <a:t>Ali Rahim Taleqani</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822960"/>
            <a:ext cx="11064240" cy="5303520"/>
          </a:xfrm>
          <a:prstGeom prst="roundRect">
            <a:avLst>
              <a:gd name="adj" fmla="val 1379"/>
            </a:avLst>
          </a:prstGeom>
          <a:solidFill>
            <a:srgbClr val="FFFFFF"/>
          </a:solidFill>
          <a:ln w="12700">
            <a:solidFill>
              <a:srgbClr val="E2E8F0"/>
            </a:solidFill>
            <a:prstDash val="solid"/>
          </a:ln>
        </p:spPr>
        <p:txBody>
          <a:bodyPr/>
          <a:lstStyle/>
          <a:p>
            <a:endParaRPr lang="en-US"/>
          </a:p>
        </p:txBody>
      </p:sp>
      <p:sp>
        <p:nvSpPr>
          <p:cNvPr id="3" name="Shape 1"/>
          <p:cNvSpPr/>
          <p:nvPr/>
        </p:nvSpPr>
        <p:spPr>
          <a:xfrm>
            <a:off x="8138160" y="822960"/>
            <a:ext cx="3474720" cy="53035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914400" y="1325880"/>
            <a:ext cx="6217920" cy="1234440"/>
          </a:xfrm>
          <a:prstGeom prst="rect">
            <a:avLst/>
          </a:prstGeom>
          <a:noFill/>
          <a:ln/>
        </p:spPr>
        <p:txBody>
          <a:bodyPr wrap="square" lIns="0" tIns="0" rIns="0" bIns="0" rtlCol="0" anchor="ctr"/>
          <a:lstStyle/>
          <a:p>
            <a:pPr marL="0" indent="0">
              <a:buNone/>
            </a:pPr>
            <a:r>
              <a:rPr lang="en-US" sz="2400" b="1" dirty="0">
                <a:solidFill>
                  <a:srgbClr val="0F172A"/>
                </a:solidFill>
              </a:rPr>
              <a:t>On-Device AI-Assisted</a:t>
            </a:r>
            <a:endParaRPr lang="en-US" sz="2400" dirty="0"/>
          </a:p>
          <a:p>
            <a:pPr marL="0" indent="0">
              <a:buNone/>
            </a:pPr>
            <a:r>
              <a:rPr lang="en-US" sz="2400" b="1" dirty="0">
                <a:solidFill>
                  <a:srgbClr val="0F172A"/>
                </a:solidFill>
              </a:rPr>
              <a:t>Labeling System</a:t>
            </a:r>
            <a:endParaRPr lang="en-US" sz="2400" dirty="0"/>
          </a:p>
        </p:txBody>
      </p:sp>
      <p:sp>
        <p:nvSpPr>
          <p:cNvPr id="5" name="Text 3"/>
          <p:cNvSpPr/>
          <p:nvPr/>
        </p:nvSpPr>
        <p:spPr>
          <a:xfrm>
            <a:off x="932688" y="2697480"/>
            <a:ext cx="6035040" cy="640080"/>
          </a:xfrm>
          <a:prstGeom prst="rect">
            <a:avLst/>
          </a:prstGeom>
          <a:noFill/>
          <a:ln/>
        </p:spPr>
        <p:txBody>
          <a:bodyPr wrap="square" lIns="0" tIns="0" rIns="0" bIns="0" rtlCol="0" anchor="ctr"/>
          <a:lstStyle/>
          <a:p>
            <a:pPr marL="0" indent="0">
              <a:buNone/>
            </a:pPr>
            <a:r>
              <a:rPr lang="en-US" sz="1800" dirty="0">
                <a:solidFill>
                  <a:srgbClr val="334155"/>
                </a:solidFill>
              </a:rPr>
              <a:t>Edge-deployable perception models for pre-labeling, review support, and traceable validation</a:t>
            </a:r>
            <a:endParaRPr lang="en-US" sz="1800" dirty="0"/>
          </a:p>
        </p:txBody>
      </p:sp>
      <p:sp>
        <p:nvSpPr>
          <p:cNvPr id="6" name="Shape 4"/>
          <p:cNvSpPr/>
          <p:nvPr/>
        </p:nvSpPr>
        <p:spPr>
          <a:xfrm>
            <a:off x="914400" y="3840480"/>
            <a:ext cx="1234440" cy="384048"/>
          </a:xfrm>
          <a:prstGeom prst="roundRect">
            <a:avLst>
              <a:gd name="adj" fmla="val 19048"/>
            </a:avLst>
          </a:prstGeom>
          <a:solidFill>
            <a:srgbClr val="DBEAFE"/>
          </a:solidFill>
          <a:ln w="12700">
            <a:solidFill>
              <a:srgbClr val="DBEAFE"/>
            </a:solidFill>
            <a:prstDash val="solid"/>
          </a:ln>
        </p:spPr>
        <p:txBody>
          <a:bodyPr/>
          <a:lstStyle/>
          <a:p>
            <a:endParaRPr lang="en-US"/>
          </a:p>
        </p:txBody>
      </p:sp>
      <p:sp>
        <p:nvSpPr>
          <p:cNvPr id="7" name="Text 5"/>
          <p:cNvSpPr/>
          <p:nvPr/>
        </p:nvSpPr>
        <p:spPr>
          <a:xfrm>
            <a:off x="914400" y="3913632"/>
            <a:ext cx="1234440" cy="182880"/>
          </a:xfrm>
          <a:prstGeom prst="rect">
            <a:avLst/>
          </a:prstGeom>
          <a:noFill/>
          <a:ln/>
        </p:spPr>
        <p:txBody>
          <a:bodyPr wrap="square" lIns="0" tIns="0" rIns="0" bIns="0" rtlCol="0" anchor="ctr"/>
          <a:lstStyle/>
          <a:p>
            <a:pPr marL="0" indent="0" algn="ctr">
              <a:buNone/>
            </a:pPr>
            <a:r>
              <a:rPr lang="en-US" sz="1200" b="1" dirty="0">
                <a:solidFill>
                  <a:srgbClr val="2563EB"/>
                </a:solidFill>
              </a:rPr>
              <a:t>Computer Vision</a:t>
            </a:r>
            <a:endParaRPr lang="en-US" sz="1200" dirty="0"/>
          </a:p>
        </p:txBody>
      </p:sp>
      <p:sp>
        <p:nvSpPr>
          <p:cNvPr id="8" name="Shape 6"/>
          <p:cNvSpPr/>
          <p:nvPr/>
        </p:nvSpPr>
        <p:spPr>
          <a:xfrm>
            <a:off x="2240280" y="3840480"/>
            <a:ext cx="914400" cy="384048"/>
          </a:xfrm>
          <a:prstGeom prst="roundRect">
            <a:avLst>
              <a:gd name="adj" fmla="val 19048"/>
            </a:avLst>
          </a:prstGeom>
          <a:solidFill>
            <a:srgbClr val="DCFCE7"/>
          </a:solidFill>
          <a:ln w="12700">
            <a:solidFill>
              <a:srgbClr val="DCFCE7"/>
            </a:solidFill>
            <a:prstDash val="solid"/>
          </a:ln>
        </p:spPr>
        <p:txBody>
          <a:bodyPr/>
          <a:lstStyle/>
          <a:p>
            <a:endParaRPr lang="en-US"/>
          </a:p>
        </p:txBody>
      </p:sp>
      <p:sp>
        <p:nvSpPr>
          <p:cNvPr id="9" name="Text 7"/>
          <p:cNvSpPr/>
          <p:nvPr/>
        </p:nvSpPr>
        <p:spPr>
          <a:xfrm>
            <a:off x="2240280" y="3913632"/>
            <a:ext cx="914400" cy="182880"/>
          </a:xfrm>
          <a:prstGeom prst="rect">
            <a:avLst/>
          </a:prstGeom>
          <a:noFill/>
          <a:ln/>
        </p:spPr>
        <p:txBody>
          <a:bodyPr wrap="square" lIns="0" tIns="0" rIns="0" bIns="0" rtlCol="0" anchor="ctr"/>
          <a:lstStyle/>
          <a:p>
            <a:pPr marL="0" indent="0" algn="ctr">
              <a:buNone/>
            </a:pPr>
            <a:r>
              <a:rPr lang="en-US" sz="1200" b="1" dirty="0">
                <a:solidFill>
                  <a:srgbClr val="16A34A"/>
                </a:solidFill>
              </a:rPr>
              <a:t>Edge AI</a:t>
            </a:r>
            <a:endParaRPr lang="en-US" sz="1200" dirty="0"/>
          </a:p>
        </p:txBody>
      </p:sp>
      <p:sp>
        <p:nvSpPr>
          <p:cNvPr id="10" name="Shape 8"/>
          <p:cNvSpPr/>
          <p:nvPr/>
        </p:nvSpPr>
        <p:spPr>
          <a:xfrm>
            <a:off x="3291840" y="3840480"/>
            <a:ext cx="1417320" cy="384048"/>
          </a:xfrm>
          <a:prstGeom prst="roundRect">
            <a:avLst>
              <a:gd name="adj" fmla="val 19048"/>
            </a:avLst>
          </a:prstGeom>
          <a:solidFill>
            <a:srgbClr val="FEF3C7"/>
          </a:solidFill>
          <a:ln w="12700">
            <a:solidFill>
              <a:srgbClr val="FEF3C7"/>
            </a:solidFill>
            <a:prstDash val="solid"/>
          </a:ln>
        </p:spPr>
        <p:txBody>
          <a:bodyPr/>
          <a:lstStyle/>
          <a:p>
            <a:endParaRPr lang="en-US"/>
          </a:p>
        </p:txBody>
      </p:sp>
      <p:sp>
        <p:nvSpPr>
          <p:cNvPr id="11" name="Text 9"/>
          <p:cNvSpPr/>
          <p:nvPr/>
        </p:nvSpPr>
        <p:spPr>
          <a:xfrm>
            <a:off x="3291840" y="3913632"/>
            <a:ext cx="1417320" cy="182880"/>
          </a:xfrm>
          <a:prstGeom prst="rect">
            <a:avLst/>
          </a:prstGeom>
          <a:noFill/>
          <a:ln/>
        </p:spPr>
        <p:txBody>
          <a:bodyPr wrap="square" lIns="0" tIns="0" rIns="0" bIns="0" rtlCol="0" anchor="ctr"/>
          <a:lstStyle/>
          <a:p>
            <a:pPr marL="0" indent="0" algn="ctr">
              <a:buNone/>
            </a:pPr>
            <a:r>
              <a:rPr lang="en-US" sz="1200" b="1" dirty="0">
                <a:solidFill>
                  <a:srgbClr val="D97706"/>
                </a:solidFill>
              </a:rPr>
              <a:t>ML Engineering</a:t>
            </a:r>
            <a:endParaRPr lang="en-US" sz="1200" dirty="0"/>
          </a:p>
        </p:txBody>
      </p:sp>
      <p:sp>
        <p:nvSpPr>
          <p:cNvPr id="12" name="Shape 10"/>
          <p:cNvSpPr/>
          <p:nvPr/>
        </p:nvSpPr>
        <p:spPr>
          <a:xfrm>
            <a:off x="4846320" y="3840480"/>
            <a:ext cx="731520" cy="384048"/>
          </a:xfrm>
          <a:prstGeom prst="roundRect">
            <a:avLst>
              <a:gd name="adj" fmla="val 19048"/>
            </a:avLst>
          </a:prstGeom>
          <a:solidFill>
            <a:srgbClr val="EDE9FE"/>
          </a:solidFill>
          <a:ln w="12700">
            <a:solidFill>
              <a:srgbClr val="EDE9FE"/>
            </a:solidFill>
            <a:prstDash val="solid"/>
          </a:ln>
        </p:spPr>
        <p:txBody>
          <a:bodyPr/>
          <a:lstStyle/>
          <a:p>
            <a:endParaRPr lang="en-US"/>
          </a:p>
        </p:txBody>
      </p:sp>
      <p:sp>
        <p:nvSpPr>
          <p:cNvPr id="13" name="Text 11"/>
          <p:cNvSpPr/>
          <p:nvPr/>
        </p:nvSpPr>
        <p:spPr>
          <a:xfrm>
            <a:off x="4846320" y="3913632"/>
            <a:ext cx="731520" cy="182880"/>
          </a:xfrm>
          <a:prstGeom prst="rect">
            <a:avLst/>
          </a:prstGeom>
          <a:noFill/>
          <a:ln/>
        </p:spPr>
        <p:txBody>
          <a:bodyPr wrap="square" lIns="0" tIns="0" rIns="0" bIns="0" rtlCol="0" anchor="ctr"/>
          <a:lstStyle/>
          <a:p>
            <a:pPr marL="0" indent="0" algn="ctr">
              <a:buNone/>
            </a:pPr>
            <a:r>
              <a:rPr lang="en-US" sz="1200" b="1" dirty="0">
                <a:solidFill>
                  <a:srgbClr val="7C3AED"/>
                </a:solidFill>
              </a:rPr>
              <a:t>V&amp;V</a:t>
            </a:r>
            <a:endParaRPr lang="en-US" sz="1200" dirty="0"/>
          </a:p>
        </p:txBody>
      </p:sp>
      <p:sp>
        <p:nvSpPr>
          <p:cNvPr id="14" name="Text 12"/>
          <p:cNvSpPr/>
          <p:nvPr/>
        </p:nvSpPr>
        <p:spPr>
          <a:xfrm>
            <a:off x="8503920" y="4343400"/>
            <a:ext cx="2560320" cy="731520"/>
          </a:xfrm>
          <a:prstGeom prst="rect">
            <a:avLst/>
          </a:prstGeom>
          <a:noFill/>
          <a:ln/>
        </p:spPr>
        <p:txBody>
          <a:bodyPr wrap="square" lIns="0" tIns="0" rIns="0" bIns="0" rtlCol="0" anchor="ctr"/>
          <a:lstStyle/>
          <a:p>
            <a:pPr marL="0" indent="0" algn="l">
              <a:buNone/>
            </a:pPr>
            <a:r>
              <a:rPr lang="en-US" sz="1800" b="1" dirty="0">
                <a:solidFill>
                  <a:srgbClr val="FFFFFF"/>
                </a:solidFill>
              </a:rPr>
              <a:t>Ali Rahim Taleqani</a:t>
            </a:r>
            <a:endParaRPr lang="en-US" sz="1800" dirty="0"/>
          </a:p>
          <a:p>
            <a:pPr marL="0" indent="0" algn="l">
              <a:buNone/>
            </a:pPr>
            <a:r>
              <a:rPr lang="en-US" sz="1800" b="1" dirty="0">
                <a:solidFill>
                  <a:srgbClr val="FFFFFF"/>
                </a:solidFill>
              </a:rPr>
              <a:t>DSX Senior Phase Proposal</a:t>
            </a:r>
            <a:endParaRPr lang="en-US" sz="1800" dirty="0"/>
          </a:p>
        </p:txBody>
      </p:sp>
      <p:sp>
        <p:nvSpPr>
          <p:cNvPr id="15" name="Text 13"/>
          <p:cNvSpPr/>
          <p:nvPr/>
        </p:nvSpPr>
        <p:spPr>
          <a:xfrm>
            <a:off x="8503920" y="1325880"/>
            <a:ext cx="2377440" cy="1645920"/>
          </a:xfrm>
          <a:prstGeom prst="rect">
            <a:avLst/>
          </a:prstGeom>
          <a:noFill/>
          <a:ln/>
        </p:spPr>
        <p:txBody>
          <a:bodyPr wrap="square" lIns="0" tIns="0" rIns="0" bIns="0" rtlCol="0" anchor="ctr"/>
          <a:lstStyle/>
          <a:p>
            <a:pPr marL="0" indent="0">
              <a:buNone/>
            </a:pPr>
            <a:r>
              <a:rPr lang="en-US" sz="1700" dirty="0">
                <a:solidFill>
                  <a:srgbClr val="DCE6F7"/>
                </a:solidFill>
              </a:rPr>
              <a:t>Goal: build a validated prototype that runs on target edge hardware and assists—not replaces—human labeling.</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02920"/>
            <a:ext cx="8046720" cy="411480"/>
          </a:xfrm>
          <a:prstGeom prst="rect">
            <a:avLst/>
          </a:prstGeom>
          <a:noFill/>
          <a:ln/>
        </p:spPr>
        <p:txBody>
          <a:bodyPr wrap="square" lIns="0" tIns="0" rIns="0" bIns="0" rtlCol="0" anchor="ctr"/>
          <a:lstStyle/>
          <a:p>
            <a:pPr marL="0" indent="0">
              <a:buNone/>
            </a:pPr>
            <a:r>
              <a:rPr lang="en-US" sz="2800" b="1" dirty="0">
                <a:solidFill>
                  <a:srgbClr val="0F172A"/>
                </a:solidFill>
              </a:rPr>
              <a:t>Problem and proposal at a glance</a:t>
            </a:r>
            <a:endParaRPr lang="en-US" sz="2800" dirty="0"/>
          </a:p>
        </p:txBody>
      </p:sp>
      <p:sp>
        <p:nvSpPr>
          <p:cNvPr id="3" name="Shape 1"/>
          <p:cNvSpPr/>
          <p:nvPr/>
        </p:nvSpPr>
        <p:spPr>
          <a:xfrm>
            <a:off x="640080" y="1417320"/>
            <a:ext cx="3611880" cy="4434840"/>
          </a:xfrm>
          <a:prstGeom prst="roundRect">
            <a:avLst>
              <a:gd name="adj" fmla="val 1519"/>
            </a:avLst>
          </a:prstGeom>
          <a:solidFill>
            <a:srgbClr val="FFFFFF"/>
          </a:solidFill>
          <a:ln w="12700">
            <a:solidFill>
              <a:srgbClr val="E2E8F0"/>
            </a:solidFill>
            <a:prstDash val="solid"/>
          </a:ln>
        </p:spPr>
        <p:txBody>
          <a:bodyPr/>
          <a:lstStyle/>
          <a:p>
            <a:endParaRPr lang="en-US"/>
          </a:p>
        </p:txBody>
      </p:sp>
      <p:sp>
        <p:nvSpPr>
          <p:cNvPr id="4" name="Text 2"/>
          <p:cNvSpPr/>
          <p:nvPr/>
        </p:nvSpPr>
        <p:spPr>
          <a:xfrm>
            <a:off x="804672" y="1563624"/>
            <a:ext cx="3282696" cy="256032"/>
          </a:xfrm>
          <a:prstGeom prst="rect">
            <a:avLst/>
          </a:prstGeom>
          <a:noFill/>
          <a:ln/>
        </p:spPr>
        <p:txBody>
          <a:bodyPr wrap="square" lIns="0" tIns="0" rIns="0" bIns="0" rtlCol="0" anchor="ctr"/>
          <a:lstStyle/>
          <a:p>
            <a:pPr marL="0" indent="0">
              <a:buNone/>
            </a:pPr>
            <a:r>
              <a:rPr lang="en-US" sz="1800" b="1" dirty="0">
                <a:solidFill>
                  <a:srgbClr val="0F172A"/>
                </a:solidFill>
              </a:rPr>
              <a:t>Current pain points</a:t>
            </a:r>
            <a:endParaRPr lang="en-US" sz="1800" dirty="0"/>
          </a:p>
        </p:txBody>
      </p:sp>
      <p:sp>
        <p:nvSpPr>
          <p:cNvPr id="5" name="Text 3"/>
          <p:cNvSpPr/>
          <p:nvPr/>
        </p:nvSpPr>
        <p:spPr>
          <a:xfrm>
            <a:off x="804672" y="1874520"/>
            <a:ext cx="3282696" cy="3840480"/>
          </a:xfrm>
          <a:prstGeom prst="rect">
            <a:avLst/>
          </a:prstGeom>
          <a:noFill/>
          <a:ln/>
        </p:spPr>
        <p:txBody>
          <a:bodyPr wrap="square" lIns="0" tIns="0" rIns="0" bIns="0" rtlCol="0" anchor="t"/>
          <a:lstStyle/>
          <a:p>
            <a:pPr marL="0" indent="0">
              <a:buNone/>
            </a:pPr>
            <a:r>
              <a:rPr lang="en-US" sz="1500" dirty="0">
                <a:solidFill>
                  <a:srgbClr val="334155"/>
                </a:solidFill>
              </a:rPr>
              <a:t>• Manual labeling effort is high</a:t>
            </a:r>
            <a:endParaRPr lang="en-US" sz="1500" dirty="0"/>
          </a:p>
          <a:p>
            <a:pPr marL="0" indent="0">
              <a:buNone/>
            </a:pPr>
            <a:r>
              <a:rPr lang="en-US" sz="1500" dirty="0">
                <a:solidFill>
                  <a:srgbClr val="334155"/>
                </a:solidFill>
              </a:rPr>
              <a:t>• Label quality can be inconsistent</a:t>
            </a:r>
            <a:endParaRPr lang="en-US" sz="1500" dirty="0"/>
          </a:p>
          <a:p>
            <a:pPr marL="0" indent="0">
              <a:buNone/>
            </a:pPr>
            <a:r>
              <a:rPr lang="en-US" sz="1500" dirty="0">
                <a:solidFill>
                  <a:srgbClr val="334155"/>
                </a:solidFill>
              </a:rPr>
              <a:t>• Iteration cycles are slow</a:t>
            </a:r>
            <a:endParaRPr lang="en-US" sz="1500" dirty="0"/>
          </a:p>
          <a:p>
            <a:pPr marL="0" indent="0">
              <a:buNone/>
            </a:pPr>
            <a:r>
              <a:rPr lang="en-US" sz="1500" dirty="0">
                <a:solidFill>
                  <a:srgbClr val="334155"/>
                </a:solidFill>
              </a:rPr>
              <a:t>• Hardware constraints are often ignored until late</a:t>
            </a:r>
            <a:endParaRPr lang="en-US" sz="1500" dirty="0"/>
          </a:p>
        </p:txBody>
      </p:sp>
      <p:sp>
        <p:nvSpPr>
          <p:cNvPr id="6" name="Shape 4"/>
          <p:cNvSpPr/>
          <p:nvPr/>
        </p:nvSpPr>
        <p:spPr>
          <a:xfrm>
            <a:off x="4297680" y="1417320"/>
            <a:ext cx="3611880" cy="4434840"/>
          </a:xfrm>
          <a:prstGeom prst="roundRect">
            <a:avLst>
              <a:gd name="adj" fmla="val 1519"/>
            </a:avLst>
          </a:prstGeom>
          <a:solidFill>
            <a:srgbClr val="F8FAFC"/>
          </a:solidFill>
          <a:ln w="12700">
            <a:solidFill>
              <a:srgbClr val="E2E8F0"/>
            </a:solidFill>
            <a:prstDash val="solid"/>
          </a:ln>
        </p:spPr>
        <p:txBody>
          <a:bodyPr/>
          <a:lstStyle/>
          <a:p>
            <a:endParaRPr lang="en-US"/>
          </a:p>
        </p:txBody>
      </p:sp>
      <p:sp>
        <p:nvSpPr>
          <p:cNvPr id="7" name="Text 5"/>
          <p:cNvSpPr/>
          <p:nvPr/>
        </p:nvSpPr>
        <p:spPr>
          <a:xfrm>
            <a:off x="4462272" y="1563624"/>
            <a:ext cx="3282696" cy="256032"/>
          </a:xfrm>
          <a:prstGeom prst="rect">
            <a:avLst/>
          </a:prstGeom>
          <a:noFill/>
          <a:ln/>
        </p:spPr>
        <p:txBody>
          <a:bodyPr wrap="square" lIns="0" tIns="0" rIns="0" bIns="0" rtlCol="0" anchor="ctr"/>
          <a:lstStyle/>
          <a:p>
            <a:pPr marL="0" indent="0">
              <a:buNone/>
            </a:pPr>
            <a:r>
              <a:rPr lang="en-US" sz="1800" b="1" dirty="0">
                <a:solidFill>
                  <a:srgbClr val="0F172A"/>
                </a:solidFill>
              </a:rPr>
              <a:t>What this project builds</a:t>
            </a:r>
            <a:endParaRPr lang="en-US" sz="1800" dirty="0"/>
          </a:p>
        </p:txBody>
      </p:sp>
      <p:sp>
        <p:nvSpPr>
          <p:cNvPr id="8" name="Text 6"/>
          <p:cNvSpPr/>
          <p:nvPr/>
        </p:nvSpPr>
        <p:spPr>
          <a:xfrm>
            <a:off x="4462272" y="1874520"/>
            <a:ext cx="3282696" cy="3840480"/>
          </a:xfrm>
          <a:prstGeom prst="rect">
            <a:avLst/>
          </a:prstGeom>
          <a:noFill/>
          <a:ln/>
        </p:spPr>
        <p:txBody>
          <a:bodyPr wrap="square" lIns="0" tIns="0" rIns="0" bIns="0" rtlCol="0" anchor="t"/>
          <a:lstStyle/>
          <a:p>
            <a:pPr marL="0" indent="0">
              <a:buNone/>
            </a:pPr>
            <a:r>
              <a:rPr lang="en-US" sz="1500" dirty="0">
                <a:solidFill>
                  <a:srgbClr val="334155"/>
                </a:solidFill>
              </a:rPr>
              <a:t>• Compact on-device detector/segmenter</a:t>
            </a:r>
            <a:endParaRPr lang="en-US" sz="1500" dirty="0"/>
          </a:p>
          <a:p>
            <a:pPr marL="0" indent="0">
              <a:buNone/>
            </a:pPr>
            <a:r>
              <a:rPr lang="en-US" sz="1500" dirty="0">
                <a:solidFill>
                  <a:srgbClr val="334155"/>
                </a:solidFill>
              </a:rPr>
              <a:t>• Candidate boxes or masks with confidence</a:t>
            </a:r>
            <a:endParaRPr lang="en-US" sz="1500" dirty="0"/>
          </a:p>
          <a:p>
            <a:pPr marL="0" indent="0">
              <a:buNone/>
            </a:pPr>
            <a:r>
              <a:rPr lang="en-US" sz="1500" dirty="0">
                <a:solidFill>
                  <a:srgbClr val="334155"/>
                </a:solidFill>
              </a:rPr>
              <a:t>• Review flags and runtime metadata</a:t>
            </a:r>
            <a:endParaRPr lang="en-US" sz="1500" dirty="0"/>
          </a:p>
          <a:p>
            <a:pPr marL="0" indent="0">
              <a:buNone/>
            </a:pPr>
            <a:r>
              <a:rPr lang="en-US" sz="1500" dirty="0">
                <a:solidFill>
                  <a:srgbClr val="334155"/>
                </a:solidFill>
              </a:rPr>
              <a:t>• Reproducible pipeline from training to deployment</a:t>
            </a:r>
            <a:endParaRPr lang="en-US" sz="1500" dirty="0"/>
          </a:p>
        </p:txBody>
      </p:sp>
      <p:sp>
        <p:nvSpPr>
          <p:cNvPr id="9" name="Shape 7"/>
          <p:cNvSpPr/>
          <p:nvPr/>
        </p:nvSpPr>
        <p:spPr>
          <a:xfrm>
            <a:off x="7955280" y="1417320"/>
            <a:ext cx="3611880" cy="4434840"/>
          </a:xfrm>
          <a:prstGeom prst="roundRect">
            <a:avLst>
              <a:gd name="adj" fmla="val 1519"/>
            </a:avLst>
          </a:prstGeom>
          <a:solidFill>
            <a:srgbClr val="F8FAFC"/>
          </a:solidFill>
          <a:ln w="12700">
            <a:solidFill>
              <a:srgbClr val="E2E8F0"/>
            </a:solidFill>
            <a:prstDash val="solid"/>
          </a:ln>
        </p:spPr>
        <p:txBody>
          <a:bodyPr/>
          <a:lstStyle/>
          <a:p>
            <a:endParaRPr lang="en-US"/>
          </a:p>
        </p:txBody>
      </p:sp>
      <p:sp>
        <p:nvSpPr>
          <p:cNvPr id="10" name="Text 8"/>
          <p:cNvSpPr/>
          <p:nvPr/>
        </p:nvSpPr>
        <p:spPr>
          <a:xfrm>
            <a:off x="8119872" y="1563624"/>
            <a:ext cx="3282696" cy="256032"/>
          </a:xfrm>
          <a:prstGeom prst="rect">
            <a:avLst/>
          </a:prstGeom>
          <a:noFill/>
          <a:ln/>
        </p:spPr>
        <p:txBody>
          <a:bodyPr wrap="square" lIns="0" tIns="0" rIns="0" bIns="0" rtlCol="0" anchor="ctr"/>
          <a:lstStyle/>
          <a:p>
            <a:pPr marL="0" indent="0">
              <a:buNone/>
            </a:pPr>
            <a:r>
              <a:rPr lang="en-US" sz="1800" b="1" dirty="0">
                <a:solidFill>
                  <a:srgbClr val="0F172A"/>
                </a:solidFill>
              </a:rPr>
              <a:t>Operating principle</a:t>
            </a:r>
            <a:endParaRPr lang="en-US" sz="1800" dirty="0"/>
          </a:p>
        </p:txBody>
      </p:sp>
      <p:sp>
        <p:nvSpPr>
          <p:cNvPr id="11" name="Text 9"/>
          <p:cNvSpPr/>
          <p:nvPr/>
        </p:nvSpPr>
        <p:spPr>
          <a:xfrm>
            <a:off x="8119872" y="1874520"/>
            <a:ext cx="3282696" cy="3840480"/>
          </a:xfrm>
          <a:prstGeom prst="rect">
            <a:avLst/>
          </a:prstGeom>
          <a:noFill/>
          <a:ln/>
        </p:spPr>
        <p:txBody>
          <a:bodyPr wrap="square" lIns="0" tIns="0" rIns="0" bIns="0" rtlCol="0" anchor="t"/>
          <a:lstStyle/>
          <a:p>
            <a:pPr marL="0" indent="0">
              <a:buNone/>
            </a:pPr>
            <a:r>
              <a:rPr lang="en-US" sz="1500" dirty="0">
                <a:solidFill>
                  <a:srgbClr val="334155"/>
                </a:solidFill>
              </a:rPr>
              <a:t>Human-in-the-loop labeling assistant:</a:t>
            </a:r>
            <a:endParaRPr lang="en-US" sz="1500" dirty="0"/>
          </a:p>
          <a:p>
            <a:pPr marL="0" indent="0">
              <a:buNone/>
            </a:pPr>
            <a:endParaRPr lang="en-US" sz="1500" dirty="0"/>
          </a:p>
          <a:p>
            <a:pPr marL="0" indent="0">
              <a:buNone/>
            </a:pPr>
            <a:r>
              <a:rPr lang="en-US" sz="1500" dirty="0">
                <a:solidFill>
                  <a:srgbClr val="334155"/>
                </a:solidFill>
              </a:rPr>
              <a:t>model proposes labels on edge device → reviewer accepts/edits → outputs remain traceable and versioned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02920"/>
            <a:ext cx="8046720" cy="411480"/>
          </a:xfrm>
          <a:prstGeom prst="rect">
            <a:avLst/>
          </a:prstGeom>
          <a:noFill/>
          <a:ln/>
        </p:spPr>
        <p:txBody>
          <a:bodyPr wrap="square" lIns="0" tIns="0" rIns="0" bIns="0" rtlCol="0" anchor="ctr"/>
          <a:lstStyle/>
          <a:p>
            <a:pPr marL="0" indent="0">
              <a:buNone/>
            </a:pPr>
            <a:r>
              <a:rPr lang="en-US" sz="2800" b="1" dirty="0">
                <a:solidFill>
                  <a:srgbClr val="0F172A"/>
                </a:solidFill>
              </a:rPr>
              <a:t>Scope, data, and success criteria</a:t>
            </a:r>
            <a:endParaRPr lang="en-US" sz="2800" dirty="0"/>
          </a:p>
        </p:txBody>
      </p:sp>
      <p:sp>
        <p:nvSpPr>
          <p:cNvPr id="3" name="Shape 1"/>
          <p:cNvSpPr/>
          <p:nvPr/>
        </p:nvSpPr>
        <p:spPr>
          <a:xfrm>
            <a:off x="685800" y="1417320"/>
            <a:ext cx="3474720" cy="4480560"/>
          </a:xfrm>
          <a:prstGeom prst="roundRect">
            <a:avLst>
              <a:gd name="adj" fmla="val 1579"/>
            </a:avLst>
          </a:prstGeom>
          <a:solidFill>
            <a:srgbClr val="FFFFFF"/>
          </a:solidFill>
          <a:ln w="12700">
            <a:solidFill>
              <a:srgbClr val="E2E8F0"/>
            </a:solidFill>
            <a:prstDash val="solid"/>
          </a:ln>
        </p:spPr>
        <p:txBody>
          <a:bodyPr/>
          <a:lstStyle/>
          <a:p>
            <a:endParaRPr lang="en-US"/>
          </a:p>
        </p:txBody>
      </p:sp>
      <p:sp>
        <p:nvSpPr>
          <p:cNvPr id="4" name="Text 2"/>
          <p:cNvSpPr/>
          <p:nvPr/>
        </p:nvSpPr>
        <p:spPr>
          <a:xfrm>
            <a:off x="850392" y="1563624"/>
            <a:ext cx="3145536" cy="256032"/>
          </a:xfrm>
          <a:prstGeom prst="rect">
            <a:avLst/>
          </a:prstGeom>
          <a:noFill/>
          <a:ln/>
        </p:spPr>
        <p:txBody>
          <a:bodyPr wrap="square" lIns="0" tIns="0" rIns="0" bIns="0" rtlCol="0" anchor="ctr"/>
          <a:lstStyle/>
          <a:p>
            <a:pPr marL="0" indent="0">
              <a:buNone/>
            </a:pPr>
            <a:r>
              <a:rPr lang="en-US" sz="1800" b="1" dirty="0">
                <a:solidFill>
                  <a:srgbClr val="0F172A"/>
                </a:solidFill>
              </a:rPr>
              <a:t>Initial scope</a:t>
            </a:r>
            <a:endParaRPr lang="en-US" sz="1800" dirty="0"/>
          </a:p>
        </p:txBody>
      </p:sp>
      <p:sp>
        <p:nvSpPr>
          <p:cNvPr id="5" name="Text 3"/>
          <p:cNvSpPr/>
          <p:nvPr/>
        </p:nvSpPr>
        <p:spPr>
          <a:xfrm>
            <a:off x="850392" y="1874520"/>
            <a:ext cx="3145536" cy="3886200"/>
          </a:xfrm>
          <a:prstGeom prst="rect">
            <a:avLst/>
          </a:prstGeom>
          <a:noFill/>
          <a:ln/>
        </p:spPr>
        <p:txBody>
          <a:bodyPr wrap="square" lIns="0" tIns="0" rIns="0" bIns="0" rtlCol="0" anchor="t"/>
          <a:lstStyle/>
          <a:p>
            <a:pPr marL="0" indent="0">
              <a:buNone/>
            </a:pPr>
            <a:r>
              <a:rPr lang="en-US" sz="1500" dirty="0">
                <a:solidFill>
                  <a:srgbClr val="334155"/>
                </a:solidFill>
              </a:rPr>
              <a:t>One representative camera/domain</a:t>
            </a:r>
            <a:endParaRPr lang="en-US" sz="1500" dirty="0"/>
          </a:p>
          <a:p>
            <a:pPr marL="0" indent="0">
              <a:buNone/>
            </a:pPr>
            <a:r>
              <a:rPr lang="en-US" sz="1500" dirty="0">
                <a:solidFill>
                  <a:srgbClr val="334155"/>
                </a:solidFill>
              </a:rPr>
              <a:t>2–5 high-value object classes</a:t>
            </a:r>
            <a:endParaRPr lang="en-US" sz="1500" dirty="0"/>
          </a:p>
          <a:p>
            <a:pPr marL="0" indent="0">
              <a:buNone/>
            </a:pPr>
            <a:r>
              <a:rPr lang="en-US" sz="1500" dirty="0">
                <a:solidFill>
                  <a:srgbClr val="334155"/>
                </a:solidFill>
              </a:rPr>
              <a:t>Pilot goal: tractable feasibility, evaluation, and edge optimization</a:t>
            </a:r>
            <a:endParaRPr lang="en-US" sz="1500" dirty="0"/>
          </a:p>
        </p:txBody>
      </p:sp>
      <p:sp>
        <p:nvSpPr>
          <p:cNvPr id="6" name="Shape 4"/>
          <p:cNvSpPr/>
          <p:nvPr/>
        </p:nvSpPr>
        <p:spPr>
          <a:xfrm>
            <a:off x="4343400" y="1417320"/>
            <a:ext cx="3474720" cy="4480560"/>
          </a:xfrm>
          <a:prstGeom prst="roundRect">
            <a:avLst>
              <a:gd name="adj" fmla="val 1579"/>
            </a:avLst>
          </a:prstGeom>
          <a:solidFill>
            <a:srgbClr val="FFFFFF"/>
          </a:solidFill>
          <a:ln w="12700">
            <a:solidFill>
              <a:srgbClr val="E2E8F0"/>
            </a:solidFill>
            <a:prstDash val="solid"/>
          </a:ln>
        </p:spPr>
        <p:txBody>
          <a:bodyPr/>
          <a:lstStyle/>
          <a:p>
            <a:endParaRPr lang="en-US"/>
          </a:p>
        </p:txBody>
      </p:sp>
      <p:sp>
        <p:nvSpPr>
          <p:cNvPr id="7" name="Text 5"/>
          <p:cNvSpPr/>
          <p:nvPr/>
        </p:nvSpPr>
        <p:spPr>
          <a:xfrm>
            <a:off x="4507992" y="1563624"/>
            <a:ext cx="3145536" cy="256032"/>
          </a:xfrm>
          <a:prstGeom prst="rect">
            <a:avLst/>
          </a:prstGeom>
          <a:noFill/>
          <a:ln/>
        </p:spPr>
        <p:txBody>
          <a:bodyPr wrap="square" lIns="0" tIns="0" rIns="0" bIns="0" rtlCol="0" anchor="ctr"/>
          <a:lstStyle/>
          <a:p>
            <a:pPr marL="0" indent="0">
              <a:buNone/>
            </a:pPr>
            <a:r>
              <a:rPr lang="en-US" sz="1800" b="1" dirty="0">
                <a:solidFill>
                  <a:srgbClr val="0F172A"/>
                </a:solidFill>
              </a:rPr>
              <a:t>Data assumptions</a:t>
            </a:r>
            <a:endParaRPr lang="en-US" sz="1800" dirty="0"/>
          </a:p>
        </p:txBody>
      </p:sp>
      <p:sp>
        <p:nvSpPr>
          <p:cNvPr id="8" name="Text 6"/>
          <p:cNvSpPr/>
          <p:nvPr/>
        </p:nvSpPr>
        <p:spPr>
          <a:xfrm>
            <a:off x="4507992" y="1874520"/>
            <a:ext cx="3145536" cy="3886200"/>
          </a:xfrm>
          <a:prstGeom prst="rect">
            <a:avLst/>
          </a:prstGeom>
          <a:noFill/>
          <a:ln/>
        </p:spPr>
        <p:txBody>
          <a:bodyPr wrap="square" lIns="0" tIns="0" rIns="0" bIns="0" rtlCol="0" anchor="t"/>
          <a:lstStyle/>
          <a:p>
            <a:pPr marL="0" indent="0">
              <a:buNone/>
            </a:pPr>
            <a:r>
              <a:rPr lang="en-US" sz="1500" dirty="0">
                <a:solidFill>
                  <a:srgbClr val="334155"/>
                </a:solidFill>
              </a:rPr>
              <a:t>Training/validation: ~5,000–20,000 frames</a:t>
            </a:r>
            <a:endParaRPr lang="en-US" sz="1500" dirty="0"/>
          </a:p>
          <a:p>
            <a:pPr marL="0" indent="0">
              <a:buNone/>
            </a:pPr>
            <a:r>
              <a:rPr lang="en-US" sz="1500" dirty="0">
                <a:solidFill>
                  <a:srgbClr val="334155"/>
                </a:solidFill>
              </a:rPr>
              <a:t>Device benchmark: ~500–2,000 frames</a:t>
            </a:r>
            <a:endParaRPr lang="en-US" sz="1500" dirty="0"/>
          </a:p>
          <a:p>
            <a:pPr marL="0" indent="0">
              <a:buNone/>
            </a:pPr>
            <a:r>
              <a:rPr lang="en-US" sz="1500" dirty="0">
                <a:solidFill>
                  <a:srgbClr val="334155"/>
                </a:solidFill>
              </a:rPr>
              <a:t>Variation across lighting, occlusion, distance, and sensor setup</a:t>
            </a:r>
            <a:endParaRPr lang="en-US" sz="1500" dirty="0"/>
          </a:p>
        </p:txBody>
      </p:sp>
      <p:sp>
        <p:nvSpPr>
          <p:cNvPr id="9" name="Shape 7"/>
          <p:cNvSpPr/>
          <p:nvPr/>
        </p:nvSpPr>
        <p:spPr>
          <a:xfrm>
            <a:off x="8001000" y="1417320"/>
            <a:ext cx="3474720" cy="4480560"/>
          </a:xfrm>
          <a:prstGeom prst="roundRect">
            <a:avLst>
              <a:gd name="adj" fmla="val 1579"/>
            </a:avLst>
          </a:prstGeom>
          <a:solidFill>
            <a:srgbClr val="FFFFFF"/>
          </a:solidFill>
          <a:ln w="12700">
            <a:solidFill>
              <a:srgbClr val="E2E8F0"/>
            </a:solidFill>
            <a:prstDash val="solid"/>
          </a:ln>
        </p:spPr>
        <p:txBody>
          <a:bodyPr/>
          <a:lstStyle/>
          <a:p>
            <a:endParaRPr lang="en-US"/>
          </a:p>
        </p:txBody>
      </p:sp>
      <p:sp>
        <p:nvSpPr>
          <p:cNvPr id="10" name="Text 8"/>
          <p:cNvSpPr/>
          <p:nvPr/>
        </p:nvSpPr>
        <p:spPr>
          <a:xfrm>
            <a:off x="8165592" y="1563624"/>
            <a:ext cx="3145536" cy="256032"/>
          </a:xfrm>
          <a:prstGeom prst="rect">
            <a:avLst/>
          </a:prstGeom>
          <a:noFill/>
          <a:ln/>
        </p:spPr>
        <p:txBody>
          <a:bodyPr wrap="square" lIns="0" tIns="0" rIns="0" bIns="0" rtlCol="0" anchor="ctr"/>
          <a:lstStyle/>
          <a:p>
            <a:pPr marL="0" indent="0">
              <a:buNone/>
            </a:pPr>
            <a:r>
              <a:rPr lang="en-US" sz="1800" b="1" dirty="0">
                <a:solidFill>
                  <a:srgbClr val="0F172A"/>
                </a:solidFill>
              </a:rPr>
              <a:t>What success looks like</a:t>
            </a:r>
            <a:endParaRPr lang="en-US" sz="1800" dirty="0"/>
          </a:p>
        </p:txBody>
      </p:sp>
      <p:sp>
        <p:nvSpPr>
          <p:cNvPr id="11" name="Text 9"/>
          <p:cNvSpPr/>
          <p:nvPr/>
        </p:nvSpPr>
        <p:spPr>
          <a:xfrm>
            <a:off x="8165592" y="1874520"/>
            <a:ext cx="3145536" cy="3886200"/>
          </a:xfrm>
          <a:prstGeom prst="rect">
            <a:avLst/>
          </a:prstGeom>
          <a:noFill/>
          <a:ln/>
        </p:spPr>
        <p:txBody>
          <a:bodyPr wrap="square" lIns="0" tIns="0" rIns="0" bIns="0" rtlCol="0" anchor="t"/>
          <a:lstStyle/>
          <a:p>
            <a:pPr marL="0" indent="0">
              <a:buNone/>
            </a:pPr>
            <a:r>
              <a:rPr lang="en-US" sz="1500" dirty="0">
                <a:solidFill>
                  <a:srgbClr val="334155"/>
                </a:solidFill>
              </a:rPr>
              <a:t>Useful pre-label quality for human review</a:t>
            </a:r>
            <a:endParaRPr lang="en-US" sz="1500" dirty="0"/>
          </a:p>
          <a:p>
            <a:pPr marL="0" indent="0">
              <a:buNone/>
            </a:pPr>
            <a:r>
              <a:rPr lang="en-US" sz="1500" dirty="0">
                <a:solidFill>
                  <a:srgbClr val="334155"/>
                </a:solidFill>
              </a:rPr>
              <a:t>Device runtime within target constraints</a:t>
            </a:r>
            <a:endParaRPr lang="en-US" sz="1500" dirty="0"/>
          </a:p>
          <a:p>
            <a:pPr marL="0" indent="0">
              <a:buNone/>
            </a:pPr>
            <a:r>
              <a:rPr lang="en-US" sz="1500" dirty="0">
                <a:solidFill>
                  <a:srgbClr val="334155"/>
                </a:solidFill>
              </a:rPr>
              <a:t>Structured metadata for every run</a:t>
            </a:r>
            <a:endParaRPr lang="en-US" sz="1500" dirty="0"/>
          </a:p>
          <a:p>
            <a:pPr marL="0" indent="0">
              <a:buNone/>
            </a:pPr>
            <a:r>
              <a:rPr lang="en-US" sz="1500" dirty="0">
                <a:solidFill>
                  <a:srgbClr val="334155"/>
                </a:solidFill>
              </a:rPr>
              <a:t>Failure analysis and scenario-level reporting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8046720" cy="411480"/>
          </a:xfrm>
          <a:prstGeom prst="rect">
            <a:avLst/>
          </a:prstGeom>
          <a:noFill/>
          <a:ln/>
        </p:spPr>
        <p:txBody>
          <a:bodyPr wrap="square" lIns="0" tIns="0" rIns="0" bIns="0" rtlCol="0" anchor="ctr"/>
          <a:lstStyle/>
          <a:p>
            <a:pPr marL="0" indent="0">
              <a:buNone/>
            </a:pPr>
            <a:r>
              <a:rPr lang="en-US" sz="2800" b="1" dirty="0">
                <a:solidFill>
                  <a:srgbClr val="0F172A"/>
                </a:solidFill>
              </a:rPr>
              <a:t>End-to-end solution workflow</a:t>
            </a:r>
            <a:endParaRPr lang="en-US" sz="2800" dirty="0"/>
          </a:p>
        </p:txBody>
      </p:sp>
      <p:sp>
        <p:nvSpPr>
          <p:cNvPr id="3" name="Shape 1"/>
          <p:cNvSpPr/>
          <p:nvPr/>
        </p:nvSpPr>
        <p:spPr>
          <a:xfrm>
            <a:off x="1097280" y="3246120"/>
            <a:ext cx="9875520" cy="0"/>
          </a:xfrm>
          <a:prstGeom prst="line">
            <a:avLst/>
          </a:prstGeom>
          <a:noFill/>
          <a:ln w="12700">
            <a:solidFill>
              <a:srgbClr val="94A3B8"/>
            </a:solidFill>
            <a:prstDash val="solid"/>
          </a:ln>
        </p:spPr>
        <p:txBody>
          <a:bodyPr/>
          <a:lstStyle/>
          <a:p>
            <a:endParaRPr lang="en-US"/>
          </a:p>
        </p:txBody>
      </p:sp>
      <p:sp>
        <p:nvSpPr>
          <p:cNvPr id="4" name="Shape 2"/>
          <p:cNvSpPr/>
          <p:nvPr/>
        </p:nvSpPr>
        <p:spPr>
          <a:xfrm>
            <a:off x="731520" y="2880360"/>
            <a:ext cx="502920" cy="502920"/>
          </a:xfrm>
          <a:prstGeom prst="ellipse">
            <a:avLst/>
          </a:prstGeom>
          <a:solidFill>
            <a:srgbClr val="2563EB"/>
          </a:solidFill>
          <a:ln w="12700">
            <a:solidFill>
              <a:srgbClr val="2563EB"/>
            </a:solidFill>
            <a:prstDash val="solid"/>
          </a:ln>
        </p:spPr>
        <p:txBody>
          <a:bodyPr/>
          <a:lstStyle/>
          <a:p>
            <a:endParaRPr lang="en-US"/>
          </a:p>
        </p:txBody>
      </p:sp>
      <p:sp>
        <p:nvSpPr>
          <p:cNvPr id="5" name="Text 3"/>
          <p:cNvSpPr/>
          <p:nvPr/>
        </p:nvSpPr>
        <p:spPr>
          <a:xfrm>
            <a:off x="731520" y="2990088"/>
            <a:ext cx="502920" cy="13716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6" name="Text 4"/>
          <p:cNvSpPr/>
          <p:nvPr/>
        </p:nvSpPr>
        <p:spPr>
          <a:xfrm>
            <a:off x="566928" y="1920240"/>
            <a:ext cx="868680" cy="731520"/>
          </a:xfrm>
          <a:prstGeom prst="rect">
            <a:avLst/>
          </a:prstGeom>
          <a:noFill/>
          <a:ln/>
        </p:spPr>
        <p:txBody>
          <a:bodyPr wrap="square" lIns="0" tIns="0" rIns="0" bIns="0" rtlCol="0" anchor="ctr"/>
          <a:lstStyle/>
          <a:p>
            <a:pPr marL="0" indent="0" algn="ctr">
              <a:buNone/>
            </a:pPr>
            <a:r>
              <a:rPr lang="en-US" sz="1400" b="1" dirty="0">
                <a:solidFill>
                  <a:srgbClr val="0F172A"/>
                </a:solidFill>
              </a:rPr>
              <a:t>1. Dataset selection</a:t>
            </a:r>
            <a:endParaRPr lang="en-US" sz="1400" dirty="0"/>
          </a:p>
        </p:txBody>
      </p:sp>
      <p:sp>
        <p:nvSpPr>
          <p:cNvPr id="7" name="Text 5"/>
          <p:cNvSpPr/>
          <p:nvPr/>
        </p:nvSpPr>
        <p:spPr>
          <a:xfrm>
            <a:off x="320040" y="3611880"/>
            <a:ext cx="1325880" cy="1005840"/>
          </a:xfrm>
          <a:prstGeom prst="rect">
            <a:avLst/>
          </a:prstGeom>
          <a:noFill/>
          <a:ln/>
        </p:spPr>
        <p:txBody>
          <a:bodyPr wrap="square" lIns="0" tIns="0" rIns="0" bIns="0" rtlCol="0" anchor="ctr"/>
          <a:lstStyle/>
          <a:p>
            <a:pPr marL="0" indent="0" algn="ctr">
              <a:buNone/>
            </a:pPr>
            <a:r>
              <a:rPr lang="en-US" sz="1150" dirty="0">
                <a:solidFill>
                  <a:srgbClr val="334155"/>
                </a:solidFill>
              </a:rPr>
              <a:t>Representative frames, labels, ontology</a:t>
            </a:r>
            <a:endParaRPr lang="en-US" sz="1150" dirty="0"/>
          </a:p>
        </p:txBody>
      </p:sp>
      <p:sp>
        <p:nvSpPr>
          <p:cNvPr id="8" name="Shape 6"/>
          <p:cNvSpPr/>
          <p:nvPr/>
        </p:nvSpPr>
        <p:spPr>
          <a:xfrm>
            <a:off x="2331720" y="2880360"/>
            <a:ext cx="502920" cy="502920"/>
          </a:xfrm>
          <a:prstGeom prst="ellipse">
            <a:avLst/>
          </a:prstGeom>
          <a:solidFill>
            <a:srgbClr val="2563EB"/>
          </a:solidFill>
          <a:ln w="12700">
            <a:solidFill>
              <a:srgbClr val="2563EB"/>
            </a:solidFill>
            <a:prstDash val="solid"/>
          </a:ln>
        </p:spPr>
        <p:txBody>
          <a:bodyPr/>
          <a:lstStyle/>
          <a:p>
            <a:endParaRPr lang="en-US"/>
          </a:p>
        </p:txBody>
      </p:sp>
      <p:sp>
        <p:nvSpPr>
          <p:cNvPr id="9" name="Text 7"/>
          <p:cNvSpPr/>
          <p:nvPr/>
        </p:nvSpPr>
        <p:spPr>
          <a:xfrm>
            <a:off x="2331720" y="2990088"/>
            <a:ext cx="502920" cy="13716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Text 8"/>
          <p:cNvSpPr/>
          <p:nvPr/>
        </p:nvSpPr>
        <p:spPr>
          <a:xfrm>
            <a:off x="2167128" y="1920240"/>
            <a:ext cx="868680" cy="731520"/>
          </a:xfrm>
          <a:prstGeom prst="rect">
            <a:avLst/>
          </a:prstGeom>
          <a:noFill/>
          <a:ln/>
        </p:spPr>
        <p:txBody>
          <a:bodyPr wrap="square" lIns="0" tIns="0" rIns="0" bIns="0" rtlCol="0" anchor="ctr"/>
          <a:lstStyle/>
          <a:p>
            <a:pPr marL="0" indent="0" algn="ctr">
              <a:buNone/>
            </a:pPr>
            <a:r>
              <a:rPr lang="en-US" sz="1400" b="1" dirty="0">
                <a:solidFill>
                  <a:srgbClr val="0F172A"/>
                </a:solidFill>
              </a:rPr>
              <a:t>2. Pseudo-labeling</a:t>
            </a:r>
            <a:endParaRPr lang="en-US" sz="1400" dirty="0"/>
          </a:p>
        </p:txBody>
      </p:sp>
      <p:sp>
        <p:nvSpPr>
          <p:cNvPr id="11" name="Text 9"/>
          <p:cNvSpPr/>
          <p:nvPr/>
        </p:nvSpPr>
        <p:spPr>
          <a:xfrm>
            <a:off x="1920240" y="3611880"/>
            <a:ext cx="1325880" cy="1005840"/>
          </a:xfrm>
          <a:prstGeom prst="rect">
            <a:avLst/>
          </a:prstGeom>
          <a:noFill/>
          <a:ln/>
        </p:spPr>
        <p:txBody>
          <a:bodyPr wrap="square" lIns="0" tIns="0" rIns="0" bIns="0" rtlCol="0" anchor="ctr"/>
          <a:lstStyle/>
          <a:p>
            <a:pPr marL="0" indent="0" algn="ctr">
              <a:buNone/>
            </a:pPr>
            <a:r>
              <a:rPr lang="en-US" sz="1150" dirty="0">
                <a:solidFill>
                  <a:srgbClr val="334155"/>
                </a:solidFill>
              </a:rPr>
              <a:t>Optional teacher model + data preparation</a:t>
            </a:r>
            <a:endParaRPr lang="en-US" sz="1150" dirty="0"/>
          </a:p>
        </p:txBody>
      </p:sp>
      <p:sp>
        <p:nvSpPr>
          <p:cNvPr id="12" name="Shape 10"/>
          <p:cNvSpPr/>
          <p:nvPr/>
        </p:nvSpPr>
        <p:spPr>
          <a:xfrm>
            <a:off x="3931920" y="2880360"/>
            <a:ext cx="502920" cy="502920"/>
          </a:xfrm>
          <a:prstGeom prst="ellipse">
            <a:avLst/>
          </a:prstGeom>
          <a:solidFill>
            <a:srgbClr val="2563EB"/>
          </a:solidFill>
          <a:ln w="12700">
            <a:solidFill>
              <a:srgbClr val="2563EB"/>
            </a:solidFill>
            <a:prstDash val="solid"/>
          </a:ln>
        </p:spPr>
        <p:txBody>
          <a:bodyPr/>
          <a:lstStyle/>
          <a:p>
            <a:endParaRPr lang="en-US"/>
          </a:p>
        </p:txBody>
      </p:sp>
      <p:sp>
        <p:nvSpPr>
          <p:cNvPr id="13" name="Text 11"/>
          <p:cNvSpPr/>
          <p:nvPr/>
        </p:nvSpPr>
        <p:spPr>
          <a:xfrm>
            <a:off x="3931920" y="2990088"/>
            <a:ext cx="502920" cy="1371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4" name="Text 12"/>
          <p:cNvSpPr/>
          <p:nvPr/>
        </p:nvSpPr>
        <p:spPr>
          <a:xfrm>
            <a:off x="3767328" y="1920240"/>
            <a:ext cx="868680" cy="731520"/>
          </a:xfrm>
          <a:prstGeom prst="rect">
            <a:avLst/>
          </a:prstGeom>
          <a:noFill/>
          <a:ln/>
        </p:spPr>
        <p:txBody>
          <a:bodyPr wrap="square" lIns="0" tIns="0" rIns="0" bIns="0" rtlCol="0" anchor="ctr"/>
          <a:lstStyle/>
          <a:p>
            <a:pPr marL="0" indent="0" algn="ctr">
              <a:buNone/>
            </a:pPr>
            <a:r>
              <a:rPr lang="en-US" sz="1400" b="1" dirty="0">
                <a:solidFill>
                  <a:srgbClr val="0F172A"/>
                </a:solidFill>
              </a:rPr>
              <a:t>3. Fine-tuning</a:t>
            </a:r>
            <a:endParaRPr lang="en-US" sz="1400" dirty="0"/>
          </a:p>
        </p:txBody>
      </p:sp>
      <p:sp>
        <p:nvSpPr>
          <p:cNvPr id="15" name="Text 13"/>
          <p:cNvSpPr/>
          <p:nvPr/>
        </p:nvSpPr>
        <p:spPr>
          <a:xfrm>
            <a:off x="3520440" y="3611880"/>
            <a:ext cx="1325880" cy="1005840"/>
          </a:xfrm>
          <a:prstGeom prst="rect">
            <a:avLst/>
          </a:prstGeom>
          <a:noFill/>
          <a:ln/>
        </p:spPr>
        <p:txBody>
          <a:bodyPr wrap="square" lIns="0" tIns="0" rIns="0" bIns="0" rtlCol="0" anchor="ctr"/>
          <a:lstStyle/>
          <a:p>
            <a:pPr marL="0" indent="0" algn="ctr">
              <a:buNone/>
            </a:pPr>
            <a:r>
              <a:rPr lang="en-US" sz="1150" dirty="0">
                <a:solidFill>
                  <a:srgbClr val="334155"/>
                </a:solidFill>
              </a:rPr>
              <a:t>Compact YOLO-style detector/segmenter</a:t>
            </a:r>
            <a:endParaRPr lang="en-US" sz="1150" dirty="0"/>
          </a:p>
        </p:txBody>
      </p:sp>
      <p:sp>
        <p:nvSpPr>
          <p:cNvPr id="16" name="Shape 14"/>
          <p:cNvSpPr/>
          <p:nvPr/>
        </p:nvSpPr>
        <p:spPr>
          <a:xfrm>
            <a:off x="5532120" y="2880360"/>
            <a:ext cx="502920" cy="502920"/>
          </a:xfrm>
          <a:prstGeom prst="ellipse">
            <a:avLst/>
          </a:prstGeom>
          <a:solidFill>
            <a:srgbClr val="2563EB"/>
          </a:solidFill>
          <a:ln w="12700">
            <a:solidFill>
              <a:srgbClr val="2563EB"/>
            </a:solidFill>
            <a:prstDash val="solid"/>
          </a:ln>
        </p:spPr>
        <p:txBody>
          <a:bodyPr/>
          <a:lstStyle/>
          <a:p>
            <a:endParaRPr lang="en-US"/>
          </a:p>
        </p:txBody>
      </p:sp>
      <p:sp>
        <p:nvSpPr>
          <p:cNvPr id="17" name="Text 15"/>
          <p:cNvSpPr/>
          <p:nvPr/>
        </p:nvSpPr>
        <p:spPr>
          <a:xfrm>
            <a:off x="5532120" y="2990088"/>
            <a:ext cx="502920" cy="13716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8" name="Text 16"/>
          <p:cNvSpPr/>
          <p:nvPr/>
        </p:nvSpPr>
        <p:spPr>
          <a:xfrm>
            <a:off x="5367528" y="1920240"/>
            <a:ext cx="868680" cy="731520"/>
          </a:xfrm>
          <a:prstGeom prst="rect">
            <a:avLst/>
          </a:prstGeom>
          <a:noFill/>
          <a:ln/>
        </p:spPr>
        <p:txBody>
          <a:bodyPr wrap="square" lIns="0" tIns="0" rIns="0" bIns="0" rtlCol="0" anchor="ctr"/>
          <a:lstStyle/>
          <a:p>
            <a:pPr marL="0" indent="0" algn="ctr">
              <a:buNone/>
            </a:pPr>
            <a:r>
              <a:rPr lang="en-US" sz="1400" b="1" dirty="0">
                <a:solidFill>
                  <a:srgbClr val="0F172A"/>
                </a:solidFill>
              </a:rPr>
              <a:t>4. Edge optimization</a:t>
            </a:r>
            <a:endParaRPr lang="en-US" sz="1400" dirty="0"/>
          </a:p>
        </p:txBody>
      </p:sp>
      <p:sp>
        <p:nvSpPr>
          <p:cNvPr id="19" name="Text 17"/>
          <p:cNvSpPr/>
          <p:nvPr/>
        </p:nvSpPr>
        <p:spPr>
          <a:xfrm>
            <a:off x="5120640" y="3611880"/>
            <a:ext cx="1325880" cy="1005840"/>
          </a:xfrm>
          <a:prstGeom prst="rect">
            <a:avLst/>
          </a:prstGeom>
          <a:noFill/>
          <a:ln/>
        </p:spPr>
        <p:txBody>
          <a:bodyPr wrap="square" lIns="0" tIns="0" rIns="0" bIns="0" rtlCol="0" anchor="ctr"/>
          <a:lstStyle/>
          <a:p>
            <a:pPr marL="0" indent="0" algn="ctr">
              <a:buNone/>
            </a:pPr>
            <a:r>
              <a:rPr lang="en-US" sz="1150" dirty="0">
                <a:solidFill>
                  <a:srgbClr val="334155"/>
                </a:solidFill>
              </a:rPr>
              <a:t>ONNX + TensorRT / OpenVINO / TFLite</a:t>
            </a:r>
            <a:endParaRPr lang="en-US" sz="1150" dirty="0"/>
          </a:p>
        </p:txBody>
      </p:sp>
      <p:sp>
        <p:nvSpPr>
          <p:cNvPr id="20" name="Shape 18"/>
          <p:cNvSpPr/>
          <p:nvPr/>
        </p:nvSpPr>
        <p:spPr>
          <a:xfrm>
            <a:off x="7132320" y="2880360"/>
            <a:ext cx="502920" cy="502920"/>
          </a:xfrm>
          <a:prstGeom prst="ellipse">
            <a:avLst/>
          </a:prstGeom>
          <a:solidFill>
            <a:srgbClr val="2563EB"/>
          </a:solidFill>
          <a:ln w="12700">
            <a:solidFill>
              <a:srgbClr val="2563EB"/>
            </a:solidFill>
            <a:prstDash val="solid"/>
          </a:ln>
        </p:spPr>
        <p:txBody>
          <a:bodyPr/>
          <a:lstStyle/>
          <a:p>
            <a:endParaRPr lang="en-US"/>
          </a:p>
        </p:txBody>
      </p:sp>
      <p:sp>
        <p:nvSpPr>
          <p:cNvPr id="21" name="Text 19"/>
          <p:cNvSpPr/>
          <p:nvPr/>
        </p:nvSpPr>
        <p:spPr>
          <a:xfrm>
            <a:off x="7132320" y="2990088"/>
            <a:ext cx="502920" cy="13716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2" name="Text 20"/>
          <p:cNvSpPr/>
          <p:nvPr/>
        </p:nvSpPr>
        <p:spPr>
          <a:xfrm>
            <a:off x="6967728" y="1920240"/>
            <a:ext cx="868680" cy="731520"/>
          </a:xfrm>
          <a:prstGeom prst="rect">
            <a:avLst/>
          </a:prstGeom>
          <a:noFill/>
          <a:ln/>
        </p:spPr>
        <p:txBody>
          <a:bodyPr wrap="square" lIns="0" tIns="0" rIns="0" bIns="0" rtlCol="0" anchor="ctr"/>
          <a:lstStyle/>
          <a:p>
            <a:pPr marL="0" indent="0" algn="ctr">
              <a:buNone/>
            </a:pPr>
            <a:r>
              <a:rPr lang="en-US" sz="1400" b="1" dirty="0">
                <a:solidFill>
                  <a:srgbClr val="0F172A"/>
                </a:solidFill>
              </a:rPr>
              <a:t>5. Device benchmark</a:t>
            </a:r>
            <a:endParaRPr lang="en-US" sz="1400" dirty="0"/>
          </a:p>
        </p:txBody>
      </p:sp>
      <p:sp>
        <p:nvSpPr>
          <p:cNvPr id="23" name="Text 21"/>
          <p:cNvSpPr/>
          <p:nvPr/>
        </p:nvSpPr>
        <p:spPr>
          <a:xfrm>
            <a:off x="6720840" y="3611880"/>
            <a:ext cx="1325880" cy="1005840"/>
          </a:xfrm>
          <a:prstGeom prst="rect">
            <a:avLst/>
          </a:prstGeom>
          <a:noFill/>
          <a:ln/>
        </p:spPr>
        <p:txBody>
          <a:bodyPr wrap="square" lIns="0" tIns="0" rIns="0" bIns="0" rtlCol="0" anchor="ctr"/>
          <a:lstStyle/>
          <a:p>
            <a:pPr marL="0" indent="0" algn="ctr">
              <a:buNone/>
            </a:pPr>
            <a:r>
              <a:rPr lang="en-US" sz="1150" dirty="0">
                <a:solidFill>
                  <a:srgbClr val="334155"/>
                </a:solidFill>
              </a:rPr>
              <a:t>Latency, memory, FPS, model size</a:t>
            </a:r>
            <a:endParaRPr lang="en-US" sz="1150" dirty="0"/>
          </a:p>
        </p:txBody>
      </p:sp>
      <p:sp>
        <p:nvSpPr>
          <p:cNvPr id="24" name="Shape 22"/>
          <p:cNvSpPr/>
          <p:nvPr/>
        </p:nvSpPr>
        <p:spPr>
          <a:xfrm>
            <a:off x="8732520" y="2880360"/>
            <a:ext cx="502920" cy="502920"/>
          </a:xfrm>
          <a:prstGeom prst="ellipse">
            <a:avLst/>
          </a:prstGeom>
          <a:solidFill>
            <a:srgbClr val="2563EB"/>
          </a:solidFill>
          <a:ln w="12700">
            <a:solidFill>
              <a:srgbClr val="2563EB"/>
            </a:solidFill>
            <a:prstDash val="solid"/>
          </a:ln>
        </p:spPr>
        <p:txBody>
          <a:bodyPr/>
          <a:lstStyle/>
          <a:p>
            <a:endParaRPr lang="en-US"/>
          </a:p>
        </p:txBody>
      </p:sp>
      <p:sp>
        <p:nvSpPr>
          <p:cNvPr id="25" name="Text 23"/>
          <p:cNvSpPr/>
          <p:nvPr/>
        </p:nvSpPr>
        <p:spPr>
          <a:xfrm>
            <a:off x="8732520" y="2990088"/>
            <a:ext cx="502920" cy="13716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6" name="Text 24"/>
          <p:cNvSpPr/>
          <p:nvPr/>
        </p:nvSpPr>
        <p:spPr>
          <a:xfrm>
            <a:off x="8567928" y="1920240"/>
            <a:ext cx="868680" cy="731520"/>
          </a:xfrm>
          <a:prstGeom prst="rect">
            <a:avLst/>
          </a:prstGeom>
          <a:noFill/>
          <a:ln/>
        </p:spPr>
        <p:txBody>
          <a:bodyPr wrap="square" lIns="0" tIns="0" rIns="0" bIns="0" rtlCol="0" anchor="ctr"/>
          <a:lstStyle/>
          <a:p>
            <a:pPr marL="0" indent="0" algn="ctr">
              <a:buNone/>
            </a:pPr>
            <a:r>
              <a:rPr lang="en-US" sz="1400" b="1" dirty="0">
                <a:solidFill>
                  <a:srgbClr val="0F172A"/>
                </a:solidFill>
              </a:rPr>
              <a:t>6. Review integration</a:t>
            </a:r>
            <a:endParaRPr lang="en-US" sz="1400" dirty="0"/>
          </a:p>
        </p:txBody>
      </p:sp>
      <p:sp>
        <p:nvSpPr>
          <p:cNvPr id="27" name="Text 25"/>
          <p:cNvSpPr/>
          <p:nvPr/>
        </p:nvSpPr>
        <p:spPr>
          <a:xfrm>
            <a:off x="8321040" y="3611880"/>
            <a:ext cx="1325880" cy="1005840"/>
          </a:xfrm>
          <a:prstGeom prst="rect">
            <a:avLst/>
          </a:prstGeom>
          <a:noFill/>
          <a:ln/>
        </p:spPr>
        <p:txBody>
          <a:bodyPr wrap="square" lIns="0" tIns="0" rIns="0" bIns="0" rtlCol="0" anchor="ctr"/>
          <a:lstStyle/>
          <a:p>
            <a:pPr marL="0" indent="0" algn="ctr">
              <a:buNone/>
            </a:pPr>
            <a:r>
              <a:rPr lang="en-US" sz="1150" dirty="0">
                <a:solidFill>
                  <a:srgbClr val="334155"/>
                </a:solidFill>
              </a:rPr>
              <a:t>FiftyOne or lightweight UI/API</a:t>
            </a:r>
            <a:endParaRPr lang="en-US" sz="1150" dirty="0"/>
          </a:p>
        </p:txBody>
      </p:sp>
      <p:sp>
        <p:nvSpPr>
          <p:cNvPr id="28" name="Shape 26"/>
          <p:cNvSpPr/>
          <p:nvPr/>
        </p:nvSpPr>
        <p:spPr>
          <a:xfrm>
            <a:off x="10332720" y="2880360"/>
            <a:ext cx="502920" cy="502920"/>
          </a:xfrm>
          <a:prstGeom prst="ellipse">
            <a:avLst/>
          </a:prstGeom>
          <a:solidFill>
            <a:srgbClr val="2563EB"/>
          </a:solidFill>
          <a:ln w="12700">
            <a:solidFill>
              <a:srgbClr val="2563EB"/>
            </a:solidFill>
            <a:prstDash val="solid"/>
          </a:ln>
        </p:spPr>
        <p:txBody>
          <a:bodyPr/>
          <a:lstStyle/>
          <a:p>
            <a:endParaRPr lang="en-US"/>
          </a:p>
        </p:txBody>
      </p:sp>
      <p:sp>
        <p:nvSpPr>
          <p:cNvPr id="29" name="Text 27"/>
          <p:cNvSpPr/>
          <p:nvPr/>
        </p:nvSpPr>
        <p:spPr>
          <a:xfrm>
            <a:off x="10332720" y="2990088"/>
            <a:ext cx="502920" cy="137160"/>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30" name="Text 28"/>
          <p:cNvSpPr/>
          <p:nvPr/>
        </p:nvSpPr>
        <p:spPr>
          <a:xfrm>
            <a:off x="10168128" y="1920240"/>
            <a:ext cx="868680" cy="731520"/>
          </a:xfrm>
          <a:prstGeom prst="rect">
            <a:avLst/>
          </a:prstGeom>
          <a:noFill/>
          <a:ln/>
        </p:spPr>
        <p:txBody>
          <a:bodyPr wrap="square" lIns="0" tIns="0" rIns="0" bIns="0" rtlCol="0" anchor="ctr"/>
          <a:lstStyle/>
          <a:p>
            <a:pPr marL="0" indent="0" algn="ctr">
              <a:buNone/>
            </a:pPr>
            <a:r>
              <a:rPr lang="en-US" sz="1400" b="1" dirty="0">
                <a:solidFill>
                  <a:srgbClr val="0F172A"/>
                </a:solidFill>
              </a:rPr>
              <a:t>7. Validation report</a:t>
            </a:r>
            <a:endParaRPr lang="en-US" sz="1400" dirty="0"/>
          </a:p>
        </p:txBody>
      </p:sp>
      <p:sp>
        <p:nvSpPr>
          <p:cNvPr id="31" name="Text 29"/>
          <p:cNvSpPr/>
          <p:nvPr/>
        </p:nvSpPr>
        <p:spPr>
          <a:xfrm>
            <a:off x="9921240" y="3611880"/>
            <a:ext cx="1325880" cy="1005840"/>
          </a:xfrm>
          <a:prstGeom prst="rect">
            <a:avLst/>
          </a:prstGeom>
          <a:noFill/>
          <a:ln/>
        </p:spPr>
        <p:txBody>
          <a:bodyPr wrap="square" lIns="0" tIns="0" rIns="0" bIns="0" rtlCol="0" anchor="ctr"/>
          <a:lstStyle/>
          <a:p>
            <a:pPr marL="0" indent="0" algn="ctr">
              <a:buNone/>
            </a:pPr>
            <a:r>
              <a:rPr lang="en-US" sz="1150" dirty="0">
                <a:solidFill>
                  <a:srgbClr val="334155"/>
                </a:solidFill>
              </a:rPr>
              <a:t>Quality metrics, failure cases, traceability</a:t>
            </a:r>
            <a:endParaRPr lang="en-US" sz="1150" dirty="0"/>
          </a:p>
        </p:txBody>
      </p:sp>
      <p:sp>
        <p:nvSpPr>
          <p:cNvPr id="32" name="Text 30"/>
          <p:cNvSpPr/>
          <p:nvPr/>
        </p:nvSpPr>
        <p:spPr>
          <a:xfrm>
            <a:off x="822960" y="5440680"/>
            <a:ext cx="10424160" cy="320040"/>
          </a:xfrm>
          <a:prstGeom prst="rect">
            <a:avLst/>
          </a:prstGeom>
          <a:noFill/>
          <a:ln/>
        </p:spPr>
        <p:txBody>
          <a:bodyPr wrap="square" lIns="0" tIns="0" rIns="0" bIns="0" rtlCol="0" anchor="ctr"/>
          <a:lstStyle/>
          <a:p>
            <a:pPr marL="0" indent="0" algn="ctr">
              <a:buNone/>
            </a:pPr>
            <a:r>
              <a:rPr lang="en-US" sz="1600" i="1" dirty="0">
                <a:solidFill>
                  <a:srgbClr val="64748B"/>
                </a:solidFill>
              </a:rPr>
              <a:t>Prototype deliverable: a validated labeling-assistant pipeline rather than a fully autonomous labeling system.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8046720" cy="411480"/>
          </a:xfrm>
          <a:prstGeom prst="rect">
            <a:avLst/>
          </a:prstGeom>
          <a:noFill/>
          <a:ln/>
        </p:spPr>
        <p:txBody>
          <a:bodyPr wrap="square" lIns="0" tIns="0" rIns="0" bIns="0" rtlCol="0" anchor="ctr"/>
          <a:lstStyle/>
          <a:p>
            <a:pPr marL="0" indent="0">
              <a:buNone/>
            </a:pPr>
            <a:r>
              <a:rPr lang="en-US" sz="2800" b="1" dirty="0">
                <a:solidFill>
                  <a:srgbClr val="0F172A"/>
                </a:solidFill>
              </a:rPr>
              <a:t>Model strategy and technical choices</a:t>
            </a:r>
            <a:endParaRPr lang="en-US" sz="2800" dirty="0"/>
          </a:p>
        </p:txBody>
      </p:sp>
      <p:sp>
        <p:nvSpPr>
          <p:cNvPr id="3" name="Shape 1"/>
          <p:cNvSpPr/>
          <p:nvPr/>
        </p:nvSpPr>
        <p:spPr>
          <a:xfrm>
            <a:off x="640080" y="1371600"/>
            <a:ext cx="3657600" cy="4480560"/>
          </a:xfrm>
          <a:prstGeom prst="roundRect">
            <a:avLst>
              <a:gd name="adj" fmla="val 1500"/>
            </a:avLst>
          </a:prstGeom>
          <a:solidFill>
            <a:srgbClr val="FFFFFF"/>
          </a:solidFill>
          <a:ln w="12700">
            <a:solidFill>
              <a:srgbClr val="E2E8F0"/>
            </a:solidFill>
            <a:prstDash val="solid"/>
          </a:ln>
        </p:spPr>
        <p:txBody>
          <a:bodyPr/>
          <a:lstStyle/>
          <a:p>
            <a:endParaRPr lang="en-US"/>
          </a:p>
        </p:txBody>
      </p:sp>
      <p:sp>
        <p:nvSpPr>
          <p:cNvPr id="4" name="Text 2"/>
          <p:cNvSpPr/>
          <p:nvPr/>
        </p:nvSpPr>
        <p:spPr>
          <a:xfrm>
            <a:off x="804672" y="1517904"/>
            <a:ext cx="3328416" cy="256032"/>
          </a:xfrm>
          <a:prstGeom prst="rect">
            <a:avLst/>
          </a:prstGeom>
          <a:noFill/>
          <a:ln/>
        </p:spPr>
        <p:txBody>
          <a:bodyPr wrap="square" lIns="0" tIns="0" rIns="0" bIns="0" rtlCol="0" anchor="ctr"/>
          <a:lstStyle/>
          <a:p>
            <a:pPr marL="0" indent="0">
              <a:buNone/>
            </a:pPr>
            <a:r>
              <a:rPr lang="en-US" sz="1800" b="1" dirty="0">
                <a:solidFill>
                  <a:srgbClr val="0F172A"/>
                </a:solidFill>
              </a:rPr>
              <a:t>Student model on device</a:t>
            </a:r>
            <a:endParaRPr lang="en-US" sz="1800" dirty="0"/>
          </a:p>
        </p:txBody>
      </p:sp>
      <p:sp>
        <p:nvSpPr>
          <p:cNvPr id="5" name="Text 3"/>
          <p:cNvSpPr/>
          <p:nvPr/>
        </p:nvSpPr>
        <p:spPr>
          <a:xfrm>
            <a:off x="804672" y="1828800"/>
            <a:ext cx="3328416" cy="3886200"/>
          </a:xfrm>
          <a:prstGeom prst="rect">
            <a:avLst/>
          </a:prstGeom>
          <a:noFill/>
          <a:ln/>
        </p:spPr>
        <p:txBody>
          <a:bodyPr wrap="square" lIns="0" tIns="0" rIns="0" bIns="0" rtlCol="0" anchor="t"/>
          <a:lstStyle/>
          <a:p>
            <a:pPr marL="0" indent="0">
              <a:buNone/>
            </a:pPr>
            <a:r>
              <a:rPr lang="en-US" sz="1500" dirty="0">
                <a:solidFill>
                  <a:srgbClr val="334155"/>
                </a:solidFill>
              </a:rPr>
              <a:t>Primary candidate: compact YOLO-style detector/segmenter</a:t>
            </a:r>
            <a:endParaRPr lang="en-US" sz="1500" dirty="0"/>
          </a:p>
          <a:p>
            <a:pPr marL="0" indent="0">
              <a:buNone/>
            </a:pPr>
            <a:endParaRPr lang="en-US" sz="1500" dirty="0"/>
          </a:p>
          <a:p>
            <a:pPr marL="0" indent="0">
              <a:buNone/>
            </a:pPr>
            <a:r>
              <a:rPr lang="en-US" sz="1500" dirty="0">
                <a:solidFill>
                  <a:srgbClr val="334155"/>
                </a:solidFill>
              </a:rPr>
              <a:t>Why: practical fine-tuning, export support, and fast edge inference for boxes and masks.</a:t>
            </a:r>
            <a:endParaRPr lang="en-US" sz="1500" dirty="0"/>
          </a:p>
        </p:txBody>
      </p:sp>
      <p:sp>
        <p:nvSpPr>
          <p:cNvPr id="6" name="Shape 4"/>
          <p:cNvSpPr/>
          <p:nvPr/>
        </p:nvSpPr>
        <p:spPr>
          <a:xfrm>
            <a:off x="4434840" y="1371600"/>
            <a:ext cx="3474720" cy="4480560"/>
          </a:xfrm>
          <a:prstGeom prst="roundRect">
            <a:avLst>
              <a:gd name="adj" fmla="val 1579"/>
            </a:avLst>
          </a:prstGeom>
          <a:solidFill>
            <a:srgbClr val="F8FAFC"/>
          </a:solidFill>
          <a:ln w="12700">
            <a:solidFill>
              <a:srgbClr val="E2E8F0"/>
            </a:solidFill>
            <a:prstDash val="solid"/>
          </a:ln>
        </p:spPr>
        <p:txBody>
          <a:bodyPr/>
          <a:lstStyle/>
          <a:p>
            <a:endParaRPr lang="en-US"/>
          </a:p>
        </p:txBody>
      </p:sp>
      <p:sp>
        <p:nvSpPr>
          <p:cNvPr id="7" name="Text 5"/>
          <p:cNvSpPr/>
          <p:nvPr/>
        </p:nvSpPr>
        <p:spPr>
          <a:xfrm>
            <a:off x="4599432" y="1517904"/>
            <a:ext cx="3145536" cy="256032"/>
          </a:xfrm>
          <a:prstGeom prst="rect">
            <a:avLst/>
          </a:prstGeom>
          <a:noFill/>
          <a:ln/>
        </p:spPr>
        <p:txBody>
          <a:bodyPr wrap="square" lIns="0" tIns="0" rIns="0" bIns="0" rtlCol="0" anchor="ctr"/>
          <a:lstStyle/>
          <a:p>
            <a:pPr marL="0" indent="0">
              <a:buNone/>
            </a:pPr>
            <a:r>
              <a:rPr lang="en-US" sz="1800" b="1" dirty="0">
                <a:solidFill>
                  <a:srgbClr val="0F172A"/>
                </a:solidFill>
              </a:rPr>
              <a:t>Optional offline teacher</a:t>
            </a:r>
            <a:endParaRPr lang="en-US" sz="1800" dirty="0"/>
          </a:p>
        </p:txBody>
      </p:sp>
      <p:sp>
        <p:nvSpPr>
          <p:cNvPr id="8" name="Text 6"/>
          <p:cNvSpPr/>
          <p:nvPr/>
        </p:nvSpPr>
        <p:spPr>
          <a:xfrm>
            <a:off x="4599432" y="1828800"/>
            <a:ext cx="3145536" cy="3886200"/>
          </a:xfrm>
          <a:prstGeom prst="rect">
            <a:avLst/>
          </a:prstGeom>
          <a:noFill/>
          <a:ln/>
        </p:spPr>
        <p:txBody>
          <a:bodyPr wrap="square" lIns="0" tIns="0" rIns="0" bIns="0" rtlCol="0" anchor="t"/>
          <a:lstStyle/>
          <a:p>
            <a:pPr marL="0" indent="0">
              <a:buNone/>
            </a:pPr>
            <a:r>
              <a:rPr lang="en-US" sz="1500" dirty="0">
                <a:solidFill>
                  <a:srgbClr val="334155"/>
                </a:solidFill>
              </a:rPr>
              <a:t>Foundation or stronger teacher models may generate pseudo-labels offline, but only the compact student runs on the target hardware.</a:t>
            </a:r>
            <a:endParaRPr lang="en-US" sz="1500" dirty="0"/>
          </a:p>
        </p:txBody>
      </p:sp>
      <p:sp>
        <p:nvSpPr>
          <p:cNvPr id="9" name="Shape 7"/>
          <p:cNvSpPr/>
          <p:nvPr/>
        </p:nvSpPr>
        <p:spPr>
          <a:xfrm>
            <a:off x="8092440" y="1371600"/>
            <a:ext cx="3474720" cy="4480560"/>
          </a:xfrm>
          <a:prstGeom prst="roundRect">
            <a:avLst>
              <a:gd name="adj" fmla="val 1579"/>
            </a:avLst>
          </a:prstGeom>
          <a:solidFill>
            <a:srgbClr val="F8FAFC"/>
          </a:solidFill>
          <a:ln w="12700">
            <a:solidFill>
              <a:srgbClr val="E2E8F0"/>
            </a:solidFill>
            <a:prstDash val="solid"/>
          </a:ln>
        </p:spPr>
        <p:txBody>
          <a:bodyPr/>
          <a:lstStyle/>
          <a:p>
            <a:endParaRPr lang="en-US"/>
          </a:p>
        </p:txBody>
      </p:sp>
      <p:sp>
        <p:nvSpPr>
          <p:cNvPr id="10" name="Text 8"/>
          <p:cNvSpPr/>
          <p:nvPr/>
        </p:nvSpPr>
        <p:spPr>
          <a:xfrm>
            <a:off x="8257032" y="1517904"/>
            <a:ext cx="3145536" cy="256032"/>
          </a:xfrm>
          <a:prstGeom prst="rect">
            <a:avLst/>
          </a:prstGeom>
          <a:noFill/>
          <a:ln/>
        </p:spPr>
        <p:txBody>
          <a:bodyPr wrap="square" lIns="0" tIns="0" rIns="0" bIns="0" rtlCol="0" anchor="ctr"/>
          <a:lstStyle/>
          <a:p>
            <a:pPr marL="0" indent="0">
              <a:buNone/>
            </a:pPr>
            <a:r>
              <a:rPr lang="en-US" sz="1800" b="1" dirty="0">
                <a:solidFill>
                  <a:srgbClr val="0F172A"/>
                </a:solidFill>
              </a:rPr>
              <a:t>Validation metrics</a:t>
            </a:r>
            <a:endParaRPr lang="en-US" sz="1800" dirty="0"/>
          </a:p>
        </p:txBody>
      </p:sp>
      <p:sp>
        <p:nvSpPr>
          <p:cNvPr id="11" name="Text 9"/>
          <p:cNvSpPr/>
          <p:nvPr/>
        </p:nvSpPr>
        <p:spPr>
          <a:xfrm>
            <a:off x="8257032" y="1828800"/>
            <a:ext cx="3145536" cy="3886200"/>
          </a:xfrm>
          <a:prstGeom prst="rect">
            <a:avLst/>
          </a:prstGeom>
          <a:noFill/>
          <a:ln/>
        </p:spPr>
        <p:txBody>
          <a:bodyPr wrap="square" lIns="0" tIns="0" rIns="0" bIns="0" rtlCol="0" anchor="t"/>
          <a:lstStyle/>
          <a:p>
            <a:pPr marL="0" indent="0">
              <a:buNone/>
            </a:pPr>
            <a:r>
              <a:rPr lang="en-US" sz="1500" dirty="0">
                <a:solidFill>
                  <a:srgbClr val="334155"/>
                </a:solidFill>
              </a:rPr>
              <a:t>Precision / Recall</a:t>
            </a:r>
            <a:endParaRPr lang="en-US" sz="1500" dirty="0"/>
          </a:p>
          <a:p>
            <a:pPr marL="0" indent="0">
              <a:buNone/>
            </a:pPr>
            <a:r>
              <a:rPr lang="en-US" sz="1500" dirty="0">
                <a:solidFill>
                  <a:srgbClr val="334155"/>
                </a:solidFill>
              </a:rPr>
              <a:t>mAP for boxes</a:t>
            </a:r>
            <a:endParaRPr lang="en-US" sz="1500" dirty="0"/>
          </a:p>
          <a:p>
            <a:pPr marL="0" indent="0">
              <a:buNone/>
            </a:pPr>
            <a:r>
              <a:rPr lang="en-US" sz="1500" dirty="0">
                <a:solidFill>
                  <a:srgbClr val="334155"/>
                </a:solidFill>
              </a:rPr>
              <a:t>Mask IoU for segmentation</a:t>
            </a:r>
            <a:endParaRPr lang="en-US" sz="1500" dirty="0"/>
          </a:p>
          <a:p>
            <a:pPr marL="0" indent="0">
              <a:buNone/>
            </a:pPr>
            <a:r>
              <a:rPr lang="en-US" sz="1500" dirty="0">
                <a:solidFill>
                  <a:srgbClr val="334155"/>
                </a:solidFill>
              </a:rPr>
              <a:t>Per-class quality</a:t>
            </a:r>
            <a:endParaRPr lang="en-US" sz="1500" dirty="0"/>
          </a:p>
          <a:p>
            <a:pPr marL="0" indent="0">
              <a:buNone/>
            </a:pPr>
            <a:r>
              <a:rPr lang="en-US" sz="1500" dirty="0">
                <a:solidFill>
                  <a:srgbClr val="334155"/>
                </a:solidFill>
              </a:rPr>
              <a:t>Latency, FPS, memory, model size, cold-start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8046720" cy="411480"/>
          </a:xfrm>
          <a:prstGeom prst="rect">
            <a:avLst/>
          </a:prstGeom>
          <a:noFill/>
          <a:ln/>
        </p:spPr>
        <p:txBody>
          <a:bodyPr wrap="square" lIns="0" tIns="0" rIns="0" bIns="0" rtlCol="0" anchor="ctr"/>
          <a:lstStyle/>
          <a:p>
            <a:pPr marL="0" indent="0">
              <a:buNone/>
            </a:pPr>
            <a:r>
              <a:rPr lang="en-US" sz="2800" b="1" dirty="0">
                <a:solidFill>
                  <a:srgbClr val="0F172A"/>
                </a:solidFill>
              </a:rPr>
              <a:t>Risks and mitigations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27080" cy="3886200"/>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172200">
                  <a:extLst>
                    <a:ext uri="{9D8B030D-6E8A-4147-A177-3AD203B41FA5}">
                      <a16:colId xmlns:a16="http://schemas.microsoft.com/office/drawing/2014/main" val="20002"/>
                    </a:ext>
                  </a:extLst>
                </a:gridCol>
              </a:tblGrid>
              <a:tr h="411480">
                <a:tc>
                  <a:txBody>
                    <a:bodyPr/>
                    <a:lstStyle/>
                    <a:p>
                      <a:pPr marL="0" indent="0" algn="ctr">
                        <a:buNone/>
                      </a:pPr>
                      <a:r>
                        <a:rPr lang="en-US" sz="1500" b="1" dirty="0">
                          <a:solidFill>
                            <a:srgbClr val="FFFFFF"/>
                          </a:solidFill>
                        </a:rPr>
                        <a:t>Risk area</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marL="0" indent="0" algn="ctr">
                        <a:buNone/>
                      </a:pPr>
                      <a:r>
                        <a:rPr lang="en-US" sz="1500" b="1" dirty="0">
                          <a:solidFill>
                            <a:srgbClr val="FFFFFF"/>
                          </a:solidFill>
                        </a:rPr>
                        <a:t>Concern</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marL="0" indent="0" algn="ctr">
                        <a:buNone/>
                      </a:pPr>
                      <a:r>
                        <a:rPr lang="en-US" sz="1500" b="1" dirty="0">
                          <a:solidFill>
                            <a:srgbClr val="FFFFFF"/>
                          </a:solidFill>
                        </a:rPr>
                        <a:t>Mitigation</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868680">
                <a:tc>
                  <a:txBody>
                    <a:bodyPr/>
                    <a:lstStyle/>
                    <a:p>
                      <a:pPr marL="0" indent="0">
                        <a:buNone/>
                      </a:pPr>
                      <a:r>
                        <a:rPr lang="en-US" sz="1500" dirty="0">
                          <a:solidFill>
                            <a:srgbClr val="334155"/>
                          </a:solidFill>
                        </a:rPr>
                        <a:t>Edge constraints</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rPr>
                        <a:t>Model is too slow or too large</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rPr>
                        <a:t>Start with nano/small models; reduce resolution; use FP16/INT8; benchmark early</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500" dirty="0">
                          <a:solidFill>
                            <a:srgbClr val="334155"/>
                          </a:solidFill>
                        </a:rPr>
                        <a:t>Label quality</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rPr>
                        <a:t>Pre-labels are not good enough</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rPr>
                        <a:t>Keep human review mandatory; define acceptance gates; limit pilot scope</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buNone/>
                      </a:pPr>
                      <a:r>
                        <a:rPr lang="en-US" sz="1500" dirty="0">
                          <a:solidFill>
                            <a:srgbClr val="334155"/>
                          </a:solidFill>
                        </a:rPr>
                        <a:t>Domain shift</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rPr>
                        <a:t>Performance varies by scenario</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rPr>
                        <a:t>Use representative splits; scenario-level reporting; active-learning loop</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buNone/>
                      </a:pPr>
                      <a:r>
                        <a:rPr lang="en-US" sz="1500" dirty="0">
                          <a:solidFill>
                            <a:srgbClr val="334155"/>
                          </a:solidFill>
                        </a:rPr>
                        <a:t>Integration</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rPr>
                        <a:t>Outputs do not fit review pipelines</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rPr>
                        <a:t>Standardize output schema; version metadata; integrate with existing workflows</a:t>
                      </a:r>
                      <a:endParaRPr lang="en-US" sz="1500" dirty="0"/>
                    </a:p>
                  </a:txBody>
                  <a:tcPr marL="73152" marR="73152" marT="73152" marB="73152">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8046720" cy="411480"/>
          </a:xfrm>
          <a:prstGeom prst="rect">
            <a:avLst/>
          </a:prstGeom>
          <a:noFill/>
          <a:ln/>
        </p:spPr>
        <p:txBody>
          <a:bodyPr wrap="square" lIns="0" tIns="0" rIns="0" bIns="0" rtlCol="0" anchor="ctr"/>
          <a:lstStyle/>
          <a:p>
            <a:pPr marL="0" indent="0">
              <a:buNone/>
            </a:pPr>
            <a:r>
              <a:rPr lang="en-US" sz="2800" b="1" dirty="0">
                <a:solidFill>
                  <a:srgbClr val="0F172A"/>
                </a:solidFill>
              </a:rPr>
              <a:t>Expected impact and business case</a:t>
            </a:r>
            <a:endParaRPr lang="en-US" sz="2800" dirty="0"/>
          </a:p>
        </p:txBody>
      </p:sp>
      <p:graphicFrame>
        <p:nvGraphicFramePr>
          <p:cNvPr id="3" name="Chart 0"/>
          <p:cNvGraphicFramePr/>
          <p:nvPr/>
        </p:nvGraphicFramePr>
        <p:xfrm>
          <a:off x="640080" y="1508760"/>
          <a:ext cx="566928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629400" y="1645920"/>
            <a:ext cx="4663440" cy="1143000"/>
          </a:xfrm>
          <a:prstGeom prst="roundRect">
            <a:avLst>
              <a:gd name="adj" fmla="val 4800"/>
            </a:avLst>
          </a:prstGeom>
          <a:solidFill>
            <a:srgbClr val="F8FAFC"/>
          </a:solidFill>
          <a:ln w="12700">
            <a:solidFill>
              <a:srgbClr val="E2E8F0"/>
            </a:solidFill>
            <a:prstDash val="solid"/>
          </a:ln>
        </p:spPr>
        <p:txBody>
          <a:bodyPr/>
          <a:lstStyle/>
          <a:p>
            <a:endParaRPr lang="en-US"/>
          </a:p>
        </p:txBody>
      </p:sp>
      <p:sp>
        <p:nvSpPr>
          <p:cNvPr id="5" name="Text 2"/>
          <p:cNvSpPr/>
          <p:nvPr/>
        </p:nvSpPr>
        <p:spPr>
          <a:xfrm>
            <a:off x="6793992" y="1792224"/>
            <a:ext cx="4334256" cy="256032"/>
          </a:xfrm>
          <a:prstGeom prst="rect">
            <a:avLst/>
          </a:prstGeom>
          <a:noFill/>
          <a:ln/>
        </p:spPr>
        <p:txBody>
          <a:bodyPr wrap="square" lIns="0" tIns="0" rIns="0" bIns="0" rtlCol="0" anchor="ctr"/>
          <a:lstStyle/>
          <a:p>
            <a:pPr marL="0" indent="0">
              <a:buNone/>
            </a:pPr>
            <a:r>
              <a:rPr lang="en-US" sz="1800" b="1" dirty="0">
                <a:solidFill>
                  <a:srgbClr val="0F172A"/>
                </a:solidFill>
              </a:rPr>
              <a:t>Conservative annual benefit</a:t>
            </a:r>
            <a:endParaRPr lang="en-US" sz="1800" dirty="0"/>
          </a:p>
        </p:txBody>
      </p:sp>
      <p:sp>
        <p:nvSpPr>
          <p:cNvPr id="6" name="Text 3"/>
          <p:cNvSpPr/>
          <p:nvPr/>
        </p:nvSpPr>
        <p:spPr>
          <a:xfrm>
            <a:off x="6793992" y="2103120"/>
            <a:ext cx="4334256" cy="548640"/>
          </a:xfrm>
          <a:prstGeom prst="rect">
            <a:avLst/>
          </a:prstGeom>
          <a:noFill/>
          <a:ln/>
        </p:spPr>
        <p:txBody>
          <a:bodyPr wrap="square" lIns="0" tIns="0" rIns="0" bIns="0" rtlCol="0" anchor="t"/>
          <a:lstStyle/>
          <a:p>
            <a:pPr marL="0" indent="0">
              <a:buNone/>
            </a:pPr>
            <a:r>
              <a:rPr lang="en-US" sz="1500" dirty="0">
                <a:solidFill>
                  <a:srgbClr val="334155"/>
                </a:solidFill>
              </a:rPr>
              <a:t>~€35k–€55k if the prototype becomes reusable across multiple similar workflows.</a:t>
            </a:r>
            <a:endParaRPr lang="en-US" sz="1500" dirty="0"/>
          </a:p>
        </p:txBody>
      </p:sp>
      <p:sp>
        <p:nvSpPr>
          <p:cNvPr id="7" name="Shape 4"/>
          <p:cNvSpPr/>
          <p:nvPr/>
        </p:nvSpPr>
        <p:spPr>
          <a:xfrm>
            <a:off x="6629400" y="2926080"/>
            <a:ext cx="4663440" cy="1051560"/>
          </a:xfrm>
          <a:prstGeom prst="roundRect">
            <a:avLst>
              <a:gd name="adj" fmla="val 5217"/>
            </a:avLst>
          </a:prstGeom>
          <a:solidFill>
            <a:srgbClr val="F8FAFC"/>
          </a:solidFill>
          <a:ln w="12700">
            <a:solidFill>
              <a:srgbClr val="E2E8F0"/>
            </a:solidFill>
            <a:prstDash val="solid"/>
          </a:ln>
        </p:spPr>
        <p:txBody>
          <a:bodyPr/>
          <a:lstStyle/>
          <a:p>
            <a:endParaRPr lang="en-US"/>
          </a:p>
        </p:txBody>
      </p:sp>
      <p:sp>
        <p:nvSpPr>
          <p:cNvPr id="8" name="Text 5"/>
          <p:cNvSpPr/>
          <p:nvPr/>
        </p:nvSpPr>
        <p:spPr>
          <a:xfrm>
            <a:off x="6793992" y="3072384"/>
            <a:ext cx="4334256" cy="256032"/>
          </a:xfrm>
          <a:prstGeom prst="rect">
            <a:avLst/>
          </a:prstGeom>
          <a:noFill/>
          <a:ln/>
        </p:spPr>
        <p:txBody>
          <a:bodyPr wrap="square" lIns="0" tIns="0" rIns="0" bIns="0" rtlCol="0" anchor="ctr"/>
          <a:lstStyle/>
          <a:p>
            <a:pPr marL="0" indent="0">
              <a:buNone/>
            </a:pPr>
            <a:r>
              <a:rPr lang="en-US" sz="1800" b="1" dirty="0">
                <a:solidFill>
                  <a:srgbClr val="0F172A"/>
                </a:solidFill>
              </a:rPr>
              <a:t>Direct savings example</a:t>
            </a:r>
            <a:endParaRPr lang="en-US" sz="1800" dirty="0"/>
          </a:p>
        </p:txBody>
      </p:sp>
      <p:sp>
        <p:nvSpPr>
          <p:cNvPr id="9" name="Text 6"/>
          <p:cNvSpPr/>
          <p:nvPr/>
        </p:nvSpPr>
        <p:spPr>
          <a:xfrm>
            <a:off x="6793992" y="3383280"/>
            <a:ext cx="4334256" cy="457200"/>
          </a:xfrm>
          <a:prstGeom prst="rect">
            <a:avLst/>
          </a:prstGeom>
          <a:noFill/>
          <a:ln/>
        </p:spPr>
        <p:txBody>
          <a:bodyPr wrap="square" lIns="0" tIns="0" rIns="0" bIns="0" rtlCol="0" anchor="t"/>
          <a:lstStyle/>
          <a:p>
            <a:pPr marL="0" indent="0">
              <a:buNone/>
            </a:pPr>
            <a:r>
              <a:rPr lang="en-US" sz="1500" dirty="0">
                <a:solidFill>
                  <a:srgbClr val="334155"/>
                </a:solidFill>
              </a:rPr>
              <a:t>100k frames/year × 20 sec manual first-pass ≈ 556 hours. A 25–35% reduction saves ~139–194 hours/year.</a:t>
            </a:r>
            <a:endParaRPr lang="en-US" sz="1500" dirty="0"/>
          </a:p>
        </p:txBody>
      </p:sp>
      <p:sp>
        <p:nvSpPr>
          <p:cNvPr id="10" name="Shape 7"/>
          <p:cNvSpPr/>
          <p:nvPr/>
        </p:nvSpPr>
        <p:spPr>
          <a:xfrm>
            <a:off x="6629400" y="4114800"/>
            <a:ext cx="4663440" cy="1051560"/>
          </a:xfrm>
          <a:prstGeom prst="roundRect">
            <a:avLst>
              <a:gd name="adj" fmla="val 5217"/>
            </a:avLst>
          </a:prstGeom>
          <a:solidFill>
            <a:srgbClr val="F8FAFC"/>
          </a:solidFill>
          <a:ln w="12700">
            <a:solidFill>
              <a:srgbClr val="E2E8F0"/>
            </a:solidFill>
            <a:prstDash val="solid"/>
          </a:ln>
        </p:spPr>
        <p:txBody>
          <a:bodyPr/>
          <a:lstStyle/>
          <a:p>
            <a:endParaRPr lang="en-US"/>
          </a:p>
        </p:txBody>
      </p:sp>
      <p:sp>
        <p:nvSpPr>
          <p:cNvPr id="11" name="Text 8"/>
          <p:cNvSpPr/>
          <p:nvPr/>
        </p:nvSpPr>
        <p:spPr>
          <a:xfrm>
            <a:off x="6793992" y="4261104"/>
            <a:ext cx="4334256" cy="256032"/>
          </a:xfrm>
          <a:prstGeom prst="rect">
            <a:avLst/>
          </a:prstGeom>
          <a:noFill/>
          <a:ln/>
        </p:spPr>
        <p:txBody>
          <a:bodyPr wrap="square" lIns="0" tIns="0" rIns="0" bIns="0" rtlCol="0" anchor="ctr"/>
          <a:lstStyle/>
          <a:p>
            <a:pPr marL="0" indent="0">
              <a:buNone/>
            </a:pPr>
            <a:r>
              <a:rPr lang="en-US" sz="1800" b="1" dirty="0">
                <a:solidFill>
                  <a:srgbClr val="0F172A"/>
                </a:solidFill>
              </a:rPr>
              <a:t>Cycle-time gain</a:t>
            </a:r>
            <a:endParaRPr lang="en-US" sz="1800" dirty="0"/>
          </a:p>
        </p:txBody>
      </p:sp>
      <p:sp>
        <p:nvSpPr>
          <p:cNvPr id="12" name="Text 9"/>
          <p:cNvSpPr/>
          <p:nvPr/>
        </p:nvSpPr>
        <p:spPr>
          <a:xfrm>
            <a:off x="6793992" y="4572000"/>
            <a:ext cx="4334256" cy="457200"/>
          </a:xfrm>
          <a:prstGeom prst="rect">
            <a:avLst/>
          </a:prstGeom>
          <a:noFill/>
          <a:ln/>
        </p:spPr>
        <p:txBody>
          <a:bodyPr wrap="square" lIns="0" tIns="0" rIns="0" bIns="0" rtlCol="0" anchor="t"/>
          <a:lstStyle/>
          <a:p>
            <a:pPr marL="0" indent="0">
              <a:buNone/>
            </a:pPr>
            <a:r>
              <a:rPr lang="en-US" sz="1500" dirty="0">
                <a:solidFill>
                  <a:srgbClr val="334155"/>
                </a:solidFill>
              </a:rPr>
              <a:t>If each dataset iteration saves 1–2 working days across 10–15 iterations/year, additional savings can be substantial.</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8046720" cy="411480"/>
          </a:xfrm>
          <a:prstGeom prst="rect">
            <a:avLst/>
          </a:prstGeom>
          <a:noFill/>
          <a:ln/>
        </p:spPr>
        <p:txBody>
          <a:bodyPr wrap="square" lIns="0" tIns="0" rIns="0" bIns="0" rtlCol="0" anchor="ctr"/>
          <a:lstStyle/>
          <a:p>
            <a:pPr marL="0" indent="0">
              <a:buNone/>
            </a:pPr>
            <a:r>
              <a:rPr lang="en-US" sz="2800" b="1" dirty="0">
                <a:solidFill>
                  <a:srgbClr val="0F172A"/>
                </a:solidFill>
              </a:rPr>
              <a:t>Implementation plan and ask</a:t>
            </a:r>
            <a:endParaRPr lang="en-US" sz="2800" dirty="0"/>
          </a:p>
        </p:txBody>
      </p:sp>
      <p:sp>
        <p:nvSpPr>
          <p:cNvPr id="3" name="Shape 1"/>
          <p:cNvSpPr/>
          <p:nvPr/>
        </p:nvSpPr>
        <p:spPr>
          <a:xfrm>
            <a:off x="640080" y="1417320"/>
            <a:ext cx="3657600" cy="4480560"/>
          </a:xfrm>
          <a:prstGeom prst="roundRect">
            <a:avLst>
              <a:gd name="adj" fmla="val 1500"/>
            </a:avLst>
          </a:prstGeom>
          <a:solidFill>
            <a:srgbClr val="FFFFFF"/>
          </a:solidFill>
          <a:ln w="12700">
            <a:solidFill>
              <a:srgbClr val="E2E8F0"/>
            </a:solidFill>
            <a:prstDash val="solid"/>
          </a:ln>
        </p:spPr>
        <p:txBody>
          <a:bodyPr/>
          <a:lstStyle/>
          <a:p>
            <a:endParaRPr lang="en-US"/>
          </a:p>
        </p:txBody>
      </p:sp>
      <p:sp>
        <p:nvSpPr>
          <p:cNvPr id="4" name="Text 2"/>
          <p:cNvSpPr/>
          <p:nvPr/>
        </p:nvSpPr>
        <p:spPr>
          <a:xfrm>
            <a:off x="804672" y="1563624"/>
            <a:ext cx="3328416" cy="256032"/>
          </a:xfrm>
          <a:prstGeom prst="rect">
            <a:avLst/>
          </a:prstGeom>
          <a:noFill/>
          <a:ln/>
        </p:spPr>
        <p:txBody>
          <a:bodyPr wrap="square" lIns="0" tIns="0" rIns="0" bIns="0" rtlCol="0" anchor="ctr"/>
          <a:lstStyle/>
          <a:p>
            <a:pPr marL="0" indent="0">
              <a:buNone/>
            </a:pPr>
            <a:r>
              <a:rPr lang="en-US" sz="1800" b="1" dirty="0">
                <a:solidFill>
                  <a:srgbClr val="0F172A"/>
                </a:solidFill>
              </a:rPr>
              <a:t>Indicative timeline</a:t>
            </a:r>
            <a:endParaRPr lang="en-US" sz="1800" dirty="0"/>
          </a:p>
        </p:txBody>
      </p:sp>
      <p:sp>
        <p:nvSpPr>
          <p:cNvPr id="5" name="Text 3"/>
          <p:cNvSpPr/>
          <p:nvPr/>
        </p:nvSpPr>
        <p:spPr>
          <a:xfrm>
            <a:off x="804672" y="1874520"/>
            <a:ext cx="3328416" cy="3886200"/>
          </a:xfrm>
          <a:prstGeom prst="rect">
            <a:avLst/>
          </a:prstGeom>
          <a:noFill/>
          <a:ln/>
        </p:spPr>
        <p:txBody>
          <a:bodyPr wrap="square" lIns="0" tIns="0" rIns="0" bIns="0" rtlCol="0" anchor="t"/>
          <a:lstStyle/>
          <a:p>
            <a:pPr marL="0" indent="0">
              <a:buNone/>
            </a:pPr>
            <a:r>
              <a:rPr lang="en-US" sz="1500" dirty="0">
                <a:solidFill>
                  <a:srgbClr val="334155"/>
                </a:solidFill>
              </a:rPr>
              <a:t>Weeks 1–2: scope, data, ontology, baseline</a:t>
            </a:r>
            <a:endParaRPr lang="en-US" sz="1500" dirty="0"/>
          </a:p>
          <a:p>
            <a:pPr marL="0" indent="0">
              <a:buNone/>
            </a:pPr>
            <a:r>
              <a:rPr lang="en-US" sz="1500" dirty="0">
                <a:solidFill>
                  <a:srgbClr val="334155"/>
                </a:solidFill>
              </a:rPr>
              <a:t>Weeks 3–5: training + pseudo-label pipeline</a:t>
            </a:r>
            <a:endParaRPr lang="en-US" sz="1500" dirty="0"/>
          </a:p>
          <a:p>
            <a:pPr marL="0" indent="0">
              <a:buNone/>
            </a:pPr>
            <a:r>
              <a:rPr lang="en-US" sz="1500" dirty="0">
                <a:solidFill>
                  <a:srgbClr val="334155"/>
                </a:solidFill>
              </a:rPr>
              <a:t>Weeks 6–8: export, optimization, deployment</a:t>
            </a:r>
            <a:endParaRPr lang="en-US" sz="1500" dirty="0"/>
          </a:p>
          <a:p>
            <a:pPr marL="0" indent="0">
              <a:buNone/>
            </a:pPr>
            <a:r>
              <a:rPr lang="en-US" sz="1500" dirty="0">
                <a:solidFill>
                  <a:srgbClr val="334155"/>
                </a:solidFill>
              </a:rPr>
              <a:t>Weeks 9–10: review integration + validation</a:t>
            </a:r>
            <a:endParaRPr lang="en-US" sz="1500" dirty="0"/>
          </a:p>
          <a:p>
            <a:pPr marL="0" indent="0">
              <a:buNone/>
            </a:pPr>
            <a:r>
              <a:rPr lang="en-US" sz="1500" dirty="0">
                <a:solidFill>
                  <a:srgbClr val="334155"/>
                </a:solidFill>
              </a:rPr>
              <a:t>Weeks 11–12: report, documentation, handoff</a:t>
            </a:r>
            <a:endParaRPr lang="en-US" sz="1500" dirty="0"/>
          </a:p>
        </p:txBody>
      </p:sp>
      <p:sp>
        <p:nvSpPr>
          <p:cNvPr id="6" name="Shape 4"/>
          <p:cNvSpPr/>
          <p:nvPr/>
        </p:nvSpPr>
        <p:spPr>
          <a:xfrm>
            <a:off x="4480560" y="1417320"/>
            <a:ext cx="3200400" cy="4480560"/>
          </a:xfrm>
          <a:prstGeom prst="roundRect">
            <a:avLst>
              <a:gd name="adj" fmla="val 1714"/>
            </a:avLst>
          </a:prstGeom>
          <a:solidFill>
            <a:srgbClr val="F8FAFC"/>
          </a:solidFill>
          <a:ln w="12700">
            <a:solidFill>
              <a:srgbClr val="E2E8F0"/>
            </a:solidFill>
            <a:prstDash val="solid"/>
          </a:ln>
        </p:spPr>
        <p:txBody>
          <a:bodyPr/>
          <a:lstStyle/>
          <a:p>
            <a:endParaRPr lang="en-US"/>
          </a:p>
        </p:txBody>
      </p:sp>
      <p:sp>
        <p:nvSpPr>
          <p:cNvPr id="7" name="Text 5"/>
          <p:cNvSpPr/>
          <p:nvPr/>
        </p:nvSpPr>
        <p:spPr>
          <a:xfrm>
            <a:off x="4645152" y="1563624"/>
            <a:ext cx="2871216" cy="256032"/>
          </a:xfrm>
          <a:prstGeom prst="rect">
            <a:avLst/>
          </a:prstGeom>
          <a:noFill/>
          <a:ln/>
        </p:spPr>
        <p:txBody>
          <a:bodyPr wrap="square" lIns="0" tIns="0" rIns="0" bIns="0" rtlCol="0" anchor="ctr"/>
          <a:lstStyle/>
          <a:p>
            <a:pPr marL="0" indent="0">
              <a:buNone/>
            </a:pPr>
            <a:r>
              <a:rPr lang="en-US" sz="1800" b="1" dirty="0">
                <a:solidFill>
                  <a:srgbClr val="0F172A"/>
                </a:solidFill>
              </a:rPr>
              <a:t>Required inputs</a:t>
            </a:r>
            <a:endParaRPr lang="en-US" sz="1800" dirty="0"/>
          </a:p>
        </p:txBody>
      </p:sp>
      <p:sp>
        <p:nvSpPr>
          <p:cNvPr id="8" name="Text 6"/>
          <p:cNvSpPr/>
          <p:nvPr/>
        </p:nvSpPr>
        <p:spPr>
          <a:xfrm>
            <a:off x="4645152" y="1874520"/>
            <a:ext cx="2871216" cy="3886200"/>
          </a:xfrm>
          <a:prstGeom prst="rect">
            <a:avLst/>
          </a:prstGeom>
          <a:noFill/>
          <a:ln/>
        </p:spPr>
        <p:txBody>
          <a:bodyPr wrap="square" lIns="0" tIns="0" rIns="0" bIns="0" rtlCol="0" anchor="t"/>
          <a:lstStyle/>
          <a:p>
            <a:pPr marL="0" indent="0">
              <a:buNone/>
            </a:pPr>
            <a:r>
              <a:rPr lang="en-US" sz="1500" dirty="0">
                <a:solidFill>
                  <a:srgbClr val="334155"/>
                </a:solidFill>
              </a:rPr>
              <a:t>Representative dataset</a:t>
            </a:r>
            <a:endParaRPr lang="en-US" sz="1500" dirty="0"/>
          </a:p>
          <a:p>
            <a:pPr marL="0" indent="0">
              <a:buNone/>
            </a:pPr>
            <a:r>
              <a:rPr lang="en-US" sz="1500" dirty="0">
                <a:solidFill>
                  <a:srgbClr val="334155"/>
                </a:solidFill>
              </a:rPr>
              <a:t>Target device or equivalent benchmark hardware</a:t>
            </a:r>
            <a:endParaRPr lang="en-US" sz="1500" dirty="0"/>
          </a:p>
          <a:p>
            <a:pPr marL="0" indent="0">
              <a:buNone/>
            </a:pPr>
            <a:r>
              <a:rPr lang="en-US" sz="1500" dirty="0">
                <a:solidFill>
                  <a:srgbClr val="334155"/>
                </a:solidFill>
              </a:rPr>
              <a:t>Selected classes / ontology</a:t>
            </a:r>
            <a:endParaRPr lang="en-US" sz="1500" dirty="0"/>
          </a:p>
          <a:p>
            <a:pPr marL="0" indent="0">
              <a:buNone/>
            </a:pPr>
            <a:r>
              <a:rPr lang="en-US" sz="1500" dirty="0">
                <a:solidFill>
                  <a:srgbClr val="334155"/>
                </a:solidFill>
              </a:rPr>
              <a:t>Access to review workflow</a:t>
            </a:r>
            <a:endParaRPr lang="en-US" sz="1500" dirty="0"/>
          </a:p>
        </p:txBody>
      </p:sp>
      <p:sp>
        <p:nvSpPr>
          <p:cNvPr id="9" name="Shape 7"/>
          <p:cNvSpPr/>
          <p:nvPr/>
        </p:nvSpPr>
        <p:spPr>
          <a:xfrm>
            <a:off x="7863840" y="1417320"/>
            <a:ext cx="3657600" cy="4480560"/>
          </a:xfrm>
          <a:prstGeom prst="roundRect">
            <a:avLst>
              <a:gd name="adj" fmla="val 1500"/>
            </a:avLst>
          </a:prstGeom>
          <a:solidFill>
            <a:srgbClr val="EEF2FF"/>
          </a:solidFill>
          <a:ln w="12700">
            <a:solidFill>
              <a:srgbClr val="E2E8F0"/>
            </a:solidFill>
            <a:prstDash val="solid"/>
          </a:ln>
        </p:spPr>
        <p:txBody>
          <a:bodyPr/>
          <a:lstStyle/>
          <a:p>
            <a:endParaRPr lang="en-US"/>
          </a:p>
        </p:txBody>
      </p:sp>
      <p:sp>
        <p:nvSpPr>
          <p:cNvPr id="10" name="Text 8"/>
          <p:cNvSpPr/>
          <p:nvPr/>
        </p:nvSpPr>
        <p:spPr>
          <a:xfrm>
            <a:off x="8028432" y="1563624"/>
            <a:ext cx="3328416" cy="256032"/>
          </a:xfrm>
          <a:prstGeom prst="rect">
            <a:avLst/>
          </a:prstGeom>
          <a:noFill/>
          <a:ln/>
        </p:spPr>
        <p:txBody>
          <a:bodyPr wrap="square" lIns="0" tIns="0" rIns="0" bIns="0" rtlCol="0" anchor="ctr"/>
          <a:lstStyle/>
          <a:p>
            <a:pPr marL="0" indent="0">
              <a:buNone/>
            </a:pPr>
            <a:r>
              <a:rPr lang="en-US" sz="1800" b="1" dirty="0">
                <a:solidFill>
                  <a:srgbClr val="0F172A"/>
                </a:solidFill>
              </a:rPr>
              <a:t>Decision message</a:t>
            </a:r>
            <a:endParaRPr lang="en-US" sz="1800" dirty="0"/>
          </a:p>
        </p:txBody>
      </p:sp>
      <p:sp>
        <p:nvSpPr>
          <p:cNvPr id="11" name="Text 9"/>
          <p:cNvSpPr/>
          <p:nvPr/>
        </p:nvSpPr>
        <p:spPr>
          <a:xfrm>
            <a:off x="8028432" y="1874520"/>
            <a:ext cx="3328416" cy="3886200"/>
          </a:xfrm>
          <a:prstGeom prst="rect">
            <a:avLst/>
          </a:prstGeom>
          <a:noFill/>
          <a:ln/>
        </p:spPr>
        <p:txBody>
          <a:bodyPr wrap="square" lIns="0" tIns="0" rIns="0" bIns="0" rtlCol="0" anchor="t"/>
          <a:lstStyle/>
          <a:p>
            <a:pPr marL="0" indent="0">
              <a:buNone/>
            </a:pPr>
            <a:r>
              <a:rPr lang="en-US" sz="1500" dirty="0">
                <a:solidFill>
                  <a:srgbClr val="334155"/>
                </a:solidFill>
              </a:rPr>
              <a:t>Approve the DSX Senior Phase proposal as a reusable, edge-aware labeling assistant prototype with measurable quality, runtime, and traceability outcomes.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660</TotalTime>
  <Words>1739</Words>
  <Application>Microsoft Macintosh PowerPoint</Application>
  <PresentationFormat>Widescreen</PresentationFormat>
  <Paragraphs>132</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On-Device AI-Assisted Labeling System</dc:title>
  <dc:subject>DSX Senior Phase Proposal</dc:subject>
  <dc:creator>OpenAI</dc:creator>
  <cp:lastModifiedBy>Rahim Taleqani Ali (XC-AS/EEA-NA)</cp:lastModifiedBy>
  <cp:revision>4</cp:revision>
  <dcterms:created xsi:type="dcterms:W3CDTF">2026-05-08T14:34:23Z</dcterms:created>
  <dcterms:modified xsi:type="dcterms:W3CDTF">2026-05-11T01:46:00Z</dcterms:modified>
</cp:coreProperties>
</file>