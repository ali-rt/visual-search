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f09af3426c4eb0" /><Relationship Type="http://schemas.openxmlformats.org/officeDocument/2006/relationships/extended-properties" Target="/docProps/app.xml" Id="R11f86dd7f858472e" /><Relationship Type="http://schemas.openxmlformats.org/officeDocument/2006/relationships/officeDocument" Target="/ppt/presentation.xml" Id="R0aa8568a50554349" /></Relationships>
</file>

<file path=ppt/presentation.xml><?xml version="1.0" encoding="utf-8"?>
<p:presentation xmlns:p="http://schemas.openxmlformats.org/presentationml/2006/main">
  <p:sldMasterIdLst>
    <p:sldMasterId xmlns:r="http://schemas.openxmlformats.org/officeDocument/2006/relationships" id="2147483648" r:id="R00ac56dee50646dc"/>
  </p:sldMasterIdLst>
  <p:notesMasterIdLst>
    <p:notesMasterId xmlns:r="http://schemas.openxmlformats.org/officeDocument/2006/relationships" r:id="Rd3b6a0a75eeb4319"/>
  </p:notesMasterIdLst>
  <p:sldIdLst>
    <p:sldId xmlns:r="http://schemas.openxmlformats.org/officeDocument/2006/relationships" id="256" r:id="R4435828acbe54aff"/>
    <p:sldId xmlns:r="http://schemas.openxmlformats.org/officeDocument/2006/relationships" id="257" r:id="Rf07beeb4d2f84625"/>
    <p:sldId xmlns:r="http://schemas.openxmlformats.org/officeDocument/2006/relationships" id="258" r:id="R66b65be154594960"/>
    <p:sldId xmlns:r="http://schemas.openxmlformats.org/officeDocument/2006/relationships" id="259" r:id="Rf2bf2d32f2374773"/>
    <p:sldId xmlns:r="http://schemas.openxmlformats.org/officeDocument/2006/relationships" id="260" r:id="R70567d962c4a4183"/>
    <p:sldId xmlns:r="http://schemas.openxmlformats.org/officeDocument/2006/relationships" id="261" r:id="R7324da04d6f24248"/>
    <p:sldId xmlns:r="http://schemas.openxmlformats.org/officeDocument/2006/relationships" id="262" r:id="R6953b32cb8504016"/>
    <p:sldId xmlns:r="http://schemas.openxmlformats.org/officeDocument/2006/relationships" id="263" r:id="Re93a1b9e1e9947c4"/>
    <p:sldId xmlns:r="http://schemas.openxmlformats.org/officeDocument/2006/relationships" id="264" r:id="Rdedb89cf99a84992"/>
    <p:sldId xmlns:r="http://schemas.openxmlformats.org/officeDocument/2006/relationships" id="265" r:id="R70817bf11f96416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0ac56dee50646dc" /><Relationship Type="http://schemas.openxmlformats.org/officeDocument/2006/relationships/theme" Target="/ppt/theme/theme1.xml" Id="R9a96ede910bf4551" /><Relationship Type="http://schemas.openxmlformats.org/officeDocument/2006/relationships/notesMaster" Target="/ppt/notesMasters/notesMaster1.xml" Id="Rd3b6a0a75eeb4319" /><Relationship Type="http://schemas.openxmlformats.org/officeDocument/2006/relationships/presProps" Target="/ppt/presProps.xml" Id="Rc0485fc01e2a4e06" /><Relationship Type="http://schemas.openxmlformats.org/officeDocument/2006/relationships/viewProps" Target="/ppt/viewProps.xml" Id="R93b48de8a5d54d0c" /><Relationship Type="http://schemas.openxmlformats.org/officeDocument/2006/relationships/tableStyles" Target="/ppt/tableStyles.xml" Id="R592d3807710948d8" /><Relationship Type="http://schemas.openxmlformats.org/officeDocument/2006/relationships/slide" Target="/ppt/slides/slide1.xml" Id="R4435828acbe54aff" /><Relationship Type="http://schemas.openxmlformats.org/officeDocument/2006/relationships/slide" Target="/ppt/slides/slide2.xml" Id="Rf07beeb4d2f84625" /><Relationship Type="http://schemas.openxmlformats.org/officeDocument/2006/relationships/slide" Target="/ppt/slides/slide3.xml" Id="R66b65be154594960" /><Relationship Type="http://schemas.openxmlformats.org/officeDocument/2006/relationships/slide" Target="/ppt/slides/slide4.xml" Id="Rf2bf2d32f2374773" /><Relationship Type="http://schemas.openxmlformats.org/officeDocument/2006/relationships/slide" Target="/ppt/slides/slide5.xml" Id="R70567d962c4a4183" /><Relationship Type="http://schemas.openxmlformats.org/officeDocument/2006/relationships/slide" Target="/ppt/slides/slide6.xml" Id="R7324da04d6f24248" /><Relationship Type="http://schemas.openxmlformats.org/officeDocument/2006/relationships/slide" Target="/ppt/slides/slide7.xml" Id="R6953b32cb8504016" /><Relationship Type="http://schemas.openxmlformats.org/officeDocument/2006/relationships/slide" Target="/ppt/slides/slide8.xml" Id="Re93a1b9e1e9947c4" /><Relationship Type="http://schemas.openxmlformats.org/officeDocument/2006/relationships/slide" Target="/ppt/slides/slide9.xml" Id="Rdedb89cf99a84992" /><Relationship Type="http://schemas.openxmlformats.org/officeDocument/2006/relationships/slide" Target="/ppt/slides/slide10.xml" Id="R70817bf11f9641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5229c0eeac34d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da8ad126734254" /><Relationship Type="http://schemas.openxmlformats.org/officeDocument/2006/relationships/notesMaster" Target="/ppt/notesMasters/notesMaster1.xml" Id="R97b93ff78f444e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e96b625d92477f" /><Relationship Type="http://schemas.openxmlformats.org/officeDocument/2006/relationships/notesMaster" Target="/ppt/notesMasters/notesMaster1.xml" Id="R12bb312954fb45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9b556c642845f9" /><Relationship Type="http://schemas.openxmlformats.org/officeDocument/2006/relationships/notesMaster" Target="/ppt/notesMasters/notesMaster1.xml" Id="Rbfc97043574641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263c1304374377" /><Relationship Type="http://schemas.openxmlformats.org/officeDocument/2006/relationships/notesMaster" Target="/ppt/notesMasters/notesMaster1.xml" Id="Rb863d349940147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4ec4258aa944ee" /><Relationship Type="http://schemas.openxmlformats.org/officeDocument/2006/relationships/notesMaster" Target="/ppt/notesMasters/notesMaster1.xml" Id="R0db05a0beca946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89717f5c764cc6" /><Relationship Type="http://schemas.openxmlformats.org/officeDocument/2006/relationships/notesMaster" Target="/ppt/notesMasters/notesMaster1.xml" Id="R4068dbd8ba2446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6d586d92754e96" /><Relationship Type="http://schemas.openxmlformats.org/officeDocument/2006/relationships/notesMaster" Target="/ppt/notesMasters/notesMaster1.xml" Id="Rc9bca3df7c8b45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8ce2afc1254aa7" /><Relationship Type="http://schemas.openxmlformats.org/officeDocument/2006/relationships/notesMaster" Target="/ppt/notesMasters/notesMaster1.xml" Id="Rf2bd2cc1306b44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bd13f27093499c" /><Relationship Type="http://schemas.openxmlformats.org/officeDocument/2006/relationships/notesMaster" Target="/ppt/notesMasters/notesMaster1.xml" Id="R85ffa0a1650545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e82d26a3e2494d" /><Relationship Type="http://schemas.openxmlformats.org/officeDocument/2006/relationships/notesMaster" Target="/ppt/notesMasters/notesMaster1.xml" Id="R5af37848ca0347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My proposal is an On-Device AI-Assisted Labeling System for edge-deployable perception models. The core idea is to build a practical </a:t>
            </a:r>
            <a:r>
              <a:rPr sz="1200" b="1">
                <a:solidFill>
                  <a:schemeClr val="tx1"/>
                </a:solidFill>
                <a:latin typeface="+mn-lt"/>
                <a:ea typeface="+mn-lt"/>
                <a:cs typeface="+mn-lt"/>
              </a:rPr>
              <a:t>labeling assistant </a:t>
            </a:r>
            <a:r>
              <a:rPr sz="1200">
                <a:solidFill>
                  <a:schemeClr val="tx1"/>
                </a:solidFill>
                <a:latin typeface="+mn-lt"/>
                <a:ea typeface="+mn-lt"/>
                <a:cs typeface="+mn-lt"/>
              </a:rPr>
              <a:t>that can run on target edge hardware and generate candidate labels—such as bounding boxes or segmentation masks—together with confidence scores, runtime metadata, and review flags. The important point is that this is not intended to replace human review. It is designed to reduce first-pass manual labeling effort while keeping review, traceability, and validation mandatory.</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The motivation comes from a recurring challenge in perception data workflows. Manual labeling is expensive and slow, label quality can vary, and iteration cycles become long when teams need to prepare new datasets repeatedly. Another issue is that hardware constraints are often considered late, after a model or workflow has already been designed offline. My proposal addresses this gap by creating a compact on-device detector or </a:t>
            </a:r>
            <a:r>
              <a:rPr sz="1200">
                <a:solidFill>
                  <a:schemeClr val="tx1"/>
                </a:solidFill>
                <a:latin typeface="+mn-lt"/>
                <a:ea typeface="+mn-lt"/>
                <a:cs typeface="+mn-lt"/>
              </a:rPr>
              <a:t>segmenter</a:t>
            </a:r>
            <a:r>
              <a:rPr sz="1200">
                <a:solidFill>
                  <a:schemeClr val="tx1"/>
                </a:solidFill>
                <a:latin typeface="+mn-lt"/>
                <a:ea typeface="+mn-lt"/>
                <a:cs typeface="+mn-lt"/>
              </a:rPr>
              <a:t> that produces pre-labels and metadata directly in an edge-aware workflow. The output then goes to a human-in-the-loop review process, where labels can be accepted, corrected, or rejected, while every run remains versioned and traceable</a:t>
            </a:r>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To keep the project feasible for the DSX Senior Phase, I am intentionally limiting the first prototype. The initial scope would focus on one representative camera or perception domain and approximately </a:t>
            </a:r>
            <a:r>
              <a:rPr sz="1200" b="1">
                <a:solidFill>
                  <a:schemeClr val="tx1"/>
                </a:solidFill>
                <a:latin typeface="+mn-lt"/>
                <a:ea typeface="+mn-lt"/>
                <a:cs typeface="+mn-lt"/>
              </a:rPr>
              <a:t>two to five high-value </a:t>
            </a:r>
            <a:r>
              <a:rPr sz="1200">
                <a:solidFill>
                  <a:schemeClr val="tx1"/>
                </a:solidFill>
                <a:latin typeface="+mn-lt"/>
                <a:ea typeface="+mn-lt"/>
                <a:cs typeface="+mn-lt"/>
              </a:rPr>
              <a:t>object classes or label types. For the pilot, I assume a training and validation subset of around 5,000 to 20,000 frames and a smaller device benchmark set of around 500 to 2,000 frames. The data should include realistic variation—lighting, occlusion, object distance, and sensor setup. Success would not mean perfect autonomous labeling. Success means the pre-labels are useful enough to reduce human first-pass effort, the model runs within target device constraints, and the results include structured metadata and scenario-level failure analysis.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The workflow is designed as an end-to-end prototype rather than a single model experiment. First, we select the dataset, classes, and label ontology. Second, we prepare labels and, where useful, use stronger offline teacher models to generate candidate pseudo-labels. Third, we fine-tune a compact student model for the selected classes. Fourth, we export and optimize the model for edge inference, for example through ONNX and a suitable runtime such as </a:t>
            </a:r>
            <a:r>
              <a:rPr sz="1200">
                <a:solidFill>
                  <a:schemeClr val="tx1"/>
                </a:solidFill>
                <a:latin typeface="+mn-lt"/>
                <a:ea typeface="+mn-lt"/>
                <a:cs typeface="+mn-lt"/>
              </a:rPr>
              <a:t>TensorRT</a:t>
            </a:r>
            <a:r>
              <a:rPr sz="1200">
                <a:solidFill>
                  <a:schemeClr val="tx1"/>
                </a:solidFill>
                <a:latin typeface="+mn-lt"/>
                <a:ea typeface="+mn-lt"/>
                <a:cs typeface="+mn-lt"/>
              </a:rPr>
              <a:t>, </a:t>
            </a:r>
            <a:r>
              <a:rPr sz="1200">
                <a:solidFill>
                  <a:schemeClr val="tx1"/>
                </a:solidFill>
                <a:latin typeface="+mn-lt"/>
                <a:ea typeface="+mn-lt"/>
                <a:cs typeface="+mn-lt"/>
              </a:rPr>
              <a:t>OpenVINO</a:t>
            </a:r>
            <a:r>
              <a:rPr sz="1200">
                <a:solidFill>
                  <a:schemeClr val="tx1"/>
                </a:solidFill>
                <a:latin typeface="+mn-lt"/>
                <a:ea typeface="+mn-lt"/>
                <a:cs typeface="+mn-lt"/>
              </a:rPr>
              <a:t>, or </a:t>
            </a:r>
            <a:r>
              <a:rPr sz="1200">
                <a:solidFill>
                  <a:schemeClr val="tx1"/>
                </a:solidFill>
                <a:latin typeface="+mn-lt"/>
                <a:ea typeface="+mn-lt"/>
                <a:cs typeface="+mn-lt"/>
              </a:rPr>
              <a:t>TFLite</a:t>
            </a:r>
            <a:r>
              <a:rPr sz="1200">
                <a:solidFill>
                  <a:schemeClr val="tx1"/>
                </a:solidFill>
                <a:latin typeface="+mn-lt"/>
                <a:ea typeface="+mn-lt"/>
                <a:cs typeface="+mn-lt"/>
              </a:rPr>
              <a:t> depending on the hardware. Fifth, we benchmark the model on device for latency, memory, FPS, model size, and cold-start behavior. Finally, the predictions are integrated into a review workflow such as </a:t>
            </a:r>
            <a:r>
              <a:rPr sz="1200">
                <a:solidFill>
                  <a:schemeClr val="tx1"/>
                </a:solidFill>
                <a:latin typeface="+mn-lt"/>
                <a:ea typeface="+mn-lt"/>
                <a:cs typeface="+mn-lt"/>
              </a:rPr>
              <a:t>FiftyOne</a:t>
            </a:r>
            <a:r>
              <a:rPr sz="1200">
                <a:solidFill>
                  <a:schemeClr val="tx1"/>
                </a:solidFill>
                <a:latin typeface="+mn-lt"/>
                <a:ea typeface="+mn-lt"/>
                <a:cs typeface="+mn-lt"/>
              </a:rPr>
              <a:t> or a lightweight UI/API, and the result is documented in a quality and failure-analysis report.</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The model strategy separates offline intelligence from on-device execution. Offline, we may use stronger teacher or foundation models to help bootstrap pseudo-labels. But the device component should remain compact and efficient. The primary candidate is a YOLO-style detector or </a:t>
            </a:r>
            <a:r>
              <a:rPr sz="1200">
                <a:solidFill>
                  <a:schemeClr val="tx1"/>
                </a:solidFill>
                <a:latin typeface="+mn-lt"/>
                <a:ea typeface="+mn-lt"/>
                <a:cs typeface="+mn-lt"/>
              </a:rPr>
              <a:t>segmenter</a:t>
            </a:r>
            <a:r>
              <a:rPr sz="1200">
                <a:solidFill>
                  <a:schemeClr val="tx1"/>
                </a:solidFill>
                <a:latin typeface="+mn-lt"/>
                <a:ea typeface="+mn-lt"/>
                <a:cs typeface="+mn-lt"/>
              </a:rPr>
              <a:t> because it is practical to fine-tune, has mature export paths, and can provide fast inference for boxes and masks. If mask quality becomes more important than speed, a second lightweight segmentation candidate can be compared. Evaluation will include classical model-quality metrics such as precision, recall, </a:t>
            </a:r>
            <a:r>
              <a:rPr sz="1200">
                <a:solidFill>
                  <a:schemeClr val="tx1"/>
                </a:solidFill>
                <a:latin typeface="+mn-lt"/>
                <a:ea typeface="+mn-lt"/>
                <a:cs typeface="+mn-lt"/>
              </a:rPr>
              <a:t>mAP</a:t>
            </a:r>
            <a:r>
              <a:rPr sz="1200">
                <a:solidFill>
                  <a:schemeClr val="tx1"/>
                </a:solidFill>
                <a:latin typeface="+mn-lt"/>
                <a:ea typeface="+mn-lt"/>
                <a:cs typeface="+mn-lt"/>
              </a:rPr>
              <a:t>, and mask </a:t>
            </a:r>
            <a:r>
              <a:rPr sz="1200">
                <a:solidFill>
                  <a:schemeClr val="tx1"/>
                </a:solidFill>
                <a:latin typeface="+mn-lt"/>
                <a:ea typeface="+mn-lt"/>
                <a:cs typeface="+mn-lt"/>
              </a:rPr>
              <a:t>IoU</a:t>
            </a:r>
            <a:r>
              <a:rPr sz="1200">
                <a:solidFill>
                  <a:schemeClr val="tx1"/>
                </a:solidFill>
                <a:latin typeface="+mn-lt"/>
                <a:ea typeface="+mn-lt"/>
                <a:cs typeface="+mn-lt"/>
              </a:rPr>
              <a:t>, but also engineering metrics such as latency, FPS, memory usage, model size, and cold-start time. This combination is important because a labeling assistant only creates value if it is both accurate enough and operationally usable</a:t>
            </a:r>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There are four main risks. </a:t>
            </a:r>
          </a:p>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The first is edge constraint risk: the model may be too large or too slow. I would mitigate this by benchmarking early, starting with nano or small model variants, tuning input resolution, and using FP16 or INT8 optimization where appropriate. </a:t>
            </a:r>
          </a:p>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The second risk is label quality. Because the output could be wrong, human review remains mandatory, and acceptance gates will be defined per class and scenario.</a:t>
            </a:r>
          </a:p>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 The third risk is domain shift across sensors, lighting, object distance, or scenarios. To address this, the validation split should be representative and metrics should be reported at scenario level, not only as global averages. </a:t>
            </a:r>
          </a:p>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The fourth risk is integration complexity. To avoid creating a separate labeling silo, the prototype will standardize the output schema and integrate with existing review workflows and dataset pipelines.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The business case is based on conservative assumptions. For one pilot workflow with 100,000 frames per year and about 20 seconds of manual first-pass effort per frame, the annual effort is about 556 hours. If pre-labeling reduces that first-pass effort by 25 to 35 percent, the saving is roughly 139 to 194 hours per year for one workflow. At an assumed internal cost of 70 euros per hour, that is about 9,700 to 13,600 euros per year. The more important value appears when the prototype is reused across multiple similar workflows and reduces dataset iteration time. With three comparable workflows and faster iteration cycles, the conservative annual benefit is approximately 35,000 to 55,000 euros, excluding secondary benefits such as better traceability, improved V&amp;V evidence, and reduced rework from inconsistent labels.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spcBef>
                <a:spcPts val="0"/>
              </a:spcBef>
              <a:spcAft>
                <a:spcPts val="0"/>
              </a:spcAft>
              <a:buNone/>
            </a:pPr>
            <a:r>
              <a:rPr sz="1200">
                <a:solidFill>
                  <a:schemeClr val="tx1"/>
                </a:solidFill>
                <a:latin typeface="+mn-lt"/>
                <a:ea typeface="+mn-lt"/>
                <a:cs typeface="+mn-lt"/>
              </a:rPr>
              <a:t>The implementation plan is scoped for approximately 8 to 12 weeks of part-time DSX Senior Phase work. In the first two weeks, I would finalize the dataset, ontology, target device, and baseline metrics. In weeks three to five, I would build the training and pseudo-label pipeline. In weeks six to eight, I would export, optimize, and deploy the compact model on the target hardware. In weeks nine and ten, I would integrate the output with a review workflow and run validation. In the final weeks, I would prepare the report, documentation, and handoff material. The required inputs are a representative dataset, access to target or benchmark hardware, selected classes or ontology, and access to the review workflow. My ask is to approve this as a reusable edge-aware labeling assistant prototype with measurable quality, runtime, and traceability outcomes.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b65efd97af4b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3020016f0e46d7" /></Relationships>
</file>

<file path=ppt/slideLayouts/slideLayout1.xml><?xml version="1.0" encoding="utf-8"?>
<p:sldLayout xmlns:p="http://schemas.openxmlformats.org/presentationml/2006/main">
  <p:cSld>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MASTER">
    <p:bg>
      <p:bgPr>
        <a:solidFill xmlns:a="http://schemas.openxmlformats.org/drawingml/2006/main">
          <a:srgbClr val="F7F8FA"/>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464e5f05247c4dbc" /><Relationship Type="http://schemas.openxmlformats.org/officeDocument/2006/relationships/theme" Target="/ppt/theme/theme1.xml" Id="R065e81596c804083" /><Relationship Type="http://schemas.openxmlformats.org/officeDocument/2006/relationships/slideLayout" Target="/ppt/slideLayouts/slideLayout2.xml" Id="R9196171110bd48d6" /><Relationship Type="http://schemas.openxmlformats.org/officeDocument/2006/relationships/slideLayout" Target="/ppt/slideLayouts/slideLayout3.xml" Id="R2b6da6afc61d463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8" r:id="R464e5f05247c4dbc"/>
    <p:sldLayoutId xmlns:r="http://schemas.openxmlformats.org/officeDocument/2006/relationships" id="2147483649" r:id="R9196171110bd48d6"/>
    <p:sldLayoutId xmlns:r="http://schemas.openxmlformats.org/officeDocument/2006/relationships" id="2147483650" r:id="R2b6da6afc61d4634"/>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aa95ac2f0199400a" /><Relationship Type="http://schemas.openxmlformats.org/officeDocument/2006/relationships/notesSlide" Target="/ppt/notesSlides/notesSlide1.xml" Id="R691ea7bcafcf41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07f184b752943fd" /><Relationship Type="http://schemas.openxmlformats.org/officeDocument/2006/relationships/notesSlide" Target="/ppt/notesSlides/notesSlide2.xml" Id="R7b12846cee404c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123c7278eb34fbb" /><Relationship Type="http://schemas.openxmlformats.org/officeDocument/2006/relationships/notesSlide" Target="/ppt/notesSlides/notesSlide3.xml" Id="R4b3effa62e2741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f733d741afd4b79" /><Relationship Type="http://schemas.openxmlformats.org/officeDocument/2006/relationships/notesSlide" Target="/ppt/notesSlides/notesSlide4.xml" Id="Raab41756b99c43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702b95ee0bb4b80" /><Relationship Type="http://schemas.openxmlformats.org/officeDocument/2006/relationships/notesSlide" Target="/ppt/notesSlides/notesSlide5.xml" Id="Rfedc6eec3c4441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cf55611bd145f3" /><Relationship Type="http://schemas.openxmlformats.org/officeDocument/2006/relationships/notesSlide" Target="/ppt/notesSlides/notesSlide6.xml" Id="Re5b27ea91a544c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f2c07b2ed84460" /><Relationship Type="http://schemas.openxmlformats.org/officeDocument/2006/relationships/notesSlide" Target="/ppt/notesSlides/notesSlide7.xml" Id="R34600b0b403145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6473ff8f17b4499" /><Relationship Type="http://schemas.openxmlformats.org/officeDocument/2006/relationships/notesSlide" Target="/ppt/notesSlides/notesSlide8.xml" Id="R067fcead0dc54d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5ef0f8bb9c4463d" /><Relationship Type="http://schemas.openxmlformats.org/officeDocument/2006/relationships/chart" Target="/ppt/slides/charts/chart1.xml" Id="Rf07285c815754575" /><Relationship Type="http://schemas.openxmlformats.org/officeDocument/2006/relationships/notesSlide" Target="/ppt/notesSlides/notesSlide9.xml" Id="Rf9e27a7bf31149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b7a2fed17ba46e3" /><Relationship Type="http://schemas.openxmlformats.org/officeDocument/2006/relationships/notesSlide" Target="/ppt/notesSlides/notesSlide10.xml" Id="R4ba5ad274d434dea" /></Relationships>
</file>

<file path=ppt/slides/charts/chart1.xml><?xml version="1.0" encoding="utf-8"?>
<c:chartSpace xmlns:c="http://schemas.openxmlformats.org/drawingml/2006/chart">
  <c:lang val="en-US"/>
  <c:roundedCorners val="1"/>
  <c:style val="2"/>
  <c:chart>
    <c:plotArea>
      <c:layout/>
      <c:barChart>
        <c:barDir val="col"/>
        <c:grouping val="clustered"/>
        <c:varyColors val="0"/>
        <c:ser>
          <c:idx val="0"/>
          <c:order val="0"/>
          <c:tx>
            <c:strRef>
              <c:f>Sheet1!$B$1</c:f>
              <c:strCache>
                <c:ptCount val="1"/>
                <c:pt idx="0">
                  <c:v>Hours/year</c:v>
                </c:pt>
              </c:strCache>
            </c:strRef>
          </c:tx>
          <c:spPr>
            <a:solidFill xmlns:a="http://schemas.openxmlformats.org/drawingml/2006/main">
              <a:srgbClr val="2563EB"/>
            </a:solidFill>
          </c:spPr>
          <c:dPt>
            <c:idx val="1"/>
            <c:spPr>
              <a:solidFill xmlns:a="http://schemas.openxmlformats.org/drawingml/2006/main">
                <a:srgbClr val="16A34A"/>
              </a:solidFill>
            </c:spPr>
          </c:dPt>
          <c:dPt>
            <c:idx val="2"/>
            <c:spPr>
              <a:solidFill xmlns:a="http://schemas.openxmlformats.org/drawingml/2006/main">
                <a:srgbClr val="22C55E"/>
              </a:solidFill>
            </c:spPr>
          </c:dPt>
          <c:dPt>
            <c:idx val="3"/>
            <c:spPr>
              <a:solidFill xmlns:a="http://schemas.openxmlformats.org/drawingml/2006/main">
                <a:srgbClr val="D97706"/>
              </a:solidFill>
            </c:spPr>
          </c:dPt>
          <c:cat>
            <c:strRef>
              <c:f>Sheet1!$A$2:$A$5</c:f>
              <c:strCache>
                <c:ptCount val="4"/>
                <c:pt idx="0">
                  <c:v>Manual first-pass effort</c:v>
                </c:pt>
                <c:pt idx="1">
                  <c:v>Saved at 25%</c:v>
                </c:pt>
                <c:pt idx="2">
                  <c:v>Saved at 35%</c:v>
                </c:pt>
                <c:pt idx="3">
                  <c:v>Additional iteration savings</c:v>
                </c:pt>
              </c:strCache>
            </c:strRef>
          </c:cat>
          <c:val>
            <c:numRef>
              <c:f>Sheet1!$B$2:$B$5</c:f>
              <c:numCache>
                <c:formatCode>General</c:formatCode>
                <c:ptCount val="4"/>
                <c:pt idx="0">
                  <c:v>556</c:v>
                </c:pt>
                <c:pt idx="1">
                  <c:v>139</c:v>
                </c:pt>
                <c:pt idx="2">
                  <c:v>194</c:v>
                </c:pt>
                <c:pt idx="3">
                  <c:v>160</c:v>
                </c:pt>
              </c:numCache>
            </c:numRef>
          </c:val>
        </c:ser>
        <c:dLbls>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400" b="0" i="0" u="none">
                <a:solidFill>
                  <a:srgbClr val="000000"/>
                </a:solidFill>
                <a:latin typeface="Arial"/>
                <a:ea typeface="Arial"/>
                <a:cs typeface="Arial"/>
              </a:defRPr>
            </a:pPr>
          </a:p>
        </c:txPr>
        <c:crossAx val="48672768"/>
        <c:crosses val="autoZero"/>
        <c:lblAlgn val="ctr"/>
        <c:lblOffset val="100"/>
        <c:noMultiLvlLbl val="0"/>
      </c:catAx>
      <c:valAx>
        <c:axId val="48672768"/>
        <c:scaling>
          <c:orientation val="minMax"/>
          <c:max val="600"/>
        </c:scaling>
        <c:delete val="0"/>
        <c:axPos val="l"/>
        <c:majorGridlines>
          <c:spPr>
            <a:ln xmlns:a="http://schemas.openxmlformats.org/drawingml/2006/main" w="12700">
              <a:solidFill>
                <a:srgbClr val="888888"/>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crossAx val="48650112"/>
        <c:crosses val="autoZero"/>
        <c:crossBetween val="between"/>
      </c:valAx>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1C874F8-D0BB-47FB-A247-2B4BF7A469E4}"/>
              </a:ext>
            </a:extLst>
          </p:cNvPr>
          <p:cNvSpPr>
            <a:spLocks xmlns:a="http://schemas.openxmlformats.org/drawingml/2006/main" noGrp="1"/>
          </p:cNvSpPr>
          <p:nvPr/>
        </p:nvSpPr>
        <p:spPr>
          <a:xfrm xmlns:a="http://schemas.openxmlformats.org/drawingml/2006/main">
            <a:off x="548640" y="822960"/>
            <a:ext cx="11064240" cy="5303520"/>
          </a:xfrm>
          <a:prstGeom xmlns:a="http://schemas.openxmlformats.org/drawingml/2006/main" prst="roundRect">
            <a:avLst>
              <a:gd name="adj" fmla="val 1379"/>
            </a:avLst>
          </a:prstGeom>
          <a:solidFill xmlns:a="http://schemas.openxmlformats.org/drawingml/2006/main">
            <a:srgbClr val="FFFF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9E835A0D-8E6D-4662-9F66-0258405B715A}"/>
              </a:ext>
            </a:extLst>
          </p:cNvPr>
          <p:cNvSpPr>
            <a:spLocks xmlns:a="http://schemas.openxmlformats.org/drawingml/2006/main" noGrp="1"/>
          </p:cNvSpPr>
          <p:nvPr/>
        </p:nvSpPr>
        <p:spPr>
          <a:xfrm xmlns:a="http://schemas.openxmlformats.org/drawingml/2006/main">
            <a:off x="8138160" y="822960"/>
            <a:ext cx="3474720" cy="53035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ED5D3BEC-006B-4334-9312-6B9A47D61F83}"/>
              </a:ext>
            </a:extLst>
          </p:cNvPr>
          <p:cNvSpPr>
            <a:spLocks xmlns:a="http://schemas.openxmlformats.org/drawingml/2006/main" noGrp="1"/>
          </p:cNvSpPr>
          <p:nvPr/>
        </p:nvSpPr>
        <p:spPr>
          <a:xfrm xmlns:a="http://schemas.openxmlformats.org/drawingml/2006/main">
            <a:off x="914400" y="1325880"/>
            <a:ext cx="621792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F172A"/>
                </a:solidFill>
              </a:rPr>
              <a:t>On-Device AI-Assisted</a:t>
            </a:r>
          </a:p>
          <a:p xmlns:a="http://schemas.openxmlformats.org/drawingml/2006/main">
            <a:pPr marL="0" indent="0">
              <a:buNone/>
            </a:pPr>
            <a:r>
              <a:rPr sz="2400" b="1">
                <a:solidFill>
                  <a:srgbClr val="0F172A"/>
                </a:solidFill>
              </a:rPr>
              <a:t>Labeling System</a:t>
            </a:r>
          </a:p>
        </p:txBody>
      </p:sp>
      <p:sp>
        <p:nvSpPr>
          <p:cNvPr id="5" name="Text 3">
            <a:extLst xmlns:a="http://schemas.openxmlformats.org/drawingml/2006/main">
              <a:ext uri="{FF2B5EF4-FFF2-40B4-BE49-F238E27FC236}">
                <a16:creationId xmlns:a16="http://schemas.microsoft.com/office/drawing/2014/main" id="{DB1BBCC9-9CA5-41A4-A7C1-F0646C6D7091}"/>
              </a:ext>
            </a:extLst>
          </p:cNvPr>
          <p:cNvSpPr>
            <a:spLocks xmlns:a="http://schemas.openxmlformats.org/drawingml/2006/main" noGrp="1"/>
          </p:cNvSpPr>
          <p:nvPr/>
        </p:nvSpPr>
        <p:spPr>
          <a:xfrm xmlns:a="http://schemas.openxmlformats.org/drawingml/2006/main">
            <a:off x="932688" y="2697480"/>
            <a:ext cx="6035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334155"/>
                </a:solidFill>
              </a:rPr>
              <a:t>Edge-deployable perception models for pre-labeling, review support, and traceable validation</a:t>
            </a:r>
          </a:p>
        </p:txBody>
      </p:sp>
      <p:sp>
        <p:nvSpPr>
          <p:cNvPr id="6" name="Shape 4">
            <a:extLst xmlns:a="http://schemas.openxmlformats.org/drawingml/2006/main">
              <a:ext uri="{FF2B5EF4-FFF2-40B4-BE49-F238E27FC236}">
                <a16:creationId xmlns:a16="http://schemas.microsoft.com/office/drawing/2014/main" id="{BBBE4424-4B81-424C-ABA5-EF0B0727934D}"/>
              </a:ext>
            </a:extLst>
          </p:cNvPr>
          <p:cNvSpPr>
            <a:spLocks xmlns:a="http://schemas.openxmlformats.org/drawingml/2006/main" noGrp="1"/>
          </p:cNvSpPr>
          <p:nvPr/>
        </p:nvSpPr>
        <p:spPr>
          <a:xfrm xmlns:a="http://schemas.openxmlformats.org/drawingml/2006/main">
            <a:off x="914400" y="3840480"/>
            <a:ext cx="1234440" cy="384048"/>
          </a:xfrm>
          <a:prstGeom xmlns:a="http://schemas.openxmlformats.org/drawingml/2006/main" prst="roundRect">
            <a:avLst>
              <a:gd name="adj" fmla="val 19048"/>
            </a:avLst>
          </a:prstGeom>
          <a:solidFill xmlns:a="http://schemas.openxmlformats.org/drawingml/2006/main">
            <a:srgbClr val="DBEAFE"/>
          </a:solidFill>
          <a:ln xmlns:a="http://schemas.openxmlformats.org/drawingml/2006/main" w="12700">
            <a:solidFill>
              <a:srgbClr val="DBEAFE"/>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EAFBE020-7078-4376-AF5B-BB952A11BAE0}"/>
              </a:ext>
            </a:extLst>
          </p:cNvPr>
          <p:cNvSpPr>
            <a:spLocks xmlns:a="http://schemas.openxmlformats.org/drawingml/2006/main" noGrp="1"/>
          </p:cNvSpPr>
          <p:nvPr/>
        </p:nvSpPr>
        <p:spPr>
          <a:xfrm xmlns:a="http://schemas.openxmlformats.org/drawingml/2006/main">
            <a:off x="914400" y="3913632"/>
            <a:ext cx="1234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2563EB"/>
                </a:solidFill>
              </a:rPr>
              <a:t>Computer Vision</a:t>
            </a:r>
          </a:p>
        </p:txBody>
      </p:sp>
      <p:sp>
        <p:nvSpPr>
          <p:cNvPr id="8" name="Shape 6">
            <a:extLst xmlns:a="http://schemas.openxmlformats.org/drawingml/2006/main">
              <a:ext uri="{FF2B5EF4-FFF2-40B4-BE49-F238E27FC236}">
                <a16:creationId xmlns:a16="http://schemas.microsoft.com/office/drawing/2014/main" id="{A1802458-159D-4F6C-8DE6-90D96AABEBFE}"/>
              </a:ext>
            </a:extLst>
          </p:cNvPr>
          <p:cNvSpPr>
            <a:spLocks xmlns:a="http://schemas.openxmlformats.org/drawingml/2006/main" noGrp="1"/>
          </p:cNvSpPr>
          <p:nvPr/>
        </p:nvSpPr>
        <p:spPr>
          <a:xfrm xmlns:a="http://schemas.openxmlformats.org/drawingml/2006/main">
            <a:off x="2240280" y="3840480"/>
            <a:ext cx="914400" cy="384048"/>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12700">
            <a:solidFill>
              <a:srgbClr val="DCFCE7"/>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FD7CA34E-3A6F-40DF-9EBA-522AA929EE31}"/>
              </a:ext>
            </a:extLst>
          </p:cNvPr>
          <p:cNvSpPr>
            <a:spLocks xmlns:a="http://schemas.openxmlformats.org/drawingml/2006/main" noGrp="1"/>
          </p:cNvSpPr>
          <p:nvPr/>
        </p:nvSpPr>
        <p:spPr>
          <a:xfrm xmlns:a="http://schemas.openxmlformats.org/drawingml/2006/main">
            <a:off x="2240280" y="3913632"/>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6A34A"/>
                </a:solidFill>
              </a:rPr>
              <a:t>Edge AI</a:t>
            </a:r>
          </a:p>
        </p:txBody>
      </p:sp>
      <p:sp>
        <p:nvSpPr>
          <p:cNvPr id="10" name="Shape 8">
            <a:extLst xmlns:a="http://schemas.openxmlformats.org/drawingml/2006/main">
              <a:ext uri="{FF2B5EF4-FFF2-40B4-BE49-F238E27FC236}">
                <a16:creationId xmlns:a16="http://schemas.microsoft.com/office/drawing/2014/main" id="{1E7FD155-978D-411A-9E25-71A4CB04C0CB}"/>
              </a:ext>
            </a:extLst>
          </p:cNvPr>
          <p:cNvSpPr>
            <a:spLocks xmlns:a="http://schemas.openxmlformats.org/drawingml/2006/main" noGrp="1"/>
          </p:cNvSpPr>
          <p:nvPr/>
        </p:nvSpPr>
        <p:spPr>
          <a:xfrm xmlns:a="http://schemas.openxmlformats.org/drawingml/2006/main">
            <a:off x="3291840" y="3840480"/>
            <a:ext cx="1417320" cy="384048"/>
          </a:xfrm>
          <a:prstGeom xmlns:a="http://schemas.openxmlformats.org/drawingml/2006/main" prst="roundRect">
            <a:avLst>
              <a:gd name="adj" fmla="val 19048"/>
            </a:avLst>
          </a:prstGeom>
          <a:solidFill xmlns:a="http://schemas.openxmlformats.org/drawingml/2006/main">
            <a:srgbClr val="FEF3C7"/>
          </a:solidFill>
          <a:ln xmlns:a="http://schemas.openxmlformats.org/drawingml/2006/main" w="12700">
            <a:solidFill>
              <a:srgbClr val="FEF3C7"/>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5870F260-4613-4F68-AF6C-F850E62346E3}"/>
              </a:ext>
            </a:extLst>
          </p:cNvPr>
          <p:cNvSpPr>
            <a:spLocks xmlns:a="http://schemas.openxmlformats.org/drawingml/2006/main" noGrp="1"/>
          </p:cNvSpPr>
          <p:nvPr/>
        </p:nvSpPr>
        <p:spPr>
          <a:xfrm xmlns:a="http://schemas.openxmlformats.org/drawingml/2006/main">
            <a:off x="3291840" y="3913632"/>
            <a:ext cx="14173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D97706"/>
                </a:solidFill>
              </a:rPr>
              <a:t>ML Engineering</a:t>
            </a:r>
          </a:p>
        </p:txBody>
      </p:sp>
      <p:sp>
        <p:nvSpPr>
          <p:cNvPr id="12" name="Shape 10">
            <a:extLst xmlns:a="http://schemas.openxmlformats.org/drawingml/2006/main">
              <a:ext uri="{FF2B5EF4-FFF2-40B4-BE49-F238E27FC236}">
                <a16:creationId xmlns:a16="http://schemas.microsoft.com/office/drawing/2014/main" id="{8C1038C9-B1E2-482D-9EA9-F016983A74A5}"/>
              </a:ext>
            </a:extLst>
          </p:cNvPr>
          <p:cNvSpPr>
            <a:spLocks xmlns:a="http://schemas.openxmlformats.org/drawingml/2006/main" noGrp="1"/>
          </p:cNvSpPr>
          <p:nvPr/>
        </p:nvSpPr>
        <p:spPr>
          <a:xfrm xmlns:a="http://schemas.openxmlformats.org/drawingml/2006/main">
            <a:off x="4846320" y="3840480"/>
            <a:ext cx="731520" cy="384048"/>
          </a:xfrm>
          <a:prstGeom xmlns:a="http://schemas.openxmlformats.org/drawingml/2006/main" prst="roundRect">
            <a:avLst>
              <a:gd name="adj" fmla="val 19048"/>
            </a:avLst>
          </a:prstGeom>
          <a:solidFill xmlns:a="http://schemas.openxmlformats.org/drawingml/2006/main">
            <a:srgbClr val="EDE9FE"/>
          </a:solidFill>
          <a:ln xmlns:a="http://schemas.openxmlformats.org/drawingml/2006/main" w="12700">
            <a:solidFill>
              <a:srgbClr val="EDE9FE"/>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0DB4E215-0009-410D-A0B6-2940F902CB39}"/>
              </a:ext>
            </a:extLst>
          </p:cNvPr>
          <p:cNvSpPr>
            <a:spLocks xmlns:a="http://schemas.openxmlformats.org/drawingml/2006/main" noGrp="1"/>
          </p:cNvSpPr>
          <p:nvPr/>
        </p:nvSpPr>
        <p:spPr>
          <a:xfrm xmlns:a="http://schemas.openxmlformats.org/drawingml/2006/main">
            <a:off x="4846320" y="3913632"/>
            <a:ext cx="7315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7C3AED"/>
                </a:solidFill>
              </a:rPr>
              <a:t>V&amp;V</a:t>
            </a:r>
          </a:p>
        </p:txBody>
      </p:sp>
      <p:sp>
        <p:nvSpPr>
          <p:cNvPr id="14" name="Text 12">
            <a:extLst xmlns:a="http://schemas.openxmlformats.org/drawingml/2006/main">
              <a:ext uri="{FF2B5EF4-FFF2-40B4-BE49-F238E27FC236}">
                <a16:creationId xmlns:a16="http://schemas.microsoft.com/office/drawing/2014/main" id="{617D5D73-A346-4C00-9FD4-784A85AC43AF}"/>
              </a:ext>
            </a:extLst>
          </p:cNvPr>
          <p:cNvSpPr>
            <a:spLocks xmlns:a="http://schemas.openxmlformats.org/drawingml/2006/main" noGrp="1"/>
          </p:cNvSpPr>
          <p:nvPr/>
        </p:nvSpPr>
        <p:spPr>
          <a:xfrm xmlns:a="http://schemas.openxmlformats.org/drawingml/2006/main">
            <a:off x="8503920" y="4343400"/>
            <a:ext cx="2560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FFFFFF"/>
                </a:solidFill>
              </a:rPr>
              <a:t>Ali Rahim Taleqani</a:t>
            </a:r>
          </a:p>
          <a:p xmlns:a="http://schemas.openxmlformats.org/drawingml/2006/main">
            <a:pPr marL="0" indent="0" algn="l">
              <a:buNone/>
            </a:pPr>
            <a:r>
              <a:rPr sz="1800" b="1">
                <a:solidFill>
                  <a:srgbClr val="FFFFFF"/>
                </a:solidFill>
              </a:rPr>
              <a:t>DSX Senior Phase Proposal</a:t>
            </a:r>
          </a:p>
        </p:txBody>
      </p:sp>
      <p:sp>
        <p:nvSpPr>
          <p:cNvPr id="15" name="Text 13">
            <a:extLst xmlns:a="http://schemas.openxmlformats.org/drawingml/2006/main">
              <a:ext uri="{FF2B5EF4-FFF2-40B4-BE49-F238E27FC236}">
                <a16:creationId xmlns:a16="http://schemas.microsoft.com/office/drawing/2014/main" id="{3A55672E-B00A-4221-865A-B7D4ABD06FC4}"/>
              </a:ext>
            </a:extLst>
          </p:cNvPr>
          <p:cNvSpPr>
            <a:spLocks xmlns:a="http://schemas.openxmlformats.org/drawingml/2006/main" noGrp="1"/>
          </p:cNvSpPr>
          <p:nvPr/>
        </p:nvSpPr>
        <p:spPr>
          <a:xfrm xmlns:a="http://schemas.openxmlformats.org/drawingml/2006/main">
            <a:off x="8503920" y="1325880"/>
            <a:ext cx="237744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DCE6F7"/>
                </a:solidFill>
              </a:rPr>
              <a:t>Goal: build a validated prototype that runs on target edge hardware and assists—not replaces—human labeling.</a:t>
            </a:r>
          </a:p>
        </p:txBody>
      </p:sp>
    </p:spTree>
    <p:extLst>
      <p:ext uri="{BB962C8B-B14F-4D97-AF65-F5344CB8AC3E}">
        <p14:creationId xmlns:p14="http://schemas.microsoft.com/office/powerpoint/2010/main" val="10589561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2B350D-4043-485D-A9C3-ACB7AC1ED6DF}"/>
              </a:ext>
            </a:extLst>
          </p:cNvPr>
          <p:cNvSpPr>
            <a:spLocks xmlns:a="http://schemas.openxmlformats.org/drawingml/2006/main" noGrp="1"/>
          </p:cNvSpPr>
          <p:nvPr/>
        </p:nvSpPr>
        <p:spPr>
          <a:xfrm xmlns:a="http://schemas.openxmlformats.org/drawingml/2006/main">
            <a:off x="548640" y="502920"/>
            <a:ext cx="8046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72A"/>
                </a:solidFill>
              </a:rPr>
              <a:t>Problem and proposal at a glance</a:t>
            </a:r>
          </a:p>
        </p:txBody>
      </p:sp>
      <p:sp>
        <p:nvSpPr>
          <p:cNvPr id="3" name="Shape 1">
            <a:extLst xmlns:a="http://schemas.openxmlformats.org/drawingml/2006/main">
              <a:ext uri="{FF2B5EF4-FFF2-40B4-BE49-F238E27FC236}">
                <a16:creationId xmlns:a16="http://schemas.microsoft.com/office/drawing/2014/main" id="{29D1FCBB-326C-4FF6-9456-3F33FCA2A5EC}"/>
              </a:ext>
            </a:extLst>
          </p:cNvPr>
          <p:cNvSpPr>
            <a:spLocks xmlns:a="http://schemas.openxmlformats.org/drawingml/2006/main" noGrp="1"/>
          </p:cNvSpPr>
          <p:nvPr/>
        </p:nvSpPr>
        <p:spPr>
          <a:xfrm xmlns:a="http://schemas.openxmlformats.org/drawingml/2006/main">
            <a:off x="640080" y="1417320"/>
            <a:ext cx="3611880" cy="4434840"/>
          </a:xfrm>
          <a:prstGeom xmlns:a="http://schemas.openxmlformats.org/drawingml/2006/main" prst="roundRect">
            <a:avLst>
              <a:gd name="adj" fmla="val 1519"/>
            </a:avLst>
          </a:prstGeom>
          <a:solidFill xmlns:a="http://schemas.openxmlformats.org/drawingml/2006/main">
            <a:srgbClr val="FFFF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31C4C8D7-62DB-45AD-9B71-2A2996F6FF9B}"/>
              </a:ext>
            </a:extLst>
          </p:cNvPr>
          <p:cNvSpPr>
            <a:spLocks xmlns:a="http://schemas.openxmlformats.org/drawingml/2006/main" noGrp="1"/>
          </p:cNvSpPr>
          <p:nvPr/>
        </p:nvSpPr>
        <p:spPr>
          <a:xfrm xmlns:a="http://schemas.openxmlformats.org/drawingml/2006/main">
            <a:off x="804672" y="1563624"/>
            <a:ext cx="3282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Current pain points</a:t>
            </a:r>
          </a:p>
        </p:txBody>
      </p:sp>
      <p:sp>
        <p:nvSpPr>
          <p:cNvPr id="5" name="Text 3">
            <a:extLst xmlns:a="http://schemas.openxmlformats.org/drawingml/2006/main">
              <a:ext uri="{FF2B5EF4-FFF2-40B4-BE49-F238E27FC236}">
                <a16:creationId xmlns:a16="http://schemas.microsoft.com/office/drawing/2014/main" id="{683D485B-F0A4-46A4-BF4B-091C0DBB3C80}"/>
              </a:ext>
            </a:extLst>
          </p:cNvPr>
          <p:cNvSpPr>
            <a:spLocks xmlns:a="http://schemas.openxmlformats.org/drawingml/2006/main" noGrp="1"/>
          </p:cNvSpPr>
          <p:nvPr/>
        </p:nvSpPr>
        <p:spPr>
          <a:xfrm xmlns:a="http://schemas.openxmlformats.org/drawingml/2006/main">
            <a:off x="804672" y="1874520"/>
            <a:ext cx="3282696"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 Manual labeling effort is high</a:t>
            </a:r>
          </a:p>
          <a:p xmlns:a="http://schemas.openxmlformats.org/drawingml/2006/main">
            <a:pPr marL="0" indent="0">
              <a:buNone/>
            </a:pPr>
            <a:r>
              <a:rPr sz="1500">
                <a:solidFill>
                  <a:srgbClr val="334155"/>
                </a:solidFill>
              </a:rPr>
              <a:t>• Label quality can be inconsistent</a:t>
            </a:r>
          </a:p>
          <a:p xmlns:a="http://schemas.openxmlformats.org/drawingml/2006/main">
            <a:pPr marL="0" indent="0">
              <a:buNone/>
            </a:pPr>
            <a:r>
              <a:rPr sz="1500">
                <a:solidFill>
                  <a:srgbClr val="334155"/>
                </a:solidFill>
              </a:rPr>
              <a:t>• Iteration cycles are slow</a:t>
            </a:r>
          </a:p>
          <a:p xmlns:a="http://schemas.openxmlformats.org/drawingml/2006/main">
            <a:pPr marL="0" indent="0">
              <a:buNone/>
            </a:pPr>
            <a:r>
              <a:rPr sz="1500">
                <a:solidFill>
                  <a:srgbClr val="334155"/>
                </a:solidFill>
              </a:rPr>
              <a:t>• Hardware constraints are often ignored until late</a:t>
            </a:r>
          </a:p>
        </p:txBody>
      </p:sp>
      <p:sp>
        <p:nvSpPr>
          <p:cNvPr id="6" name="Shape 4">
            <a:extLst xmlns:a="http://schemas.openxmlformats.org/drawingml/2006/main">
              <a:ext uri="{FF2B5EF4-FFF2-40B4-BE49-F238E27FC236}">
                <a16:creationId xmlns:a16="http://schemas.microsoft.com/office/drawing/2014/main" id="{850257D1-A7ED-4D07-9025-2EA45E057FBD}"/>
              </a:ext>
            </a:extLst>
          </p:cNvPr>
          <p:cNvSpPr>
            <a:spLocks xmlns:a="http://schemas.openxmlformats.org/drawingml/2006/main" noGrp="1"/>
          </p:cNvSpPr>
          <p:nvPr/>
        </p:nvSpPr>
        <p:spPr>
          <a:xfrm xmlns:a="http://schemas.openxmlformats.org/drawingml/2006/main">
            <a:off x="4297680" y="1417320"/>
            <a:ext cx="3611880" cy="4434840"/>
          </a:xfrm>
          <a:prstGeom xmlns:a="http://schemas.openxmlformats.org/drawingml/2006/main" prst="roundRect">
            <a:avLst>
              <a:gd name="adj" fmla="val 1519"/>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EDC8337A-7AD4-417D-B95A-1F6B37E0BCA2}"/>
              </a:ext>
            </a:extLst>
          </p:cNvPr>
          <p:cNvSpPr>
            <a:spLocks xmlns:a="http://schemas.openxmlformats.org/drawingml/2006/main" noGrp="1"/>
          </p:cNvSpPr>
          <p:nvPr/>
        </p:nvSpPr>
        <p:spPr>
          <a:xfrm xmlns:a="http://schemas.openxmlformats.org/drawingml/2006/main">
            <a:off x="4462272" y="1563624"/>
            <a:ext cx="3282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What this project builds</a:t>
            </a:r>
          </a:p>
        </p:txBody>
      </p:sp>
      <p:sp>
        <p:nvSpPr>
          <p:cNvPr id="8" name="Text 6">
            <a:extLst xmlns:a="http://schemas.openxmlformats.org/drawingml/2006/main">
              <a:ext uri="{FF2B5EF4-FFF2-40B4-BE49-F238E27FC236}">
                <a16:creationId xmlns:a16="http://schemas.microsoft.com/office/drawing/2014/main" id="{25533EEA-40C2-4071-9CD3-6572DF9CA161}"/>
              </a:ext>
            </a:extLst>
          </p:cNvPr>
          <p:cNvSpPr>
            <a:spLocks xmlns:a="http://schemas.openxmlformats.org/drawingml/2006/main" noGrp="1"/>
          </p:cNvSpPr>
          <p:nvPr/>
        </p:nvSpPr>
        <p:spPr>
          <a:xfrm xmlns:a="http://schemas.openxmlformats.org/drawingml/2006/main">
            <a:off x="4462272" y="1874520"/>
            <a:ext cx="3282696"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 Compact on-device detector/segmenter</a:t>
            </a:r>
          </a:p>
          <a:p xmlns:a="http://schemas.openxmlformats.org/drawingml/2006/main">
            <a:pPr marL="0" indent="0">
              <a:buNone/>
            </a:pPr>
            <a:r>
              <a:rPr sz="1500">
                <a:solidFill>
                  <a:srgbClr val="334155"/>
                </a:solidFill>
              </a:rPr>
              <a:t>• Candidate boxes or masks with confidence</a:t>
            </a:r>
          </a:p>
          <a:p xmlns:a="http://schemas.openxmlformats.org/drawingml/2006/main">
            <a:pPr marL="0" indent="0">
              <a:buNone/>
            </a:pPr>
            <a:r>
              <a:rPr sz="1500">
                <a:solidFill>
                  <a:srgbClr val="334155"/>
                </a:solidFill>
              </a:rPr>
              <a:t>• Review flags and runtime metadata</a:t>
            </a:r>
          </a:p>
          <a:p xmlns:a="http://schemas.openxmlformats.org/drawingml/2006/main">
            <a:pPr marL="0" indent="0">
              <a:buNone/>
            </a:pPr>
            <a:r>
              <a:rPr sz="1500">
                <a:solidFill>
                  <a:srgbClr val="334155"/>
                </a:solidFill>
              </a:rPr>
              <a:t>• Reproducible pipeline from training to deployment</a:t>
            </a:r>
          </a:p>
        </p:txBody>
      </p:sp>
      <p:sp>
        <p:nvSpPr>
          <p:cNvPr id="9" name="Shape 7">
            <a:extLst xmlns:a="http://schemas.openxmlformats.org/drawingml/2006/main">
              <a:ext uri="{FF2B5EF4-FFF2-40B4-BE49-F238E27FC236}">
                <a16:creationId xmlns:a16="http://schemas.microsoft.com/office/drawing/2014/main" id="{3DE1898C-1081-4827-860F-DC666C3F8884}"/>
              </a:ext>
            </a:extLst>
          </p:cNvPr>
          <p:cNvSpPr>
            <a:spLocks xmlns:a="http://schemas.openxmlformats.org/drawingml/2006/main" noGrp="1"/>
          </p:cNvSpPr>
          <p:nvPr/>
        </p:nvSpPr>
        <p:spPr>
          <a:xfrm xmlns:a="http://schemas.openxmlformats.org/drawingml/2006/main">
            <a:off x="7955280" y="1417320"/>
            <a:ext cx="3611880" cy="4434840"/>
          </a:xfrm>
          <a:prstGeom xmlns:a="http://schemas.openxmlformats.org/drawingml/2006/main" prst="roundRect">
            <a:avLst>
              <a:gd name="adj" fmla="val 1519"/>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725FAA07-0099-47D8-9AD0-3FF72780D6BB}"/>
              </a:ext>
            </a:extLst>
          </p:cNvPr>
          <p:cNvSpPr>
            <a:spLocks xmlns:a="http://schemas.openxmlformats.org/drawingml/2006/main" noGrp="1"/>
          </p:cNvSpPr>
          <p:nvPr/>
        </p:nvSpPr>
        <p:spPr>
          <a:xfrm xmlns:a="http://schemas.openxmlformats.org/drawingml/2006/main">
            <a:off x="8119872" y="1563624"/>
            <a:ext cx="3282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Operating principle</a:t>
            </a:r>
          </a:p>
        </p:txBody>
      </p:sp>
      <p:sp>
        <p:nvSpPr>
          <p:cNvPr id="11" name="Text 9">
            <a:extLst xmlns:a="http://schemas.openxmlformats.org/drawingml/2006/main">
              <a:ext uri="{FF2B5EF4-FFF2-40B4-BE49-F238E27FC236}">
                <a16:creationId xmlns:a16="http://schemas.microsoft.com/office/drawing/2014/main" id="{DF54CD5D-1AD5-4EEA-8435-D7F34E448C64}"/>
              </a:ext>
            </a:extLst>
          </p:cNvPr>
          <p:cNvSpPr>
            <a:spLocks xmlns:a="http://schemas.openxmlformats.org/drawingml/2006/main" noGrp="1"/>
          </p:cNvSpPr>
          <p:nvPr/>
        </p:nvSpPr>
        <p:spPr>
          <a:xfrm xmlns:a="http://schemas.openxmlformats.org/drawingml/2006/main">
            <a:off x="8119872" y="1874520"/>
            <a:ext cx="3282696"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Human-in-the-loop labeling assistant:</a:t>
            </a:r>
          </a:p>
          <a:p xmlns:a="http://schemas.openxmlformats.org/drawingml/2006/main">
            <a:pPr marL="0" indent="0">
              <a:buNone/>
            </a:pPr>
          </a:p>
          <a:p xmlns:a="http://schemas.openxmlformats.org/drawingml/2006/main">
            <a:pPr marL="0" indent="0">
              <a:buNone/>
            </a:pPr>
            <a:r>
              <a:rPr sz="1500">
                <a:solidFill>
                  <a:srgbClr val="334155"/>
                </a:solidFill>
              </a:rPr>
              <a:t>model proposes labels on edge device → reviewer accepts/edits → outputs remain traceable and versioned</a:t>
            </a:r>
          </a:p>
        </p:txBody>
      </p:sp>
    </p:spTree>
    <p:extLst>
      <p:ext uri="{BB962C8B-B14F-4D97-AF65-F5344CB8AC3E}">
        <p14:creationId xmlns:p14="http://schemas.microsoft.com/office/powerpoint/2010/main" val="9186954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86C0A5-9D99-439C-BD44-BBA6BD52E917}"/>
              </a:ext>
            </a:extLst>
          </p:cNvPr>
          <p:cNvSpPr>
            <a:spLocks xmlns:a="http://schemas.openxmlformats.org/drawingml/2006/main" noGrp="1"/>
          </p:cNvSpPr>
          <p:nvPr/>
        </p:nvSpPr>
        <p:spPr>
          <a:xfrm xmlns:a="http://schemas.openxmlformats.org/drawingml/2006/main">
            <a:off x="548640" y="502920"/>
            <a:ext cx="8046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72A"/>
                </a:solidFill>
              </a:rPr>
              <a:t>Scope, data, and success criteria</a:t>
            </a:r>
          </a:p>
        </p:txBody>
      </p:sp>
      <p:sp>
        <p:nvSpPr>
          <p:cNvPr id="3" name="Shape 1">
            <a:extLst xmlns:a="http://schemas.openxmlformats.org/drawingml/2006/main">
              <a:ext uri="{FF2B5EF4-FFF2-40B4-BE49-F238E27FC236}">
                <a16:creationId xmlns:a16="http://schemas.microsoft.com/office/drawing/2014/main" id="{B4E5A37E-178F-4F89-935F-D096077ACE15}"/>
              </a:ext>
            </a:extLst>
          </p:cNvPr>
          <p:cNvSpPr>
            <a:spLocks xmlns:a="http://schemas.openxmlformats.org/drawingml/2006/main" noGrp="1"/>
          </p:cNvSpPr>
          <p:nvPr/>
        </p:nvSpPr>
        <p:spPr>
          <a:xfrm xmlns:a="http://schemas.openxmlformats.org/drawingml/2006/main">
            <a:off x="685800" y="1417320"/>
            <a:ext cx="3474720" cy="4480560"/>
          </a:xfrm>
          <a:prstGeom xmlns:a="http://schemas.openxmlformats.org/drawingml/2006/main" prst="roundRect">
            <a:avLst>
              <a:gd name="adj" fmla="val 1579"/>
            </a:avLst>
          </a:prstGeom>
          <a:solidFill xmlns:a="http://schemas.openxmlformats.org/drawingml/2006/main">
            <a:srgbClr val="FFFF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231B377E-4C46-48B2-8082-4DF87FF3A82A}"/>
              </a:ext>
            </a:extLst>
          </p:cNvPr>
          <p:cNvSpPr>
            <a:spLocks xmlns:a="http://schemas.openxmlformats.org/drawingml/2006/main" noGrp="1"/>
          </p:cNvSpPr>
          <p:nvPr/>
        </p:nvSpPr>
        <p:spPr>
          <a:xfrm xmlns:a="http://schemas.openxmlformats.org/drawingml/2006/main">
            <a:off x="850392" y="1563624"/>
            <a:ext cx="31455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Initial scope</a:t>
            </a:r>
          </a:p>
        </p:txBody>
      </p:sp>
      <p:sp>
        <p:nvSpPr>
          <p:cNvPr id="5" name="Text 3">
            <a:extLst xmlns:a="http://schemas.openxmlformats.org/drawingml/2006/main">
              <a:ext uri="{FF2B5EF4-FFF2-40B4-BE49-F238E27FC236}">
                <a16:creationId xmlns:a16="http://schemas.microsoft.com/office/drawing/2014/main" id="{144FFE7A-7421-4C70-B398-AD6617B0E391}"/>
              </a:ext>
            </a:extLst>
          </p:cNvPr>
          <p:cNvSpPr>
            <a:spLocks xmlns:a="http://schemas.openxmlformats.org/drawingml/2006/main" noGrp="1"/>
          </p:cNvSpPr>
          <p:nvPr/>
        </p:nvSpPr>
        <p:spPr>
          <a:xfrm xmlns:a="http://schemas.openxmlformats.org/drawingml/2006/main">
            <a:off x="850392" y="1874520"/>
            <a:ext cx="314553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One representative camera/domain</a:t>
            </a:r>
          </a:p>
          <a:p xmlns:a="http://schemas.openxmlformats.org/drawingml/2006/main">
            <a:pPr marL="0" indent="0">
              <a:buNone/>
            </a:pPr>
            <a:r>
              <a:rPr sz="1500">
                <a:solidFill>
                  <a:srgbClr val="334155"/>
                </a:solidFill>
              </a:rPr>
              <a:t>2–5 high-value object classes</a:t>
            </a:r>
          </a:p>
          <a:p xmlns:a="http://schemas.openxmlformats.org/drawingml/2006/main">
            <a:pPr marL="0" indent="0">
              <a:buNone/>
            </a:pPr>
            <a:r>
              <a:rPr sz="1500">
                <a:solidFill>
                  <a:srgbClr val="334155"/>
                </a:solidFill>
              </a:rPr>
              <a:t>Pilot goal: tractable feasibility, evaluation, and edge optimization</a:t>
            </a:r>
          </a:p>
        </p:txBody>
      </p:sp>
      <p:sp>
        <p:nvSpPr>
          <p:cNvPr id="6" name="Shape 4">
            <a:extLst xmlns:a="http://schemas.openxmlformats.org/drawingml/2006/main">
              <a:ext uri="{FF2B5EF4-FFF2-40B4-BE49-F238E27FC236}">
                <a16:creationId xmlns:a16="http://schemas.microsoft.com/office/drawing/2014/main" id="{8E14B7A0-5D43-463D-9ABE-D6A4AD9C5BAC}"/>
              </a:ext>
            </a:extLst>
          </p:cNvPr>
          <p:cNvSpPr>
            <a:spLocks xmlns:a="http://schemas.openxmlformats.org/drawingml/2006/main" noGrp="1"/>
          </p:cNvSpPr>
          <p:nvPr/>
        </p:nvSpPr>
        <p:spPr>
          <a:xfrm xmlns:a="http://schemas.openxmlformats.org/drawingml/2006/main">
            <a:off x="4343400" y="1417320"/>
            <a:ext cx="3474720" cy="4480560"/>
          </a:xfrm>
          <a:prstGeom xmlns:a="http://schemas.openxmlformats.org/drawingml/2006/main" prst="roundRect">
            <a:avLst>
              <a:gd name="adj" fmla="val 1579"/>
            </a:avLst>
          </a:prstGeom>
          <a:solidFill xmlns:a="http://schemas.openxmlformats.org/drawingml/2006/main">
            <a:srgbClr val="FFFF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1D7EC107-96E6-4005-9DAE-F0439ED2B0C3}"/>
              </a:ext>
            </a:extLst>
          </p:cNvPr>
          <p:cNvSpPr>
            <a:spLocks xmlns:a="http://schemas.openxmlformats.org/drawingml/2006/main" noGrp="1"/>
          </p:cNvSpPr>
          <p:nvPr/>
        </p:nvSpPr>
        <p:spPr>
          <a:xfrm xmlns:a="http://schemas.openxmlformats.org/drawingml/2006/main">
            <a:off x="4507992" y="1563624"/>
            <a:ext cx="31455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Data assumptions</a:t>
            </a:r>
          </a:p>
        </p:txBody>
      </p:sp>
      <p:sp>
        <p:nvSpPr>
          <p:cNvPr id="8" name="Text 6">
            <a:extLst xmlns:a="http://schemas.openxmlformats.org/drawingml/2006/main">
              <a:ext uri="{FF2B5EF4-FFF2-40B4-BE49-F238E27FC236}">
                <a16:creationId xmlns:a16="http://schemas.microsoft.com/office/drawing/2014/main" id="{8B60E071-45D8-4C75-ACEE-FA6E41E43E0E}"/>
              </a:ext>
            </a:extLst>
          </p:cNvPr>
          <p:cNvSpPr>
            <a:spLocks xmlns:a="http://schemas.openxmlformats.org/drawingml/2006/main" noGrp="1"/>
          </p:cNvSpPr>
          <p:nvPr/>
        </p:nvSpPr>
        <p:spPr>
          <a:xfrm xmlns:a="http://schemas.openxmlformats.org/drawingml/2006/main">
            <a:off x="4507992" y="1874520"/>
            <a:ext cx="314553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Training/validation: ~5,000–20,000 frames</a:t>
            </a:r>
          </a:p>
          <a:p xmlns:a="http://schemas.openxmlformats.org/drawingml/2006/main">
            <a:pPr marL="0" indent="0">
              <a:buNone/>
            </a:pPr>
            <a:r>
              <a:rPr sz="1500">
                <a:solidFill>
                  <a:srgbClr val="334155"/>
                </a:solidFill>
              </a:rPr>
              <a:t>Device benchmark: ~500–2,000 frames</a:t>
            </a:r>
          </a:p>
          <a:p xmlns:a="http://schemas.openxmlformats.org/drawingml/2006/main">
            <a:pPr marL="0" indent="0">
              <a:buNone/>
            </a:pPr>
            <a:r>
              <a:rPr sz="1500">
                <a:solidFill>
                  <a:srgbClr val="334155"/>
                </a:solidFill>
              </a:rPr>
              <a:t>Variation across lighting, occlusion, distance, and sensor setup</a:t>
            </a:r>
          </a:p>
        </p:txBody>
      </p:sp>
      <p:sp>
        <p:nvSpPr>
          <p:cNvPr id="9" name="Shape 7">
            <a:extLst xmlns:a="http://schemas.openxmlformats.org/drawingml/2006/main">
              <a:ext uri="{FF2B5EF4-FFF2-40B4-BE49-F238E27FC236}">
                <a16:creationId xmlns:a16="http://schemas.microsoft.com/office/drawing/2014/main" id="{EC52E9B3-705B-426B-B7A6-E66653DB8655}"/>
              </a:ext>
            </a:extLst>
          </p:cNvPr>
          <p:cNvSpPr>
            <a:spLocks xmlns:a="http://schemas.openxmlformats.org/drawingml/2006/main" noGrp="1"/>
          </p:cNvSpPr>
          <p:nvPr/>
        </p:nvSpPr>
        <p:spPr>
          <a:xfrm xmlns:a="http://schemas.openxmlformats.org/drawingml/2006/main">
            <a:off x="8001000" y="1417320"/>
            <a:ext cx="3474720" cy="4480560"/>
          </a:xfrm>
          <a:prstGeom xmlns:a="http://schemas.openxmlformats.org/drawingml/2006/main" prst="roundRect">
            <a:avLst>
              <a:gd name="adj" fmla="val 1579"/>
            </a:avLst>
          </a:prstGeom>
          <a:solidFill xmlns:a="http://schemas.openxmlformats.org/drawingml/2006/main">
            <a:srgbClr val="FFFF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0332238E-9B48-4CAB-BADF-A2F4E9EA724F}"/>
              </a:ext>
            </a:extLst>
          </p:cNvPr>
          <p:cNvSpPr>
            <a:spLocks xmlns:a="http://schemas.openxmlformats.org/drawingml/2006/main" noGrp="1"/>
          </p:cNvSpPr>
          <p:nvPr/>
        </p:nvSpPr>
        <p:spPr>
          <a:xfrm xmlns:a="http://schemas.openxmlformats.org/drawingml/2006/main">
            <a:off x="8165592" y="1563624"/>
            <a:ext cx="31455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What success looks like</a:t>
            </a:r>
          </a:p>
        </p:txBody>
      </p:sp>
      <p:sp>
        <p:nvSpPr>
          <p:cNvPr id="11" name="Text 9">
            <a:extLst xmlns:a="http://schemas.openxmlformats.org/drawingml/2006/main">
              <a:ext uri="{FF2B5EF4-FFF2-40B4-BE49-F238E27FC236}">
                <a16:creationId xmlns:a16="http://schemas.microsoft.com/office/drawing/2014/main" id="{E36B8158-97A6-40EE-9B26-799D79E6485D}"/>
              </a:ext>
            </a:extLst>
          </p:cNvPr>
          <p:cNvSpPr>
            <a:spLocks xmlns:a="http://schemas.openxmlformats.org/drawingml/2006/main" noGrp="1"/>
          </p:cNvSpPr>
          <p:nvPr/>
        </p:nvSpPr>
        <p:spPr>
          <a:xfrm xmlns:a="http://schemas.openxmlformats.org/drawingml/2006/main">
            <a:off x="8165592" y="1874520"/>
            <a:ext cx="314553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Useful pre-label quality for human review</a:t>
            </a:r>
          </a:p>
          <a:p xmlns:a="http://schemas.openxmlformats.org/drawingml/2006/main">
            <a:pPr marL="0" indent="0">
              <a:buNone/>
            </a:pPr>
            <a:r>
              <a:rPr sz="1500">
                <a:solidFill>
                  <a:srgbClr val="334155"/>
                </a:solidFill>
              </a:rPr>
              <a:t>Device runtime within target constraints</a:t>
            </a:r>
          </a:p>
          <a:p xmlns:a="http://schemas.openxmlformats.org/drawingml/2006/main">
            <a:pPr marL="0" indent="0">
              <a:buNone/>
            </a:pPr>
            <a:r>
              <a:rPr sz="1500">
                <a:solidFill>
                  <a:srgbClr val="334155"/>
                </a:solidFill>
              </a:rPr>
              <a:t>Structured metadata for every run</a:t>
            </a:r>
          </a:p>
          <a:p xmlns:a="http://schemas.openxmlformats.org/drawingml/2006/main">
            <a:pPr marL="0" indent="0">
              <a:buNone/>
            </a:pPr>
            <a:r>
              <a:rPr sz="1500">
                <a:solidFill>
                  <a:srgbClr val="334155"/>
                </a:solidFill>
              </a:rPr>
              <a:t>Failure analysis and scenario-level reporting</a:t>
            </a:r>
          </a:p>
        </p:txBody>
      </p:sp>
    </p:spTree>
    <p:extLst>
      <p:ext uri="{BB962C8B-B14F-4D97-AF65-F5344CB8AC3E}">
        <p14:creationId xmlns:p14="http://schemas.microsoft.com/office/powerpoint/2010/main" val="16780932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4EE77A-5E22-4A7A-B0C8-86E3E55CC63A}"/>
              </a:ext>
            </a:extLst>
          </p:cNvPr>
          <p:cNvSpPr>
            <a:spLocks xmlns:a="http://schemas.openxmlformats.org/drawingml/2006/main" noGrp="1"/>
          </p:cNvSpPr>
          <p:nvPr/>
        </p:nvSpPr>
        <p:spPr>
          <a:xfrm xmlns:a="http://schemas.openxmlformats.org/drawingml/2006/main">
            <a:off x="548640" y="502920"/>
            <a:ext cx="8046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72A"/>
                </a:solidFill>
              </a:rPr>
              <a:t>End-to-end solution workflow</a:t>
            </a:r>
          </a:p>
        </p:txBody>
      </p:sp>
      <p:sp>
        <p:nvSpPr>
          <p:cNvPr id="3" name="Shape 1">
            <a:extLst xmlns:a="http://schemas.openxmlformats.org/drawingml/2006/main">
              <a:ext uri="{FF2B5EF4-FFF2-40B4-BE49-F238E27FC236}">
                <a16:creationId xmlns:a16="http://schemas.microsoft.com/office/drawing/2014/main" id="{F0D07809-6A5B-439F-B708-F8098866B117}"/>
              </a:ext>
            </a:extLst>
          </p:cNvPr>
          <p:cNvSpPr>
            <a:spLocks xmlns:a="http://schemas.openxmlformats.org/drawingml/2006/main" noGrp="1"/>
          </p:cNvSpPr>
          <p:nvPr/>
        </p:nvSpPr>
        <p:spPr>
          <a:xfrm xmlns:a="http://schemas.openxmlformats.org/drawingml/2006/main">
            <a:off x="1097280" y="3246120"/>
            <a:ext cx="9875520" cy="0"/>
          </a:xfrm>
          <a:prstGeom xmlns:a="http://schemas.openxmlformats.org/drawingml/2006/main" prst="line">
            <a:avLst/>
          </a:prstGeom>
          <a:noFill xmlns:a="http://schemas.openxmlformats.org/drawingml/2006/main"/>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38D5F2B9-5FA0-49A0-A049-BBD0A6AE5F3B}"/>
              </a:ext>
            </a:extLst>
          </p:cNvPr>
          <p:cNvSpPr>
            <a:spLocks xmlns:a="http://schemas.openxmlformats.org/drawingml/2006/main" noGrp="1"/>
          </p:cNvSpPr>
          <p:nvPr/>
        </p:nvSpPr>
        <p:spPr>
          <a:xfrm xmlns:a="http://schemas.openxmlformats.org/drawingml/2006/main">
            <a:off x="731520" y="2880360"/>
            <a:ext cx="502920" cy="502920"/>
          </a:xfrm>
          <a:prstGeom xmlns:a="http://schemas.openxmlformats.org/drawingml/2006/main" prst="ellipse">
            <a:avLst/>
          </a:prstGeom>
          <a:solidFill xmlns:a="http://schemas.openxmlformats.org/drawingml/2006/main">
            <a:srgbClr val="2563EB"/>
          </a:solidFill>
          <a:ln xmlns:a="http://schemas.openxmlformats.org/drawingml/2006/main" w="127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1FDF9B9A-D2A5-47C0-82CA-8AAEF4926B40}"/>
              </a:ext>
            </a:extLst>
          </p:cNvPr>
          <p:cNvSpPr>
            <a:spLocks xmlns:a="http://schemas.openxmlformats.org/drawingml/2006/main" noGrp="1"/>
          </p:cNvSpPr>
          <p:nvPr/>
        </p:nvSpPr>
        <p:spPr>
          <a:xfrm xmlns:a="http://schemas.openxmlformats.org/drawingml/2006/main">
            <a:off x="731520" y="2990088"/>
            <a:ext cx="50292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1</a:t>
            </a:r>
          </a:p>
        </p:txBody>
      </p:sp>
      <p:sp>
        <p:nvSpPr>
          <p:cNvPr id="6" name="Text 4">
            <a:extLst xmlns:a="http://schemas.openxmlformats.org/drawingml/2006/main">
              <a:ext uri="{FF2B5EF4-FFF2-40B4-BE49-F238E27FC236}">
                <a16:creationId xmlns:a16="http://schemas.microsoft.com/office/drawing/2014/main" id="{22FBF613-0423-4491-9A13-9E061587CCF9}"/>
              </a:ext>
            </a:extLst>
          </p:cNvPr>
          <p:cNvSpPr>
            <a:spLocks xmlns:a="http://schemas.openxmlformats.org/drawingml/2006/main" noGrp="1"/>
          </p:cNvSpPr>
          <p:nvPr/>
        </p:nvSpPr>
        <p:spPr>
          <a:xfrm xmlns:a="http://schemas.openxmlformats.org/drawingml/2006/main">
            <a:off x="566928" y="1920240"/>
            <a:ext cx="86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172A"/>
                </a:solidFill>
              </a:rPr>
              <a:t>1. Dataset selection</a:t>
            </a:r>
          </a:p>
        </p:txBody>
      </p:sp>
      <p:sp>
        <p:nvSpPr>
          <p:cNvPr id="7" name="Text 5">
            <a:extLst xmlns:a="http://schemas.openxmlformats.org/drawingml/2006/main">
              <a:ext uri="{FF2B5EF4-FFF2-40B4-BE49-F238E27FC236}">
                <a16:creationId xmlns:a16="http://schemas.microsoft.com/office/drawing/2014/main" id="{DF6AA673-00A3-4E0E-A22F-74750DA7D8D1}"/>
              </a:ext>
            </a:extLst>
          </p:cNvPr>
          <p:cNvSpPr>
            <a:spLocks xmlns:a="http://schemas.openxmlformats.org/drawingml/2006/main" noGrp="1"/>
          </p:cNvSpPr>
          <p:nvPr/>
        </p:nvSpPr>
        <p:spPr>
          <a:xfrm xmlns:a="http://schemas.openxmlformats.org/drawingml/2006/main">
            <a:off x="320040" y="3611880"/>
            <a:ext cx="1325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334155"/>
                </a:solidFill>
              </a:rPr>
              <a:t>Representative frames, labels, ontology</a:t>
            </a:r>
          </a:p>
        </p:txBody>
      </p:sp>
      <p:sp>
        <p:nvSpPr>
          <p:cNvPr id="8" name="Shape 6">
            <a:extLst xmlns:a="http://schemas.openxmlformats.org/drawingml/2006/main">
              <a:ext uri="{FF2B5EF4-FFF2-40B4-BE49-F238E27FC236}">
                <a16:creationId xmlns:a16="http://schemas.microsoft.com/office/drawing/2014/main" id="{C0A721A9-B1AA-4626-BCC9-2A4D45F04D06}"/>
              </a:ext>
            </a:extLst>
          </p:cNvPr>
          <p:cNvSpPr>
            <a:spLocks xmlns:a="http://schemas.openxmlformats.org/drawingml/2006/main" noGrp="1"/>
          </p:cNvSpPr>
          <p:nvPr/>
        </p:nvSpPr>
        <p:spPr>
          <a:xfrm xmlns:a="http://schemas.openxmlformats.org/drawingml/2006/main">
            <a:off x="2331720" y="2880360"/>
            <a:ext cx="502920" cy="502920"/>
          </a:xfrm>
          <a:prstGeom xmlns:a="http://schemas.openxmlformats.org/drawingml/2006/main" prst="ellipse">
            <a:avLst/>
          </a:prstGeom>
          <a:solidFill xmlns:a="http://schemas.openxmlformats.org/drawingml/2006/main">
            <a:srgbClr val="2563EB"/>
          </a:solidFill>
          <a:ln xmlns:a="http://schemas.openxmlformats.org/drawingml/2006/main" w="127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A8B52F53-8BCD-4CF7-ACE3-602B93B9A09C}"/>
              </a:ext>
            </a:extLst>
          </p:cNvPr>
          <p:cNvSpPr>
            <a:spLocks xmlns:a="http://schemas.openxmlformats.org/drawingml/2006/main" noGrp="1"/>
          </p:cNvSpPr>
          <p:nvPr/>
        </p:nvSpPr>
        <p:spPr>
          <a:xfrm xmlns:a="http://schemas.openxmlformats.org/drawingml/2006/main">
            <a:off x="2331720" y="2990088"/>
            <a:ext cx="50292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2</a:t>
            </a:r>
          </a:p>
        </p:txBody>
      </p:sp>
      <p:sp>
        <p:nvSpPr>
          <p:cNvPr id="10" name="Text 8">
            <a:extLst xmlns:a="http://schemas.openxmlformats.org/drawingml/2006/main">
              <a:ext uri="{FF2B5EF4-FFF2-40B4-BE49-F238E27FC236}">
                <a16:creationId xmlns:a16="http://schemas.microsoft.com/office/drawing/2014/main" id="{A2F83B4B-E6FD-4E66-89F2-E5ADDA9922C6}"/>
              </a:ext>
            </a:extLst>
          </p:cNvPr>
          <p:cNvSpPr>
            <a:spLocks xmlns:a="http://schemas.openxmlformats.org/drawingml/2006/main" noGrp="1"/>
          </p:cNvSpPr>
          <p:nvPr/>
        </p:nvSpPr>
        <p:spPr>
          <a:xfrm xmlns:a="http://schemas.openxmlformats.org/drawingml/2006/main">
            <a:off x="2167128" y="1920240"/>
            <a:ext cx="86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172A"/>
                </a:solidFill>
              </a:rPr>
              <a:t>2. Pseudo-labeling</a:t>
            </a:r>
          </a:p>
        </p:txBody>
      </p:sp>
      <p:sp>
        <p:nvSpPr>
          <p:cNvPr id="11" name="Text 9">
            <a:extLst xmlns:a="http://schemas.openxmlformats.org/drawingml/2006/main">
              <a:ext uri="{FF2B5EF4-FFF2-40B4-BE49-F238E27FC236}">
                <a16:creationId xmlns:a16="http://schemas.microsoft.com/office/drawing/2014/main" id="{2FAE8C14-B446-49B2-8E47-71909C9FCD3A}"/>
              </a:ext>
            </a:extLst>
          </p:cNvPr>
          <p:cNvSpPr>
            <a:spLocks xmlns:a="http://schemas.openxmlformats.org/drawingml/2006/main" noGrp="1"/>
          </p:cNvSpPr>
          <p:nvPr/>
        </p:nvSpPr>
        <p:spPr>
          <a:xfrm xmlns:a="http://schemas.openxmlformats.org/drawingml/2006/main">
            <a:off x="1920240" y="3611880"/>
            <a:ext cx="1325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334155"/>
                </a:solidFill>
              </a:rPr>
              <a:t>Optional teacher model + data preparation</a:t>
            </a:r>
          </a:p>
        </p:txBody>
      </p:sp>
      <p:sp>
        <p:nvSpPr>
          <p:cNvPr id="12" name="Shape 10">
            <a:extLst xmlns:a="http://schemas.openxmlformats.org/drawingml/2006/main">
              <a:ext uri="{FF2B5EF4-FFF2-40B4-BE49-F238E27FC236}">
                <a16:creationId xmlns:a16="http://schemas.microsoft.com/office/drawing/2014/main" id="{34FC685C-ABD8-4E95-92F1-68ADAB7AAA59}"/>
              </a:ext>
            </a:extLst>
          </p:cNvPr>
          <p:cNvSpPr>
            <a:spLocks xmlns:a="http://schemas.openxmlformats.org/drawingml/2006/main" noGrp="1"/>
          </p:cNvSpPr>
          <p:nvPr/>
        </p:nvSpPr>
        <p:spPr>
          <a:xfrm xmlns:a="http://schemas.openxmlformats.org/drawingml/2006/main">
            <a:off x="3931920" y="2880360"/>
            <a:ext cx="502920" cy="502920"/>
          </a:xfrm>
          <a:prstGeom xmlns:a="http://schemas.openxmlformats.org/drawingml/2006/main" prst="ellipse">
            <a:avLst/>
          </a:prstGeom>
          <a:solidFill xmlns:a="http://schemas.openxmlformats.org/drawingml/2006/main">
            <a:srgbClr val="2563EB"/>
          </a:solidFill>
          <a:ln xmlns:a="http://schemas.openxmlformats.org/drawingml/2006/main" w="127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5027FDE5-8920-451E-B070-12D3F98E1CEA}"/>
              </a:ext>
            </a:extLst>
          </p:cNvPr>
          <p:cNvSpPr>
            <a:spLocks xmlns:a="http://schemas.openxmlformats.org/drawingml/2006/main" noGrp="1"/>
          </p:cNvSpPr>
          <p:nvPr/>
        </p:nvSpPr>
        <p:spPr>
          <a:xfrm xmlns:a="http://schemas.openxmlformats.org/drawingml/2006/main">
            <a:off x="3931920" y="2990088"/>
            <a:ext cx="50292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3</a:t>
            </a:r>
          </a:p>
        </p:txBody>
      </p:sp>
      <p:sp>
        <p:nvSpPr>
          <p:cNvPr id="14" name="Text 12">
            <a:extLst xmlns:a="http://schemas.openxmlformats.org/drawingml/2006/main">
              <a:ext uri="{FF2B5EF4-FFF2-40B4-BE49-F238E27FC236}">
                <a16:creationId xmlns:a16="http://schemas.microsoft.com/office/drawing/2014/main" id="{999F8768-276B-4507-96CD-5FA7335F6622}"/>
              </a:ext>
            </a:extLst>
          </p:cNvPr>
          <p:cNvSpPr>
            <a:spLocks xmlns:a="http://schemas.openxmlformats.org/drawingml/2006/main" noGrp="1"/>
          </p:cNvSpPr>
          <p:nvPr/>
        </p:nvSpPr>
        <p:spPr>
          <a:xfrm xmlns:a="http://schemas.openxmlformats.org/drawingml/2006/main">
            <a:off x="3767328" y="1920240"/>
            <a:ext cx="86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172A"/>
                </a:solidFill>
              </a:rPr>
              <a:t>3. Fine-tuning</a:t>
            </a:r>
          </a:p>
        </p:txBody>
      </p:sp>
      <p:sp>
        <p:nvSpPr>
          <p:cNvPr id="15" name="Text 13">
            <a:extLst xmlns:a="http://schemas.openxmlformats.org/drawingml/2006/main">
              <a:ext uri="{FF2B5EF4-FFF2-40B4-BE49-F238E27FC236}">
                <a16:creationId xmlns:a16="http://schemas.microsoft.com/office/drawing/2014/main" id="{01E4D15D-52A0-4672-9E78-29F698BC3C26}"/>
              </a:ext>
            </a:extLst>
          </p:cNvPr>
          <p:cNvSpPr>
            <a:spLocks xmlns:a="http://schemas.openxmlformats.org/drawingml/2006/main" noGrp="1"/>
          </p:cNvSpPr>
          <p:nvPr/>
        </p:nvSpPr>
        <p:spPr>
          <a:xfrm xmlns:a="http://schemas.openxmlformats.org/drawingml/2006/main">
            <a:off x="3520440" y="3611880"/>
            <a:ext cx="1325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334155"/>
                </a:solidFill>
              </a:rPr>
              <a:t>Compact YOLO-style detector/segmenter</a:t>
            </a:r>
          </a:p>
        </p:txBody>
      </p:sp>
      <p:sp>
        <p:nvSpPr>
          <p:cNvPr id="16" name="Shape 14">
            <a:extLst xmlns:a="http://schemas.openxmlformats.org/drawingml/2006/main">
              <a:ext uri="{FF2B5EF4-FFF2-40B4-BE49-F238E27FC236}">
                <a16:creationId xmlns:a16="http://schemas.microsoft.com/office/drawing/2014/main" id="{7B15F101-E59C-4051-BE51-CB4C9D4EC7AB}"/>
              </a:ext>
            </a:extLst>
          </p:cNvPr>
          <p:cNvSpPr>
            <a:spLocks xmlns:a="http://schemas.openxmlformats.org/drawingml/2006/main" noGrp="1"/>
          </p:cNvSpPr>
          <p:nvPr/>
        </p:nvSpPr>
        <p:spPr>
          <a:xfrm xmlns:a="http://schemas.openxmlformats.org/drawingml/2006/main">
            <a:off x="5532120" y="2880360"/>
            <a:ext cx="502920" cy="502920"/>
          </a:xfrm>
          <a:prstGeom xmlns:a="http://schemas.openxmlformats.org/drawingml/2006/main" prst="ellipse">
            <a:avLst/>
          </a:prstGeom>
          <a:solidFill xmlns:a="http://schemas.openxmlformats.org/drawingml/2006/main">
            <a:srgbClr val="2563EB"/>
          </a:solidFill>
          <a:ln xmlns:a="http://schemas.openxmlformats.org/drawingml/2006/main" w="127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EF214046-93B2-4BC9-B298-132B04D0FF22}"/>
              </a:ext>
            </a:extLst>
          </p:cNvPr>
          <p:cNvSpPr>
            <a:spLocks xmlns:a="http://schemas.openxmlformats.org/drawingml/2006/main" noGrp="1"/>
          </p:cNvSpPr>
          <p:nvPr/>
        </p:nvSpPr>
        <p:spPr>
          <a:xfrm xmlns:a="http://schemas.openxmlformats.org/drawingml/2006/main">
            <a:off x="5532120" y="2990088"/>
            <a:ext cx="50292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4</a:t>
            </a:r>
          </a:p>
        </p:txBody>
      </p:sp>
      <p:sp>
        <p:nvSpPr>
          <p:cNvPr id="18" name="Text 16">
            <a:extLst xmlns:a="http://schemas.openxmlformats.org/drawingml/2006/main">
              <a:ext uri="{FF2B5EF4-FFF2-40B4-BE49-F238E27FC236}">
                <a16:creationId xmlns:a16="http://schemas.microsoft.com/office/drawing/2014/main" id="{F7E1207A-DA6C-4CB3-BDB4-CC8745548041}"/>
              </a:ext>
            </a:extLst>
          </p:cNvPr>
          <p:cNvSpPr>
            <a:spLocks xmlns:a="http://schemas.openxmlformats.org/drawingml/2006/main" noGrp="1"/>
          </p:cNvSpPr>
          <p:nvPr/>
        </p:nvSpPr>
        <p:spPr>
          <a:xfrm xmlns:a="http://schemas.openxmlformats.org/drawingml/2006/main">
            <a:off x="5367528" y="1920240"/>
            <a:ext cx="86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172A"/>
                </a:solidFill>
              </a:rPr>
              <a:t>4. Edge optimization</a:t>
            </a:r>
          </a:p>
        </p:txBody>
      </p:sp>
      <p:sp>
        <p:nvSpPr>
          <p:cNvPr id="19" name="Text 17">
            <a:extLst xmlns:a="http://schemas.openxmlformats.org/drawingml/2006/main">
              <a:ext uri="{FF2B5EF4-FFF2-40B4-BE49-F238E27FC236}">
                <a16:creationId xmlns:a16="http://schemas.microsoft.com/office/drawing/2014/main" id="{1FCEB027-AAAC-4ADE-B158-9EBC08B91865}"/>
              </a:ext>
            </a:extLst>
          </p:cNvPr>
          <p:cNvSpPr>
            <a:spLocks xmlns:a="http://schemas.openxmlformats.org/drawingml/2006/main" noGrp="1"/>
          </p:cNvSpPr>
          <p:nvPr/>
        </p:nvSpPr>
        <p:spPr>
          <a:xfrm xmlns:a="http://schemas.openxmlformats.org/drawingml/2006/main">
            <a:off x="5120640" y="3611880"/>
            <a:ext cx="1325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334155"/>
                </a:solidFill>
              </a:rPr>
              <a:t>ONNX + TensorRT / OpenVINO / TFLite</a:t>
            </a:r>
          </a:p>
        </p:txBody>
      </p:sp>
      <p:sp>
        <p:nvSpPr>
          <p:cNvPr id="20" name="Shape 18">
            <a:extLst xmlns:a="http://schemas.openxmlformats.org/drawingml/2006/main">
              <a:ext uri="{FF2B5EF4-FFF2-40B4-BE49-F238E27FC236}">
                <a16:creationId xmlns:a16="http://schemas.microsoft.com/office/drawing/2014/main" id="{E5F99D6B-6CB2-4615-873D-2BCB6D543907}"/>
              </a:ext>
            </a:extLst>
          </p:cNvPr>
          <p:cNvSpPr>
            <a:spLocks xmlns:a="http://schemas.openxmlformats.org/drawingml/2006/main" noGrp="1"/>
          </p:cNvSpPr>
          <p:nvPr/>
        </p:nvSpPr>
        <p:spPr>
          <a:xfrm xmlns:a="http://schemas.openxmlformats.org/drawingml/2006/main">
            <a:off x="7132320" y="2880360"/>
            <a:ext cx="502920" cy="502920"/>
          </a:xfrm>
          <a:prstGeom xmlns:a="http://schemas.openxmlformats.org/drawingml/2006/main" prst="ellipse">
            <a:avLst/>
          </a:prstGeom>
          <a:solidFill xmlns:a="http://schemas.openxmlformats.org/drawingml/2006/main">
            <a:srgbClr val="2563EB"/>
          </a:solidFill>
          <a:ln xmlns:a="http://schemas.openxmlformats.org/drawingml/2006/main" w="127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0C37CAC8-44B4-4465-9D0F-B4DD05B41C13}"/>
              </a:ext>
            </a:extLst>
          </p:cNvPr>
          <p:cNvSpPr>
            <a:spLocks xmlns:a="http://schemas.openxmlformats.org/drawingml/2006/main" noGrp="1"/>
          </p:cNvSpPr>
          <p:nvPr/>
        </p:nvSpPr>
        <p:spPr>
          <a:xfrm xmlns:a="http://schemas.openxmlformats.org/drawingml/2006/main">
            <a:off x="7132320" y="2990088"/>
            <a:ext cx="50292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5</a:t>
            </a:r>
          </a:p>
        </p:txBody>
      </p:sp>
      <p:sp>
        <p:nvSpPr>
          <p:cNvPr id="22" name="Text 20">
            <a:extLst xmlns:a="http://schemas.openxmlformats.org/drawingml/2006/main">
              <a:ext uri="{FF2B5EF4-FFF2-40B4-BE49-F238E27FC236}">
                <a16:creationId xmlns:a16="http://schemas.microsoft.com/office/drawing/2014/main" id="{4C8B7E5F-AAE3-4AEF-8101-87B866C9339C}"/>
              </a:ext>
            </a:extLst>
          </p:cNvPr>
          <p:cNvSpPr>
            <a:spLocks xmlns:a="http://schemas.openxmlformats.org/drawingml/2006/main" noGrp="1"/>
          </p:cNvSpPr>
          <p:nvPr/>
        </p:nvSpPr>
        <p:spPr>
          <a:xfrm xmlns:a="http://schemas.openxmlformats.org/drawingml/2006/main">
            <a:off x="6967728" y="1920240"/>
            <a:ext cx="86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172A"/>
                </a:solidFill>
              </a:rPr>
              <a:t>5. Device benchmark</a:t>
            </a:r>
          </a:p>
        </p:txBody>
      </p:sp>
      <p:sp>
        <p:nvSpPr>
          <p:cNvPr id="23" name="Text 21">
            <a:extLst xmlns:a="http://schemas.openxmlformats.org/drawingml/2006/main">
              <a:ext uri="{FF2B5EF4-FFF2-40B4-BE49-F238E27FC236}">
                <a16:creationId xmlns:a16="http://schemas.microsoft.com/office/drawing/2014/main" id="{1855C642-7AAE-402A-80B2-84E485A6D2B0}"/>
              </a:ext>
            </a:extLst>
          </p:cNvPr>
          <p:cNvSpPr>
            <a:spLocks xmlns:a="http://schemas.openxmlformats.org/drawingml/2006/main" noGrp="1"/>
          </p:cNvSpPr>
          <p:nvPr/>
        </p:nvSpPr>
        <p:spPr>
          <a:xfrm xmlns:a="http://schemas.openxmlformats.org/drawingml/2006/main">
            <a:off x="6720840" y="3611880"/>
            <a:ext cx="1325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334155"/>
                </a:solidFill>
              </a:rPr>
              <a:t>Latency, memory, FPS, model size</a:t>
            </a:r>
          </a:p>
        </p:txBody>
      </p:sp>
      <p:sp>
        <p:nvSpPr>
          <p:cNvPr id="24" name="Shape 22">
            <a:extLst xmlns:a="http://schemas.openxmlformats.org/drawingml/2006/main">
              <a:ext uri="{FF2B5EF4-FFF2-40B4-BE49-F238E27FC236}">
                <a16:creationId xmlns:a16="http://schemas.microsoft.com/office/drawing/2014/main" id="{BC666535-EAF8-4298-AF39-1AE137144C6D}"/>
              </a:ext>
            </a:extLst>
          </p:cNvPr>
          <p:cNvSpPr>
            <a:spLocks xmlns:a="http://schemas.openxmlformats.org/drawingml/2006/main" noGrp="1"/>
          </p:cNvSpPr>
          <p:nvPr/>
        </p:nvSpPr>
        <p:spPr>
          <a:xfrm xmlns:a="http://schemas.openxmlformats.org/drawingml/2006/main">
            <a:off x="8732520" y="2880360"/>
            <a:ext cx="502920" cy="502920"/>
          </a:xfrm>
          <a:prstGeom xmlns:a="http://schemas.openxmlformats.org/drawingml/2006/main" prst="ellipse">
            <a:avLst/>
          </a:prstGeom>
          <a:solidFill xmlns:a="http://schemas.openxmlformats.org/drawingml/2006/main">
            <a:srgbClr val="2563EB"/>
          </a:solidFill>
          <a:ln xmlns:a="http://schemas.openxmlformats.org/drawingml/2006/main" w="127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31D89450-0190-43B9-8957-916766C09982}"/>
              </a:ext>
            </a:extLst>
          </p:cNvPr>
          <p:cNvSpPr>
            <a:spLocks xmlns:a="http://schemas.openxmlformats.org/drawingml/2006/main" noGrp="1"/>
          </p:cNvSpPr>
          <p:nvPr/>
        </p:nvSpPr>
        <p:spPr>
          <a:xfrm xmlns:a="http://schemas.openxmlformats.org/drawingml/2006/main">
            <a:off x="8732520" y="2990088"/>
            <a:ext cx="50292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6</a:t>
            </a:r>
          </a:p>
        </p:txBody>
      </p:sp>
      <p:sp>
        <p:nvSpPr>
          <p:cNvPr id="26" name="Text 24">
            <a:extLst xmlns:a="http://schemas.openxmlformats.org/drawingml/2006/main">
              <a:ext uri="{FF2B5EF4-FFF2-40B4-BE49-F238E27FC236}">
                <a16:creationId xmlns:a16="http://schemas.microsoft.com/office/drawing/2014/main" id="{8CD23836-F9BE-4CE3-8A01-11BC586FE4E2}"/>
              </a:ext>
            </a:extLst>
          </p:cNvPr>
          <p:cNvSpPr>
            <a:spLocks xmlns:a="http://schemas.openxmlformats.org/drawingml/2006/main" noGrp="1"/>
          </p:cNvSpPr>
          <p:nvPr/>
        </p:nvSpPr>
        <p:spPr>
          <a:xfrm xmlns:a="http://schemas.openxmlformats.org/drawingml/2006/main">
            <a:off x="8567928" y="1920240"/>
            <a:ext cx="86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172A"/>
                </a:solidFill>
              </a:rPr>
              <a:t>6. Review integration</a:t>
            </a:r>
          </a:p>
        </p:txBody>
      </p:sp>
      <p:sp>
        <p:nvSpPr>
          <p:cNvPr id="27" name="Text 25">
            <a:extLst xmlns:a="http://schemas.openxmlformats.org/drawingml/2006/main">
              <a:ext uri="{FF2B5EF4-FFF2-40B4-BE49-F238E27FC236}">
                <a16:creationId xmlns:a16="http://schemas.microsoft.com/office/drawing/2014/main" id="{C5363379-29C8-4F63-BAFA-EB0C0EEC1CA6}"/>
              </a:ext>
            </a:extLst>
          </p:cNvPr>
          <p:cNvSpPr>
            <a:spLocks xmlns:a="http://schemas.openxmlformats.org/drawingml/2006/main" noGrp="1"/>
          </p:cNvSpPr>
          <p:nvPr/>
        </p:nvSpPr>
        <p:spPr>
          <a:xfrm xmlns:a="http://schemas.openxmlformats.org/drawingml/2006/main">
            <a:off x="8321040" y="3611880"/>
            <a:ext cx="1325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334155"/>
                </a:solidFill>
              </a:rPr>
              <a:t>FiftyOne or lightweight UI/API</a:t>
            </a:r>
          </a:p>
        </p:txBody>
      </p:sp>
      <p:sp>
        <p:nvSpPr>
          <p:cNvPr id="28" name="Shape 26">
            <a:extLst xmlns:a="http://schemas.openxmlformats.org/drawingml/2006/main">
              <a:ext uri="{FF2B5EF4-FFF2-40B4-BE49-F238E27FC236}">
                <a16:creationId xmlns:a16="http://schemas.microsoft.com/office/drawing/2014/main" id="{92E55BEE-A0E4-47C4-B729-1ADFEB5F5ECB}"/>
              </a:ext>
            </a:extLst>
          </p:cNvPr>
          <p:cNvSpPr>
            <a:spLocks xmlns:a="http://schemas.openxmlformats.org/drawingml/2006/main" noGrp="1"/>
          </p:cNvSpPr>
          <p:nvPr/>
        </p:nvSpPr>
        <p:spPr>
          <a:xfrm xmlns:a="http://schemas.openxmlformats.org/drawingml/2006/main">
            <a:off x="10332720" y="2880360"/>
            <a:ext cx="502920" cy="502920"/>
          </a:xfrm>
          <a:prstGeom xmlns:a="http://schemas.openxmlformats.org/drawingml/2006/main" prst="ellipse">
            <a:avLst/>
          </a:prstGeom>
          <a:solidFill xmlns:a="http://schemas.openxmlformats.org/drawingml/2006/main">
            <a:srgbClr val="2563EB"/>
          </a:solidFill>
          <a:ln xmlns:a="http://schemas.openxmlformats.org/drawingml/2006/main" w="127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9" name="Text 27">
            <a:extLst xmlns:a="http://schemas.openxmlformats.org/drawingml/2006/main">
              <a:ext uri="{FF2B5EF4-FFF2-40B4-BE49-F238E27FC236}">
                <a16:creationId xmlns:a16="http://schemas.microsoft.com/office/drawing/2014/main" id="{122AE61A-7EEE-4DC0-AADD-B7FD751BA176}"/>
              </a:ext>
            </a:extLst>
          </p:cNvPr>
          <p:cNvSpPr>
            <a:spLocks xmlns:a="http://schemas.openxmlformats.org/drawingml/2006/main" noGrp="1"/>
          </p:cNvSpPr>
          <p:nvPr/>
        </p:nvSpPr>
        <p:spPr>
          <a:xfrm xmlns:a="http://schemas.openxmlformats.org/drawingml/2006/main">
            <a:off x="10332720" y="2990088"/>
            <a:ext cx="50292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7</a:t>
            </a:r>
          </a:p>
        </p:txBody>
      </p:sp>
      <p:sp>
        <p:nvSpPr>
          <p:cNvPr id="30" name="Text 28">
            <a:extLst xmlns:a="http://schemas.openxmlformats.org/drawingml/2006/main">
              <a:ext uri="{FF2B5EF4-FFF2-40B4-BE49-F238E27FC236}">
                <a16:creationId xmlns:a16="http://schemas.microsoft.com/office/drawing/2014/main" id="{B7A3BB01-A8D5-4598-88B6-517E86E4C181}"/>
              </a:ext>
            </a:extLst>
          </p:cNvPr>
          <p:cNvSpPr>
            <a:spLocks xmlns:a="http://schemas.openxmlformats.org/drawingml/2006/main" noGrp="1"/>
          </p:cNvSpPr>
          <p:nvPr/>
        </p:nvSpPr>
        <p:spPr>
          <a:xfrm xmlns:a="http://schemas.openxmlformats.org/drawingml/2006/main">
            <a:off x="10168128" y="1920240"/>
            <a:ext cx="86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172A"/>
                </a:solidFill>
              </a:rPr>
              <a:t>7. Validation report</a:t>
            </a:r>
          </a:p>
        </p:txBody>
      </p:sp>
      <p:sp>
        <p:nvSpPr>
          <p:cNvPr id="31" name="Text 29">
            <a:extLst xmlns:a="http://schemas.openxmlformats.org/drawingml/2006/main">
              <a:ext uri="{FF2B5EF4-FFF2-40B4-BE49-F238E27FC236}">
                <a16:creationId xmlns:a16="http://schemas.microsoft.com/office/drawing/2014/main" id="{A57FE726-7045-4BB2-8C32-25AF4D857B11}"/>
              </a:ext>
            </a:extLst>
          </p:cNvPr>
          <p:cNvSpPr>
            <a:spLocks xmlns:a="http://schemas.openxmlformats.org/drawingml/2006/main" noGrp="1"/>
          </p:cNvSpPr>
          <p:nvPr/>
        </p:nvSpPr>
        <p:spPr>
          <a:xfrm xmlns:a="http://schemas.openxmlformats.org/drawingml/2006/main">
            <a:off x="9921240" y="3611880"/>
            <a:ext cx="1325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334155"/>
                </a:solidFill>
              </a:rPr>
              <a:t>Quality metrics, failure cases, traceability</a:t>
            </a:r>
          </a:p>
        </p:txBody>
      </p:sp>
      <p:sp>
        <p:nvSpPr>
          <p:cNvPr id="32" name="Text 30">
            <a:extLst xmlns:a="http://schemas.openxmlformats.org/drawingml/2006/main">
              <a:ext uri="{FF2B5EF4-FFF2-40B4-BE49-F238E27FC236}">
                <a16:creationId xmlns:a16="http://schemas.microsoft.com/office/drawing/2014/main" id="{3A173B89-C29B-4C2C-A727-9A4F8522D8A7}"/>
              </a:ext>
            </a:extLst>
          </p:cNvPr>
          <p:cNvSpPr>
            <a:spLocks xmlns:a="http://schemas.openxmlformats.org/drawingml/2006/main" noGrp="1"/>
          </p:cNvSpPr>
          <p:nvPr/>
        </p:nvSpPr>
        <p:spPr>
          <a:xfrm xmlns:a="http://schemas.openxmlformats.org/drawingml/2006/main">
            <a:off x="822960" y="5440680"/>
            <a:ext cx="10424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i="1">
                <a:solidFill>
                  <a:srgbClr val="64748B"/>
                </a:solidFill>
              </a:rPr>
              <a:t>Prototype deliverable: a validated labeling-assistant pipeline rather than a fully autonomous labeling system.</a:t>
            </a:r>
          </a:p>
        </p:txBody>
      </p:sp>
    </p:spTree>
    <p:extLst>
      <p:ext uri="{BB962C8B-B14F-4D97-AF65-F5344CB8AC3E}">
        <p14:creationId xmlns:p14="http://schemas.microsoft.com/office/powerpoint/2010/main" val="4819245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4A93CC-DF94-4397-B744-0BBCBA0D62D2}"/>
              </a:ext>
            </a:extLst>
          </p:cNvPr>
          <p:cNvSpPr>
            <a:spLocks xmlns:a="http://schemas.openxmlformats.org/drawingml/2006/main" noGrp="1"/>
          </p:cNvSpPr>
          <p:nvPr/>
        </p:nvSpPr>
        <p:spPr>
          <a:xfrm xmlns:a="http://schemas.openxmlformats.org/drawingml/2006/main">
            <a:off x="548640" y="502920"/>
            <a:ext cx="8046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72A"/>
                </a:solidFill>
              </a:rPr>
              <a:t>Model strategy and technical choices</a:t>
            </a:r>
          </a:p>
        </p:txBody>
      </p:sp>
      <p:sp>
        <p:nvSpPr>
          <p:cNvPr id="3" name="Shape 1">
            <a:extLst xmlns:a="http://schemas.openxmlformats.org/drawingml/2006/main">
              <a:ext uri="{FF2B5EF4-FFF2-40B4-BE49-F238E27FC236}">
                <a16:creationId xmlns:a16="http://schemas.microsoft.com/office/drawing/2014/main" id="{7F150C44-0BEF-4C6C-9FF5-4657D5ED82B5}"/>
              </a:ext>
            </a:extLst>
          </p:cNvPr>
          <p:cNvSpPr>
            <a:spLocks xmlns:a="http://schemas.openxmlformats.org/drawingml/2006/main" noGrp="1"/>
          </p:cNvSpPr>
          <p:nvPr/>
        </p:nvSpPr>
        <p:spPr>
          <a:xfrm xmlns:a="http://schemas.openxmlformats.org/drawingml/2006/main">
            <a:off x="640080" y="1371600"/>
            <a:ext cx="3657600" cy="4480560"/>
          </a:xfrm>
          <a:prstGeom xmlns:a="http://schemas.openxmlformats.org/drawingml/2006/main" prst="roundRect">
            <a:avLst>
              <a:gd name="adj" fmla="val 1500"/>
            </a:avLst>
          </a:prstGeom>
          <a:solidFill xmlns:a="http://schemas.openxmlformats.org/drawingml/2006/main">
            <a:srgbClr val="FFFF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84E62D98-F61D-4459-9728-5A41B45BC7FA}"/>
              </a:ext>
            </a:extLst>
          </p:cNvPr>
          <p:cNvSpPr>
            <a:spLocks xmlns:a="http://schemas.openxmlformats.org/drawingml/2006/main" noGrp="1"/>
          </p:cNvSpPr>
          <p:nvPr/>
        </p:nvSpPr>
        <p:spPr>
          <a:xfrm xmlns:a="http://schemas.openxmlformats.org/drawingml/2006/main">
            <a:off x="804672" y="1517904"/>
            <a:ext cx="3328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Student model on device</a:t>
            </a:r>
          </a:p>
        </p:txBody>
      </p:sp>
      <p:sp>
        <p:nvSpPr>
          <p:cNvPr id="5" name="Text 3">
            <a:extLst xmlns:a="http://schemas.openxmlformats.org/drawingml/2006/main">
              <a:ext uri="{FF2B5EF4-FFF2-40B4-BE49-F238E27FC236}">
                <a16:creationId xmlns:a16="http://schemas.microsoft.com/office/drawing/2014/main" id="{556191BD-1B7B-40E4-B8DB-7B136122F1CE}"/>
              </a:ext>
            </a:extLst>
          </p:cNvPr>
          <p:cNvSpPr>
            <a:spLocks xmlns:a="http://schemas.openxmlformats.org/drawingml/2006/main" noGrp="1"/>
          </p:cNvSpPr>
          <p:nvPr/>
        </p:nvSpPr>
        <p:spPr>
          <a:xfrm xmlns:a="http://schemas.openxmlformats.org/drawingml/2006/main">
            <a:off x="804672" y="1828800"/>
            <a:ext cx="332841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Primary candidate: compact YOLO-style detector/segmenter</a:t>
            </a:r>
          </a:p>
          <a:p xmlns:a="http://schemas.openxmlformats.org/drawingml/2006/main">
            <a:pPr marL="0" indent="0">
              <a:buNone/>
            </a:pPr>
          </a:p>
          <a:p xmlns:a="http://schemas.openxmlformats.org/drawingml/2006/main">
            <a:pPr marL="0" indent="0">
              <a:buNone/>
            </a:pPr>
            <a:r>
              <a:rPr sz="1500">
                <a:solidFill>
                  <a:srgbClr val="334155"/>
                </a:solidFill>
              </a:rPr>
              <a:t>Why: practical fine-tuning, export support, and fast edge inference for boxes and masks.</a:t>
            </a:r>
          </a:p>
        </p:txBody>
      </p:sp>
      <p:sp>
        <p:nvSpPr>
          <p:cNvPr id="6" name="Shape 4">
            <a:extLst xmlns:a="http://schemas.openxmlformats.org/drawingml/2006/main">
              <a:ext uri="{FF2B5EF4-FFF2-40B4-BE49-F238E27FC236}">
                <a16:creationId xmlns:a16="http://schemas.microsoft.com/office/drawing/2014/main" id="{AE3AF7E8-BC1D-4157-9137-B6CD146C8245}"/>
              </a:ext>
            </a:extLst>
          </p:cNvPr>
          <p:cNvSpPr>
            <a:spLocks xmlns:a="http://schemas.openxmlformats.org/drawingml/2006/main" noGrp="1"/>
          </p:cNvSpPr>
          <p:nvPr/>
        </p:nvSpPr>
        <p:spPr>
          <a:xfrm xmlns:a="http://schemas.openxmlformats.org/drawingml/2006/main">
            <a:off x="4434840" y="1371600"/>
            <a:ext cx="3474720" cy="4480560"/>
          </a:xfrm>
          <a:prstGeom xmlns:a="http://schemas.openxmlformats.org/drawingml/2006/main" prst="roundRect">
            <a:avLst>
              <a:gd name="adj" fmla="val 1579"/>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7276927C-E409-438A-AE70-93F91CF05AA2}"/>
              </a:ext>
            </a:extLst>
          </p:cNvPr>
          <p:cNvSpPr>
            <a:spLocks xmlns:a="http://schemas.openxmlformats.org/drawingml/2006/main" noGrp="1"/>
          </p:cNvSpPr>
          <p:nvPr/>
        </p:nvSpPr>
        <p:spPr>
          <a:xfrm xmlns:a="http://schemas.openxmlformats.org/drawingml/2006/main">
            <a:off x="4599432" y="1517904"/>
            <a:ext cx="31455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Optional offline teacher</a:t>
            </a:r>
          </a:p>
        </p:txBody>
      </p:sp>
      <p:sp>
        <p:nvSpPr>
          <p:cNvPr id="8" name="Text 6">
            <a:extLst xmlns:a="http://schemas.openxmlformats.org/drawingml/2006/main">
              <a:ext uri="{FF2B5EF4-FFF2-40B4-BE49-F238E27FC236}">
                <a16:creationId xmlns:a16="http://schemas.microsoft.com/office/drawing/2014/main" id="{2EF3A250-18A7-4100-9D94-36AD2F4A2EA6}"/>
              </a:ext>
            </a:extLst>
          </p:cNvPr>
          <p:cNvSpPr>
            <a:spLocks xmlns:a="http://schemas.openxmlformats.org/drawingml/2006/main" noGrp="1"/>
          </p:cNvSpPr>
          <p:nvPr/>
        </p:nvSpPr>
        <p:spPr>
          <a:xfrm xmlns:a="http://schemas.openxmlformats.org/drawingml/2006/main">
            <a:off x="4599432" y="1828800"/>
            <a:ext cx="314553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Foundation or stronger teacher models may generate pseudo-labels offline, but only the compact student runs on the target hardware.</a:t>
            </a:r>
          </a:p>
        </p:txBody>
      </p:sp>
      <p:sp>
        <p:nvSpPr>
          <p:cNvPr id="9" name="Shape 7">
            <a:extLst xmlns:a="http://schemas.openxmlformats.org/drawingml/2006/main">
              <a:ext uri="{FF2B5EF4-FFF2-40B4-BE49-F238E27FC236}">
                <a16:creationId xmlns:a16="http://schemas.microsoft.com/office/drawing/2014/main" id="{23768C0E-FAFE-4264-AEF8-8BE095D7E50F}"/>
              </a:ext>
            </a:extLst>
          </p:cNvPr>
          <p:cNvSpPr>
            <a:spLocks xmlns:a="http://schemas.openxmlformats.org/drawingml/2006/main" noGrp="1"/>
          </p:cNvSpPr>
          <p:nvPr/>
        </p:nvSpPr>
        <p:spPr>
          <a:xfrm xmlns:a="http://schemas.openxmlformats.org/drawingml/2006/main">
            <a:off x="8092440" y="1371600"/>
            <a:ext cx="3474720" cy="4480560"/>
          </a:xfrm>
          <a:prstGeom xmlns:a="http://schemas.openxmlformats.org/drawingml/2006/main" prst="roundRect">
            <a:avLst>
              <a:gd name="adj" fmla="val 1579"/>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80A491AC-15C7-456B-B7A6-8EA8BEADDE9F}"/>
              </a:ext>
            </a:extLst>
          </p:cNvPr>
          <p:cNvSpPr>
            <a:spLocks xmlns:a="http://schemas.openxmlformats.org/drawingml/2006/main" noGrp="1"/>
          </p:cNvSpPr>
          <p:nvPr/>
        </p:nvSpPr>
        <p:spPr>
          <a:xfrm xmlns:a="http://schemas.openxmlformats.org/drawingml/2006/main">
            <a:off x="8257032" y="1517904"/>
            <a:ext cx="31455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Validation metrics</a:t>
            </a:r>
          </a:p>
        </p:txBody>
      </p:sp>
      <p:sp>
        <p:nvSpPr>
          <p:cNvPr id="11" name="Text 9">
            <a:extLst xmlns:a="http://schemas.openxmlformats.org/drawingml/2006/main">
              <a:ext uri="{FF2B5EF4-FFF2-40B4-BE49-F238E27FC236}">
                <a16:creationId xmlns:a16="http://schemas.microsoft.com/office/drawing/2014/main" id="{677DBED7-78F3-4A08-A657-9CDF9A882F82}"/>
              </a:ext>
            </a:extLst>
          </p:cNvPr>
          <p:cNvSpPr>
            <a:spLocks xmlns:a="http://schemas.openxmlformats.org/drawingml/2006/main" noGrp="1"/>
          </p:cNvSpPr>
          <p:nvPr/>
        </p:nvSpPr>
        <p:spPr>
          <a:xfrm xmlns:a="http://schemas.openxmlformats.org/drawingml/2006/main">
            <a:off x="8257032" y="1828800"/>
            <a:ext cx="314553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Precision / Recall</a:t>
            </a:r>
          </a:p>
          <a:p xmlns:a="http://schemas.openxmlformats.org/drawingml/2006/main">
            <a:pPr marL="0" indent="0">
              <a:buNone/>
            </a:pPr>
            <a:r>
              <a:rPr sz="1500">
                <a:solidFill>
                  <a:srgbClr val="334155"/>
                </a:solidFill>
              </a:rPr>
              <a:t>mAP for boxes</a:t>
            </a:r>
          </a:p>
          <a:p xmlns:a="http://schemas.openxmlformats.org/drawingml/2006/main">
            <a:pPr marL="0" indent="0">
              <a:buNone/>
            </a:pPr>
            <a:r>
              <a:rPr sz="1500">
                <a:solidFill>
                  <a:srgbClr val="334155"/>
                </a:solidFill>
              </a:rPr>
              <a:t>Mask IoU for segmentation</a:t>
            </a:r>
          </a:p>
          <a:p xmlns:a="http://schemas.openxmlformats.org/drawingml/2006/main">
            <a:pPr marL="0" indent="0">
              <a:buNone/>
            </a:pPr>
            <a:r>
              <a:rPr sz="1500">
                <a:solidFill>
                  <a:srgbClr val="334155"/>
                </a:solidFill>
              </a:rPr>
              <a:t>Per-class quality</a:t>
            </a:r>
          </a:p>
          <a:p xmlns:a="http://schemas.openxmlformats.org/drawingml/2006/main">
            <a:pPr marL="0" indent="0">
              <a:buNone/>
            </a:pPr>
            <a:r>
              <a:rPr sz="1500">
                <a:solidFill>
                  <a:srgbClr val="334155"/>
                </a:solidFill>
              </a:rPr>
              <a:t>Latency, FPS, memory, model size, cold-start</a:t>
            </a:r>
          </a:p>
        </p:txBody>
      </p:sp>
    </p:spTree>
    <p:extLst>
      <p:ext uri="{BB962C8B-B14F-4D97-AF65-F5344CB8AC3E}">
        <p14:creationId xmlns:p14="http://schemas.microsoft.com/office/powerpoint/2010/main" val="6333431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AA0E63B2-A6DB-436A-96C7-332E3CD57EED}"/>
              </a:ext>
            </a:extLst>
          </p:cNvPr>
          <p:cNvSpPr>
            <a:spLocks xmlns:a="http://schemas.openxmlformats.org/drawingml/2006/main" noGrp="1"/>
          </p:cNvSpPr>
          <p:nvPr/>
        </p:nvSpPr>
        <p:spPr>
          <a:xfrm xmlns:a="http://schemas.openxmlformats.org/drawingml/2006/main">
            <a:off x="457200" y="361950"/>
            <a:ext cx="112776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F172A"/>
                </a:solidFill>
              </a:defRPr>
            </a:pPr>
            <a:r>
              <a:rPr sz="2250" b="1">
                <a:solidFill>
                  <a:srgbClr val="0F172A"/>
                </a:solidFill>
              </a:rPr>
              <a:t>Auto-labeling work completed</a:t>
            </a:r>
          </a:p>
        </p:txBody>
      </p:sp>
      <p:sp>
        <p:nvSpPr>
          <p:cNvPr id="2" name="slide-subtitle">
            <a:extLst xmlns:a="http://schemas.openxmlformats.org/drawingml/2006/main">
              <a:ext uri="{FF2B5EF4-FFF2-40B4-BE49-F238E27FC236}">
                <a16:creationId xmlns:a16="http://schemas.microsoft.com/office/drawing/2014/main" id="{633A3D98-154E-4D50-99D2-811ACE3AEA67}"/>
              </a:ext>
            </a:extLst>
          </p:cNvPr>
          <p:cNvSpPr>
            <a:spLocks xmlns:a="http://schemas.openxmlformats.org/drawingml/2006/main" noGrp="1"/>
          </p:cNvSpPr>
          <p:nvPr/>
        </p:nvSpPr>
        <p:spPr>
          <a:xfrm xmlns:a="http://schemas.openxmlformats.org/drawingml/2006/main">
            <a:off x="457200" y="800100"/>
            <a:ext cx="97536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The offline teacher path is no longer just a proposal: it now produces traceable segmentation labels, masks, overlays, and metadata from ADAS camera inputs.</a:t>
            </a:r>
          </a:p>
        </p:txBody>
      </p:sp>
      <p:sp>
        <p:nvSpPr>
          <p:cNvPr id="3" name="pipeline-card">
            <a:extLst xmlns:a="http://schemas.openxmlformats.org/drawingml/2006/main">
              <a:ext uri="{FF2B5EF4-FFF2-40B4-BE49-F238E27FC236}">
                <a16:creationId xmlns:a16="http://schemas.microsoft.com/office/drawing/2014/main" id="{4E39AF31-F896-4604-8F85-50C176A61EC9}"/>
              </a:ext>
            </a:extLst>
          </p:cNvPr>
          <p:cNvSpPr>
            <a:spLocks xmlns:a="http://schemas.openxmlformats.org/drawingml/2006/main" noGrp="1"/>
          </p:cNvSpPr>
          <p:nvPr/>
        </p:nvSpPr>
        <p:spPr>
          <a:xfrm xmlns:a="http://schemas.openxmlformats.org/drawingml/2006/main">
            <a:off x="457200" y="1375410"/>
            <a:ext cx="5810726" cy="4476750"/>
          </a:xfrm>
          <a:prstGeom xmlns:a="http://schemas.openxmlformats.org/drawingml/2006/main" prst="roundRect">
            <a:avLst>
              <a:gd name="adj" fmla="val 2128"/>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1145FB51-0616-4E12-9889-F42FBA475F0E}"/>
              </a:ext>
            </a:extLst>
          </p:cNvPr>
          <p:cNvSpPr>
            <a:spLocks xmlns:a="http://schemas.openxmlformats.org/drawingml/2006/main" noGrp="1"/>
          </p:cNvSpPr>
          <p:nvPr/>
        </p:nvSpPr>
        <p:spPr>
          <a:xfrm xmlns:a="http://schemas.openxmlformats.org/drawingml/2006/main">
            <a:off x="628650" y="1524000"/>
            <a:ext cx="54673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F172A"/>
                </a:solidFill>
              </a:defRPr>
            </a:pPr>
            <a:r>
              <a:rPr sz="1275" b="1">
                <a:solidFill>
                  <a:srgbClr val="0F172A"/>
                </a:solidFill>
              </a:rPr>
              <a:t>Implemented labeling pipeline</a:t>
            </a:r>
          </a:p>
        </p:txBody>
      </p:sp>
      <p:sp>
        <p:nvSpPr>
          <p:cNvPr id="5" name="step-1-circle">
            <a:extLst xmlns:a="http://schemas.openxmlformats.org/drawingml/2006/main">
              <a:ext uri="{FF2B5EF4-FFF2-40B4-BE49-F238E27FC236}">
                <a16:creationId xmlns:a16="http://schemas.microsoft.com/office/drawing/2014/main" id="{60A3F228-50F7-4F33-9F76-4EDA6306849E}"/>
              </a:ext>
            </a:extLst>
          </p:cNvPr>
          <p:cNvSpPr>
            <a:spLocks xmlns:a="http://schemas.openxmlformats.org/drawingml/2006/main" noGrp="1"/>
          </p:cNvSpPr>
          <p:nvPr/>
        </p:nvSpPr>
        <p:spPr>
          <a:xfrm xmlns:a="http://schemas.openxmlformats.org/drawingml/2006/main">
            <a:off x="990600" y="1943100"/>
            <a:ext cx="361950" cy="361950"/>
          </a:xfrm>
          <a:prstGeom xmlns:a="http://schemas.openxmlformats.org/drawingml/2006/main" prst="roundRect">
            <a:avLst>
              <a:gd name="adj" fmla="val 50000"/>
            </a:avLst>
          </a:prstGeom>
          <a:solidFill xmlns:a="http://schemas.openxmlformats.org/drawingml/2006/main">
            <a:srgbClr val="2563EB"/>
          </a:solidFill>
        </p:spPr>
      </p:sp>
      <p:sp>
        <p:nvSpPr>
          <p:cNvPr id="6" name="">
            <a:extLst xmlns:a="http://schemas.openxmlformats.org/drawingml/2006/main">
              <a:ext uri="{FF2B5EF4-FFF2-40B4-BE49-F238E27FC236}">
                <a16:creationId xmlns:a16="http://schemas.microsoft.com/office/drawing/2014/main" id="{290D7CA1-94D8-4F7D-81DC-53DA8C028862}"/>
              </a:ext>
            </a:extLst>
          </p:cNvPr>
          <p:cNvSpPr>
            <a:spLocks xmlns:a="http://schemas.openxmlformats.org/drawingml/2006/main" noGrp="1"/>
          </p:cNvSpPr>
          <p:nvPr/>
        </p:nvSpPr>
        <p:spPr>
          <a:xfrm xmlns:a="http://schemas.openxmlformats.org/drawingml/2006/main">
            <a:off x="1009650" y="2038350"/>
            <a:ext cx="323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7" name="">
            <a:extLst xmlns:a="http://schemas.openxmlformats.org/drawingml/2006/main">
              <a:ext uri="{FF2B5EF4-FFF2-40B4-BE49-F238E27FC236}">
                <a16:creationId xmlns:a16="http://schemas.microsoft.com/office/drawing/2014/main" id="{904AD603-79D8-496C-A946-A1D15935B8D8}"/>
              </a:ext>
            </a:extLst>
          </p:cNvPr>
          <p:cNvSpPr>
            <a:spLocks xmlns:a="http://schemas.openxmlformats.org/drawingml/2006/main" noGrp="1"/>
          </p:cNvSpPr>
          <p:nvPr/>
        </p:nvSpPr>
        <p:spPr>
          <a:xfrm xmlns:a="http://schemas.openxmlformats.org/drawingml/2006/main">
            <a:off x="628650" y="2362200"/>
            <a:ext cx="10668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172A"/>
                </a:solidFill>
              </a:defRPr>
            </a:pPr>
            <a:r>
              <a:rPr sz="900" b="1">
                <a:solidFill>
                  <a:srgbClr val="0F172A"/>
                </a:solidFill>
              </a:rPr>
              <a:t>Inputs</a:t>
            </a:r>
          </a:p>
        </p:txBody>
      </p:sp>
      <p:sp>
        <p:nvSpPr>
          <p:cNvPr id="8" name="">
            <a:extLst xmlns:a="http://schemas.openxmlformats.org/drawingml/2006/main">
              <a:ext uri="{FF2B5EF4-FFF2-40B4-BE49-F238E27FC236}">
                <a16:creationId xmlns:a16="http://schemas.microsoft.com/office/drawing/2014/main" id="{F6EFBA43-1129-4D34-B940-C9ECD8F2AB4A}"/>
              </a:ext>
            </a:extLst>
          </p:cNvPr>
          <p:cNvSpPr>
            <a:spLocks xmlns:a="http://schemas.openxmlformats.org/drawingml/2006/main" noGrp="1"/>
          </p:cNvSpPr>
          <p:nvPr/>
        </p:nvSpPr>
        <p:spPr>
          <a:xfrm xmlns:a="http://schemas.openxmlformats.org/drawingml/2006/main">
            <a:off x="628650" y="2533650"/>
            <a:ext cx="10668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690">
                <a:solidFill>
                  <a:srgbClr val="334155"/>
                </a:solidFill>
              </a:defRPr>
            </a:pPr>
            <a:r>
              <a:rPr sz="690">
                <a:solidFill>
                  <a:srgbClr val="334155"/>
                </a:solidFill>
              </a:rPr>
              <a:t>Images and front/rear vehicle video clips</a:t>
            </a:r>
          </a:p>
        </p:txBody>
      </p:sp>
      <p:sp>
        <p:nvSpPr>
          <p:cNvPr id="9" name="">
            <a:extLst xmlns:a="http://schemas.openxmlformats.org/drawingml/2006/main">
              <a:ext uri="{FF2B5EF4-FFF2-40B4-BE49-F238E27FC236}">
                <a16:creationId xmlns:a16="http://schemas.microsoft.com/office/drawing/2014/main" id="{9E8F4566-4715-4FE9-BEC6-2DA9B357717F}"/>
              </a:ext>
            </a:extLst>
          </p:cNvPr>
          <p:cNvSpPr>
            <a:spLocks xmlns:a="http://schemas.openxmlformats.org/drawingml/2006/main" noGrp="1"/>
          </p:cNvSpPr>
          <p:nvPr/>
        </p:nvSpPr>
        <p:spPr>
          <a:xfrm xmlns:a="http://schemas.openxmlformats.org/drawingml/2006/main">
            <a:off x="1790700" y="2343150"/>
            <a:ext cx="2095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prstDash val="solid"/>
          </a:ln>
        </p:spPr>
      </p:sp>
      <p:sp>
        <p:nvSpPr>
          <p:cNvPr id="10" name="step-2-circle">
            <a:extLst xmlns:a="http://schemas.openxmlformats.org/drawingml/2006/main">
              <a:ext uri="{FF2B5EF4-FFF2-40B4-BE49-F238E27FC236}">
                <a16:creationId xmlns:a16="http://schemas.microsoft.com/office/drawing/2014/main" id="{2A398B06-22BB-47DB-BC71-49C081BD25D9}"/>
              </a:ext>
            </a:extLst>
          </p:cNvPr>
          <p:cNvSpPr>
            <a:spLocks xmlns:a="http://schemas.openxmlformats.org/drawingml/2006/main" noGrp="1"/>
          </p:cNvSpPr>
          <p:nvPr/>
        </p:nvSpPr>
        <p:spPr>
          <a:xfrm xmlns:a="http://schemas.openxmlformats.org/drawingml/2006/main">
            <a:off x="2457450" y="1885950"/>
            <a:ext cx="361950" cy="361950"/>
          </a:xfrm>
          <a:prstGeom xmlns:a="http://schemas.openxmlformats.org/drawingml/2006/main" prst="roundRect">
            <a:avLst>
              <a:gd name="adj" fmla="val 50000"/>
            </a:avLst>
          </a:prstGeom>
          <a:solidFill xmlns:a="http://schemas.openxmlformats.org/drawingml/2006/main">
            <a:srgbClr val="2563EB"/>
          </a:solidFill>
        </p:spPr>
      </p:sp>
      <p:sp>
        <p:nvSpPr>
          <p:cNvPr id="11" name="">
            <a:extLst xmlns:a="http://schemas.openxmlformats.org/drawingml/2006/main">
              <a:ext uri="{FF2B5EF4-FFF2-40B4-BE49-F238E27FC236}">
                <a16:creationId xmlns:a16="http://schemas.microsoft.com/office/drawing/2014/main" id="{89F6C9B7-7DCC-48B4-893B-6EBF9C826093}"/>
              </a:ext>
            </a:extLst>
          </p:cNvPr>
          <p:cNvSpPr>
            <a:spLocks xmlns:a="http://schemas.openxmlformats.org/drawingml/2006/main" noGrp="1"/>
          </p:cNvSpPr>
          <p:nvPr/>
        </p:nvSpPr>
        <p:spPr>
          <a:xfrm xmlns:a="http://schemas.openxmlformats.org/drawingml/2006/main">
            <a:off x="2476500" y="1981200"/>
            <a:ext cx="323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2" name="">
            <a:extLst xmlns:a="http://schemas.openxmlformats.org/drawingml/2006/main">
              <a:ext uri="{FF2B5EF4-FFF2-40B4-BE49-F238E27FC236}">
                <a16:creationId xmlns:a16="http://schemas.microsoft.com/office/drawing/2014/main" id="{809D49C1-4705-4F82-BAE7-A323CD3583BC}"/>
              </a:ext>
            </a:extLst>
          </p:cNvPr>
          <p:cNvSpPr>
            <a:spLocks xmlns:a="http://schemas.openxmlformats.org/drawingml/2006/main" noGrp="1"/>
          </p:cNvSpPr>
          <p:nvPr/>
        </p:nvSpPr>
        <p:spPr>
          <a:xfrm xmlns:a="http://schemas.openxmlformats.org/drawingml/2006/main">
            <a:off x="2095500" y="2305050"/>
            <a:ext cx="10668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172A"/>
                </a:solidFill>
              </a:defRPr>
            </a:pPr>
            <a:r>
              <a:rPr sz="900" b="1">
                <a:solidFill>
                  <a:srgbClr val="0F172A"/>
                </a:solidFill>
              </a:rPr>
              <a:t>Qwen</a:t>
            </a:r>
          </a:p>
        </p:txBody>
      </p:sp>
      <p:sp>
        <p:nvSpPr>
          <p:cNvPr id="13" name="">
            <a:extLst xmlns:a="http://schemas.openxmlformats.org/drawingml/2006/main">
              <a:ext uri="{FF2B5EF4-FFF2-40B4-BE49-F238E27FC236}">
                <a16:creationId xmlns:a16="http://schemas.microsoft.com/office/drawing/2014/main" id="{06AFC13F-B0DC-42AA-B593-622039700ED0}"/>
              </a:ext>
            </a:extLst>
          </p:cNvPr>
          <p:cNvSpPr>
            <a:spLocks xmlns:a="http://schemas.openxmlformats.org/drawingml/2006/main" noGrp="1"/>
          </p:cNvSpPr>
          <p:nvPr/>
        </p:nvSpPr>
        <p:spPr>
          <a:xfrm xmlns:a="http://schemas.openxmlformats.org/drawingml/2006/main">
            <a:off x="2095500" y="2476500"/>
            <a:ext cx="10668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690">
                <a:solidFill>
                  <a:srgbClr val="334155"/>
                </a:solidFill>
              </a:defRPr>
            </a:pPr>
            <a:r>
              <a:rPr sz="690">
                <a:solidFill>
                  <a:srgbClr val="334155"/>
                </a:solidFill>
              </a:rPr>
              <a:t>Dominant object prompts from vision-language inference</a:t>
            </a:r>
          </a:p>
        </p:txBody>
      </p:sp>
      <p:sp>
        <p:nvSpPr>
          <p:cNvPr id="14" name="">
            <a:extLst xmlns:a="http://schemas.openxmlformats.org/drawingml/2006/main">
              <a:ext uri="{FF2B5EF4-FFF2-40B4-BE49-F238E27FC236}">
                <a16:creationId xmlns:a16="http://schemas.microsoft.com/office/drawing/2014/main" id="{BEA74646-50AD-46D7-B857-FCC8380B85F4}"/>
              </a:ext>
            </a:extLst>
          </p:cNvPr>
          <p:cNvSpPr>
            <a:spLocks xmlns:a="http://schemas.openxmlformats.org/drawingml/2006/main" noGrp="1"/>
          </p:cNvSpPr>
          <p:nvPr/>
        </p:nvSpPr>
        <p:spPr>
          <a:xfrm xmlns:a="http://schemas.openxmlformats.org/drawingml/2006/main">
            <a:off x="3257550" y="2343150"/>
            <a:ext cx="2095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prstDash val="solid"/>
          </a:ln>
        </p:spPr>
      </p:sp>
      <p:sp>
        <p:nvSpPr>
          <p:cNvPr id="15" name="step-3-circle">
            <a:extLst xmlns:a="http://schemas.openxmlformats.org/drawingml/2006/main">
              <a:ext uri="{FF2B5EF4-FFF2-40B4-BE49-F238E27FC236}">
                <a16:creationId xmlns:a16="http://schemas.microsoft.com/office/drawing/2014/main" id="{F3BEF7D5-71E0-469E-9AC3-46EF446B4A5A}"/>
              </a:ext>
            </a:extLst>
          </p:cNvPr>
          <p:cNvSpPr>
            <a:spLocks xmlns:a="http://schemas.openxmlformats.org/drawingml/2006/main" noGrp="1"/>
          </p:cNvSpPr>
          <p:nvPr/>
        </p:nvSpPr>
        <p:spPr>
          <a:xfrm xmlns:a="http://schemas.openxmlformats.org/drawingml/2006/main">
            <a:off x="3905250" y="1943100"/>
            <a:ext cx="361950" cy="361950"/>
          </a:xfrm>
          <a:prstGeom xmlns:a="http://schemas.openxmlformats.org/drawingml/2006/main" prst="roundRect">
            <a:avLst>
              <a:gd name="adj" fmla="val 50000"/>
            </a:avLst>
          </a:prstGeom>
          <a:solidFill xmlns:a="http://schemas.openxmlformats.org/drawingml/2006/main">
            <a:srgbClr val="2563EB"/>
          </a:solidFill>
        </p:spPr>
      </p:sp>
      <p:sp>
        <p:nvSpPr>
          <p:cNvPr id="16" name="">
            <a:extLst xmlns:a="http://schemas.openxmlformats.org/drawingml/2006/main">
              <a:ext uri="{FF2B5EF4-FFF2-40B4-BE49-F238E27FC236}">
                <a16:creationId xmlns:a16="http://schemas.microsoft.com/office/drawing/2014/main" id="{15C47807-478E-43E7-8A5E-C7AFA27089E4}"/>
              </a:ext>
            </a:extLst>
          </p:cNvPr>
          <p:cNvSpPr>
            <a:spLocks xmlns:a="http://schemas.openxmlformats.org/drawingml/2006/main" noGrp="1"/>
          </p:cNvSpPr>
          <p:nvPr/>
        </p:nvSpPr>
        <p:spPr>
          <a:xfrm xmlns:a="http://schemas.openxmlformats.org/drawingml/2006/main">
            <a:off x="3924300" y="2038350"/>
            <a:ext cx="323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7" name="">
            <a:extLst xmlns:a="http://schemas.openxmlformats.org/drawingml/2006/main">
              <a:ext uri="{FF2B5EF4-FFF2-40B4-BE49-F238E27FC236}">
                <a16:creationId xmlns:a16="http://schemas.microsoft.com/office/drawing/2014/main" id="{C946E23F-4284-429C-A26E-AA00A2933F00}"/>
              </a:ext>
            </a:extLst>
          </p:cNvPr>
          <p:cNvSpPr>
            <a:spLocks xmlns:a="http://schemas.openxmlformats.org/drawingml/2006/main" noGrp="1"/>
          </p:cNvSpPr>
          <p:nvPr/>
        </p:nvSpPr>
        <p:spPr>
          <a:xfrm xmlns:a="http://schemas.openxmlformats.org/drawingml/2006/main">
            <a:off x="3562350" y="2362200"/>
            <a:ext cx="10668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172A"/>
                </a:solidFill>
              </a:defRPr>
            </a:pPr>
            <a:r>
              <a:rPr sz="900" b="1">
                <a:solidFill>
                  <a:srgbClr val="0F172A"/>
                </a:solidFill>
              </a:rPr>
              <a:t>SAM3</a:t>
            </a:r>
          </a:p>
        </p:txBody>
      </p:sp>
      <p:sp>
        <p:nvSpPr>
          <p:cNvPr id="18" name="">
            <a:extLst xmlns:a="http://schemas.openxmlformats.org/drawingml/2006/main">
              <a:ext uri="{FF2B5EF4-FFF2-40B4-BE49-F238E27FC236}">
                <a16:creationId xmlns:a16="http://schemas.microsoft.com/office/drawing/2014/main" id="{0AAD539D-8860-4961-BEAA-6DE13B54DA18}"/>
              </a:ext>
            </a:extLst>
          </p:cNvPr>
          <p:cNvSpPr>
            <a:spLocks xmlns:a="http://schemas.openxmlformats.org/drawingml/2006/main" noGrp="1"/>
          </p:cNvSpPr>
          <p:nvPr/>
        </p:nvSpPr>
        <p:spPr>
          <a:xfrm xmlns:a="http://schemas.openxmlformats.org/drawingml/2006/main">
            <a:off x="3562350" y="2533650"/>
            <a:ext cx="10668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690">
                <a:solidFill>
                  <a:srgbClr val="334155"/>
                </a:solidFill>
              </a:defRPr>
            </a:pPr>
            <a:r>
              <a:rPr sz="690">
                <a:solidFill>
                  <a:srgbClr val="334155"/>
                </a:solidFill>
              </a:rPr>
              <a:t>Masks propagated over frames</a:t>
            </a:r>
          </a:p>
        </p:txBody>
      </p:sp>
      <p:sp>
        <p:nvSpPr>
          <p:cNvPr id="19" name="">
            <a:extLst xmlns:a="http://schemas.openxmlformats.org/drawingml/2006/main">
              <a:ext uri="{FF2B5EF4-FFF2-40B4-BE49-F238E27FC236}">
                <a16:creationId xmlns:a16="http://schemas.microsoft.com/office/drawing/2014/main" id="{2BD6636B-9D10-466F-B273-51FAC38F1436}"/>
              </a:ext>
            </a:extLst>
          </p:cNvPr>
          <p:cNvSpPr>
            <a:spLocks xmlns:a="http://schemas.openxmlformats.org/drawingml/2006/main" noGrp="1"/>
          </p:cNvSpPr>
          <p:nvPr/>
        </p:nvSpPr>
        <p:spPr>
          <a:xfrm xmlns:a="http://schemas.openxmlformats.org/drawingml/2006/main">
            <a:off x="4724400" y="2343150"/>
            <a:ext cx="2095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prstDash val="solid"/>
          </a:ln>
        </p:spPr>
      </p:sp>
      <p:sp>
        <p:nvSpPr>
          <p:cNvPr id="20" name="step-4-circle">
            <a:extLst xmlns:a="http://schemas.openxmlformats.org/drawingml/2006/main">
              <a:ext uri="{FF2B5EF4-FFF2-40B4-BE49-F238E27FC236}">
                <a16:creationId xmlns:a16="http://schemas.microsoft.com/office/drawing/2014/main" id="{E4EC21F4-F6CD-4604-ABB6-A5139CD2E42D}"/>
              </a:ext>
            </a:extLst>
          </p:cNvPr>
          <p:cNvSpPr>
            <a:spLocks xmlns:a="http://schemas.openxmlformats.org/drawingml/2006/main" noGrp="1"/>
          </p:cNvSpPr>
          <p:nvPr/>
        </p:nvSpPr>
        <p:spPr>
          <a:xfrm xmlns:a="http://schemas.openxmlformats.org/drawingml/2006/main">
            <a:off x="5372100" y="1943100"/>
            <a:ext cx="361950" cy="361950"/>
          </a:xfrm>
          <a:prstGeom xmlns:a="http://schemas.openxmlformats.org/drawingml/2006/main" prst="roundRect">
            <a:avLst>
              <a:gd name="adj" fmla="val 50000"/>
            </a:avLst>
          </a:prstGeom>
          <a:solidFill xmlns:a="http://schemas.openxmlformats.org/drawingml/2006/main">
            <a:srgbClr val="2563EB"/>
          </a:solidFill>
        </p:spPr>
      </p:sp>
      <p:sp>
        <p:nvSpPr>
          <p:cNvPr id="21" name="">
            <a:extLst xmlns:a="http://schemas.openxmlformats.org/drawingml/2006/main">
              <a:ext uri="{FF2B5EF4-FFF2-40B4-BE49-F238E27FC236}">
                <a16:creationId xmlns:a16="http://schemas.microsoft.com/office/drawing/2014/main" id="{C4838DC0-D8CF-4C47-8298-30DBF4EDC240}"/>
              </a:ext>
            </a:extLst>
          </p:cNvPr>
          <p:cNvSpPr>
            <a:spLocks xmlns:a="http://schemas.openxmlformats.org/drawingml/2006/main" noGrp="1"/>
          </p:cNvSpPr>
          <p:nvPr/>
        </p:nvSpPr>
        <p:spPr>
          <a:xfrm xmlns:a="http://schemas.openxmlformats.org/drawingml/2006/main">
            <a:off x="5391150" y="2038350"/>
            <a:ext cx="323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2" name="">
            <a:extLst xmlns:a="http://schemas.openxmlformats.org/drawingml/2006/main">
              <a:ext uri="{FF2B5EF4-FFF2-40B4-BE49-F238E27FC236}">
                <a16:creationId xmlns:a16="http://schemas.microsoft.com/office/drawing/2014/main" id="{0AB5891A-774D-4305-8500-0D0727C1A34B}"/>
              </a:ext>
            </a:extLst>
          </p:cNvPr>
          <p:cNvSpPr>
            <a:spLocks xmlns:a="http://schemas.openxmlformats.org/drawingml/2006/main" noGrp="1"/>
          </p:cNvSpPr>
          <p:nvPr/>
        </p:nvSpPr>
        <p:spPr>
          <a:xfrm xmlns:a="http://schemas.openxmlformats.org/drawingml/2006/main">
            <a:off x="5029200" y="2362200"/>
            <a:ext cx="10668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900" b="1">
                <a:solidFill>
                  <a:srgbClr val="0F172A"/>
                </a:solidFill>
              </a:defRPr>
            </a:pPr>
            <a:r>
              <a:rPr sz="900" b="1">
                <a:solidFill>
                  <a:srgbClr val="0F172A"/>
                </a:solidFill>
              </a:rPr>
              <a:t>Export</a:t>
            </a:r>
          </a:p>
        </p:txBody>
      </p:sp>
      <p:sp>
        <p:nvSpPr>
          <p:cNvPr id="23" name="">
            <a:extLst xmlns:a="http://schemas.openxmlformats.org/drawingml/2006/main">
              <a:ext uri="{FF2B5EF4-FFF2-40B4-BE49-F238E27FC236}">
                <a16:creationId xmlns:a16="http://schemas.microsoft.com/office/drawing/2014/main" id="{0A56D3CB-7B06-4FC9-9C28-40CA8424D746}"/>
              </a:ext>
            </a:extLst>
          </p:cNvPr>
          <p:cNvSpPr>
            <a:spLocks xmlns:a="http://schemas.openxmlformats.org/drawingml/2006/main" noGrp="1"/>
          </p:cNvSpPr>
          <p:nvPr/>
        </p:nvSpPr>
        <p:spPr>
          <a:xfrm xmlns:a="http://schemas.openxmlformats.org/drawingml/2006/main">
            <a:off x="5029200" y="2533650"/>
            <a:ext cx="10668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690">
                <a:solidFill>
                  <a:srgbClr val="334155"/>
                </a:solidFill>
              </a:defRPr>
            </a:pPr>
            <a:r>
              <a:rPr sz="690">
                <a:solidFill>
                  <a:srgbClr val="334155"/>
                </a:solidFill>
              </a:rPr>
              <a:t>YOLO boxes, polygons, overlays</a:t>
            </a:r>
          </a:p>
        </p:txBody>
      </p:sp>
      <p:sp>
        <p:nvSpPr>
          <p:cNvPr id="24" name="">
            <a:extLst xmlns:a="http://schemas.openxmlformats.org/drawingml/2006/main">
              <a:ext uri="{FF2B5EF4-FFF2-40B4-BE49-F238E27FC236}">
                <a16:creationId xmlns:a16="http://schemas.microsoft.com/office/drawing/2014/main" id="{7BAC20F2-0BA1-420A-A46C-4FBBA301AF49}"/>
              </a:ext>
            </a:extLst>
          </p:cNvPr>
          <p:cNvSpPr>
            <a:spLocks xmlns:a="http://schemas.openxmlformats.org/drawingml/2006/main" noGrp="1"/>
          </p:cNvSpPr>
          <p:nvPr/>
        </p:nvSpPr>
        <p:spPr>
          <a:xfrm xmlns:a="http://schemas.openxmlformats.org/drawingml/2006/main">
            <a:off x="628650" y="2971800"/>
            <a:ext cx="54673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13">
                <a:solidFill>
                  <a:srgbClr val="334155"/>
                </a:solidFill>
              </a:defRPr>
            </a:pPr>
            <a:r>
              <a:rPr sz="1013">
                <a:solidFill>
                  <a:srgbClr val="334155"/>
                </a:solidFill>
              </a:rPr>
              <a:t>Designed for human-in-the-loop labeling: the model proposes labels, and every output remains inspectable and versioned.</a:t>
            </a:r>
          </a:p>
        </p:txBody>
      </p:sp>
      <p:sp>
        <p:nvSpPr>
          <p:cNvPr id="25" name="artifacts-card">
            <a:extLst xmlns:a="http://schemas.openxmlformats.org/drawingml/2006/main">
              <a:ext uri="{FF2B5EF4-FFF2-40B4-BE49-F238E27FC236}">
                <a16:creationId xmlns:a16="http://schemas.microsoft.com/office/drawing/2014/main" id="{2F49433B-D02B-431D-B2A7-D0FE037465EF}"/>
              </a:ext>
            </a:extLst>
          </p:cNvPr>
          <p:cNvSpPr>
            <a:spLocks xmlns:a="http://schemas.openxmlformats.org/drawingml/2006/main" noGrp="1"/>
          </p:cNvSpPr>
          <p:nvPr/>
        </p:nvSpPr>
        <p:spPr>
          <a:xfrm xmlns:a="http://schemas.openxmlformats.org/drawingml/2006/main">
            <a:off x="6477476" y="1375410"/>
            <a:ext cx="5257324" cy="3847948"/>
          </a:xfrm>
          <a:prstGeom xmlns:a="http://schemas.openxmlformats.org/drawingml/2006/main" prst="roundRect">
            <a:avLst>
              <a:gd name="adj" fmla="val 2475"/>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2D9998B4-72DB-46DA-B104-9DC6B13A1D27}"/>
              </a:ext>
            </a:extLst>
          </p:cNvPr>
          <p:cNvSpPr>
            <a:spLocks xmlns:a="http://schemas.openxmlformats.org/drawingml/2006/main" noGrp="1"/>
          </p:cNvSpPr>
          <p:nvPr/>
        </p:nvSpPr>
        <p:spPr>
          <a:xfrm xmlns:a="http://schemas.openxmlformats.org/drawingml/2006/main">
            <a:off x="6648450" y="1524000"/>
            <a:ext cx="4914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F172A"/>
                </a:solidFill>
              </a:defRPr>
            </a:pPr>
            <a:r>
              <a:rPr sz="1275" b="1">
                <a:solidFill>
                  <a:srgbClr val="0F172A"/>
                </a:solidFill>
              </a:rPr>
              <a:t>Artifacts now produced</a:t>
            </a:r>
          </a:p>
        </p:txBody>
      </p:sp>
      <p:sp>
        <p:nvSpPr>
          <p:cNvPr id="27" name="dot-yolo-segmentation-labels">
            <a:extLst xmlns:a="http://schemas.openxmlformats.org/drawingml/2006/main">
              <a:ext uri="{FF2B5EF4-FFF2-40B4-BE49-F238E27FC236}">
                <a16:creationId xmlns:a16="http://schemas.microsoft.com/office/drawing/2014/main" id="{80E397A3-5863-4242-9C5B-51EE8A0CE56A}"/>
              </a:ext>
            </a:extLst>
          </p:cNvPr>
          <p:cNvSpPr>
            <a:spLocks xmlns:a="http://schemas.openxmlformats.org/drawingml/2006/main" noGrp="1"/>
          </p:cNvSpPr>
          <p:nvPr/>
        </p:nvSpPr>
        <p:spPr>
          <a:xfrm xmlns:a="http://schemas.openxmlformats.org/drawingml/2006/main">
            <a:off x="6648450" y="1828800"/>
            <a:ext cx="85725" cy="85725"/>
          </a:xfrm>
          <a:prstGeom xmlns:a="http://schemas.openxmlformats.org/drawingml/2006/main" prst="ellipse">
            <a:avLst/>
          </a:prstGeom>
          <a:solidFill xmlns:a="http://schemas.openxmlformats.org/drawingml/2006/main">
            <a:srgbClr val="2563EB"/>
          </a:solidFill>
        </p:spPr>
      </p:sp>
      <p:sp>
        <p:nvSpPr>
          <p:cNvPr id="28" name="">
            <a:extLst xmlns:a="http://schemas.openxmlformats.org/drawingml/2006/main">
              <a:ext uri="{FF2B5EF4-FFF2-40B4-BE49-F238E27FC236}">
                <a16:creationId xmlns:a16="http://schemas.microsoft.com/office/drawing/2014/main" id="{F8DB8700-7240-4053-B647-E1E4CB1AC7B6}"/>
              </a:ext>
            </a:extLst>
          </p:cNvPr>
          <p:cNvSpPr>
            <a:spLocks xmlns:a="http://schemas.openxmlformats.org/drawingml/2006/main" noGrp="1"/>
          </p:cNvSpPr>
          <p:nvPr/>
        </p:nvSpPr>
        <p:spPr>
          <a:xfrm xmlns:a="http://schemas.openxmlformats.org/drawingml/2006/main">
            <a:off x="6858000" y="1828800"/>
            <a:ext cx="470535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YOLO segmentation labels</a:t>
            </a:r>
            <a:r>
              <a:rPr sz="938">
                <a:solidFill>
                  <a:srgbClr val="334155"/>
                </a:solidFill>
              </a:rPr>
              <a:t> labels/segments/*.txt with normalized mask polygons</a:t>
            </a:r>
          </a:p>
        </p:txBody>
      </p:sp>
      <p:sp>
        <p:nvSpPr>
          <p:cNvPr id="29" name="dot-qa-visuals">
            <a:extLst xmlns:a="http://schemas.openxmlformats.org/drawingml/2006/main">
              <a:ext uri="{FF2B5EF4-FFF2-40B4-BE49-F238E27FC236}">
                <a16:creationId xmlns:a16="http://schemas.microsoft.com/office/drawing/2014/main" id="{05B6D371-ECF4-41F7-A148-DCC124722337}"/>
              </a:ext>
            </a:extLst>
          </p:cNvPr>
          <p:cNvSpPr>
            <a:spLocks xmlns:a="http://schemas.openxmlformats.org/drawingml/2006/main" noGrp="1"/>
          </p:cNvSpPr>
          <p:nvPr/>
        </p:nvSpPr>
        <p:spPr>
          <a:xfrm xmlns:a="http://schemas.openxmlformats.org/drawingml/2006/main">
            <a:off x="6648450" y="2076450"/>
            <a:ext cx="85725" cy="85725"/>
          </a:xfrm>
          <a:prstGeom xmlns:a="http://schemas.openxmlformats.org/drawingml/2006/main" prst="ellipse">
            <a:avLst/>
          </a:prstGeom>
          <a:solidFill xmlns:a="http://schemas.openxmlformats.org/drawingml/2006/main">
            <a:srgbClr val="2563EB"/>
          </a:solidFill>
        </p:spPr>
      </p:sp>
      <p:sp>
        <p:nvSpPr>
          <p:cNvPr id="30" name="">
            <a:extLst xmlns:a="http://schemas.openxmlformats.org/drawingml/2006/main">
              <a:ext uri="{FF2B5EF4-FFF2-40B4-BE49-F238E27FC236}">
                <a16:creationId xmlns:a16="http://schemas.microsoft.com/office/drawing/2014/main" id="{41283EC5-5261-4A2E-B589-ADD4C6C01F17}"/>
              </a:ext>
            </a:extLst>
          </p:cNvPr>
          <p:cNvSpPr>
            <a:spLocks xmlns:a="http://schemas.openxmlformats.org/drawingml/2006/main" noGrp="1"/>
          </p:cNvSpPr>
          <p:nvPr/>
        </p:nvSpPr>
        <p:spPr>
          <a:xfrm xmlns:a="http://schemas.openxmlformats.org/drawingml/2006/main">
            <a:off x="6858000" y="2076450"/>
            <a:ext cx="470535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QA visuals</a:t>
            </a:r>
            <a:r>
              <a:rPr sz="938">
                <a:solidFill>
                  <a:srgbClr val="334155"/>
                </a:solidFill>
              </a:rPr>
              <a:t> overlay images and preview videos for spot checks</a:t>
            </a:r>
          </a:p>
        </p:txBody>
      </p:sp>
      <p:sp>
        <p:nvSpPr>
          <p:cNvPr id="31" name="dot-run-metadata">
            <a:extLst xmlns:a="http://schemas.openxmlformats.org/drawingml/2006/main">
              <a:ext uri="{FF2B5EF4-FFF2-40B4-BE49-F238E27FC236}">
                <a16:creationId xmlns:a16="http://schemas.microsoft.com/office/drawing/2014/main" id="{9689E3A5-9FE5-4011-93A4-EE1D085D5324}"/>
              </a:ext>
            </a:extLst>
          </p:cNvPr>
          <p:cNvSpPr>
            <a:spLocks xmlns:a="http://schemas.openxmlformats.org/drawingml/2006/main" noGrp="1"/>
          </p:cNvSpPr>
          <p:nvPr/>
        </p:nvSpPr>
        <p:spPr>
          <a:xfrm xmlns:a="http://schemas.openxmlformats.org/drawingml/2006/main">
            <a:off x="6648450" y="2324100"/>
            <a:ext cx="85725" cy="85725"/>
          </a:xfrm>
          <a:prstGeom xmlns:a="http://schemas.openxmlformats.org/drawingml/2006/main" prst="ellipse">
            <a:avLst/>
          </a:prstGeom>
          <a:solidFill xmlns:a="http://schemas.openxmlformats.org/drawingml/2006/main">
            <a:srgbClr val="2563EB"/>
          </a:solidFill>
        </p:spPr>
      </p:sp>
      <p:sp>
        <p:nvSpPr>
          <p:cNvPr id="32" name="">
            <a:extLst xmlns:a="http://schemas.openxmlformats.org/drawingml/2006/main">
              <a:ext uri="{FF2B5EF4-FFF2-40B4-BE49-F238E27FC236}">
                <a16:creationId xmlns:a16="http://schemas.microsoft.com/office/drawing/2014/main" id="{6C596136-39EE-4000-BDDE-72EB7A5804BC}"/>
              </a:ext>
            </a:extLst>
          </p:cNvPr>
          <p:cNvSpPr>
            <a:spLocks xmlns:a="http://schemas.openxmlformats.org/drawingml/2006/main" noGrp="1"/>
          </p:cNvSpPr>
          <p:nvPr/>
        </p:nvSpPr>
        <p:spPr>
          <a:xfrm xmlns:a="http://schemas.openxmlformats.org/drawingml/2006/main">
            <a:off x="6858000" y="2324100"/>
            <a:ext cx="470535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Run metadata</a:t>
            </a:r>
            <a:r>
              <a:rPr sz="938">
                <a:solidFill>
                  <a:srgbClr val="334155"/>
                </a:solidFill>
              </a:rPr>
              <a:t> qwen_output.json, processing_log.json, and class mappings</a:t>
            </a:r>
          </a:p>
        </p:txBody>
      </p:sp>
      <p:sp>
        <p:nvSpPr>
          <p:cNvPr id="33" name="dot-taxonomy-tooling">
            <a:extLst xmlns:a="http://schemas.openxmlformats.org/drawingml/2006/main">
              <a:ext uri="{FF2B5EF4-FFF2-40B4-BE49-F238E27FC236}">
                <a16:creationId xmlns:a16="http://schemas.microsoft.com/office/drawing/2014/main" id="{43EBD3BB-08F3-447B-8ABC-1DE1B0377B22}"/>
              </a:ext>
            </a:extLst>
          </p:cNvPr>
          <p:cNvSpPr>
            <a:spLocks xmlns:a="http://schemas.openxmlformats.org/drawingml/2006/main" noGrp="1"/>
          </p:cNvSpPr>
          <p:nvPr/>
        </p:nvSpPr>
        <p:spPr>
          <a:xfrm xmlns:a="http://schemas.openxmlformats.org/drawingml/2006/main">
            <a:off x="6648450" y="2571750"/>
            <a:ext cx="85725" cy="85725"/>
          </a:xfrm>
          <a:prstGeom xmlns:a="http://schemas.openxmlformats.org/drawingml/2006/main" prst="ellipse">
            <a:avLst/>
          </a:prstGeom>
          <a:solidFill xmlns:a="http://schemas.openxmlformats.org/drawingml/2006/main">
            <a:srgbClr val="2563EB"/>
          </a:solidFill>
        </p:spPr>
      </p:sp>
      <p:sp>
        <p:nvSpPr>
          <p:cNvPr id="34" name="">
            <a:extLst xmlns:a="http://schemas.openxmlformats.org/drawingml/2006/main">
              <a:ext uri="{FF2B5EF4-FFF2-40B4-BE49-F238E27FC236}">
                <a16:creationId xmlns:a16="http://schemas.microsoft.com/office/drawing/2014/main" id="{2B0292F4-2171-43FB-9B1B-B0B025735990}"/>
              </a:ext>
            </a:extLst>
          </p:cNvPr>
          <p:cNvSpPr>
            <a:spLocks xmlns:a="http://schemas.openxmlformats.org/drawingml/2006/main" noGrp="1"/>
          </p:cNvSpPr>
          <p:nvPr/>
        </p:nvSpPr>
        <p:spPr>
          <a:xfrm xmlns:a="http://schemas.openxmlformats.org/drawingml/2006/main">
            <a:off x="6858000" y="2571750"/>
            <a:ext cx="470535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Taxonomy tooling</a:t>
            </a:r>
            <a:r>
              <a:rPr sz="938">
                <a:solidFill>
                  <a:srgbClr val="334155"/>
                </a:solidFill>
              </a:rPr>
              <a:t> prompt mining, aliases, and canonical class renames</a:t>
            </a:r>
          </a:p>
        </p:txBody>
      </p:sp>
      <p:sp>
        <p:nvSpPr>
          <p:cNvPr id="35" name="status-callout">
            <a:extLst xmlns:a="http://schemas.openxmlformats.org/drawingml/2006/main">
              <a:ext uri="{FF2B5EF4-FFF2-40B4-BE49-F238E27FC236}">
                <a16:creationId xmlns:a16="http://schemas.microsoft.com/office/drawing/2014/main" id="{2AA8E2FE-01B8-4906-AB8E-3E9BE9EC6BF7}"/>
              </a:ext>
            </a:extLst>
          </p:cNvPr>
          <p:cNvSpPr>
            <a:spLocks xmlns:a="http://schemas.openxmlformats.org/drawingml/2006/main" noGrp="1"/>
          </p:cNvSpPr>
          <p:nvPr/>
        </p:nvSpPr>
        <p:spPr>
          <a:xfrm xmlns:a="http://schemas.openxmlformats.org/drawingml/2006/main">
            <a:off x="6477476" y="5337658"/>
            <a:ext cx="5257324" cy="514502"/>
          </a:xfrm>
          <a:prstGeom xmlns:a="http://schemas.openxmlformats.org/drawingml/2006/main" prst="roundRect">
            <a:avLst>
              <a:gd name="adj" fmla="val 18513"/>
            </a:avLst>
          </a:prstGeom>
          <a:solidFill xmlns:a="http://schemas.openxmlformats.org/drawingml/2006/main">
            <a:srgbClr val="EFF6FF"/>
          </a:solidFill>
        </p:spPr>
      </p:sp>
      <p:sp>
        <p:nvSpPr>
          <p:cNvPr id="36" name="">
            <a:extLst xmlns:a="http://schemas.openxmlformats.org/drawingml/2006/main">
              <a:ext uri="{FF2B5EF4-FFF2-40B4-BE49-F238E27FC236}">
                <a16:creationId xmlns:a16="http://schemas.microsoft.com/office/drawing/2014/main" id="{8E46426D-29D0-423F-941E-7F6577D0EC31}"/>
              </a:ext>
            </a:extLst>
          </p:cNvPr>
          <p:cNvSpPr>
            <a:spLocks xmlns:a="http://schemas.openxmlformats.org/drawingml/2006/main" noGrp="1"/>
          </p:cNvSpPr>
          <p:nvPr/>
        </p:nvSpPr>
        <p:spPr>
          <a:xfrm xmlns:a="http://schemas.openxmlformats.org/drawingml/2006/main">
            <a:off x="6629400" y="5448300"/>
            <a:ext cx="49530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b="1">
                <a:solidFill>
                  <a:srgbClr val="1D4ED8"/>
                </a:solidFill>
              </a:defRPr>
            </a:pPr>
            <a:r>
              <a:rPr sz="938" b="1">
                <a:solidFill>
                  <a:srgbClr val="1D4ED8"/>
                </a:solidFill>
              </a:rPr>
              <a:t>Status: ready to generate pseudo-labels for curated pilot data and feed YOLO fine-tuning.</a:t>
            </a:r>
          </a:p>
        </p:txBody>
      </p:sp>
    </p:spTree>
    <p:extLst>
      <p:ext uri="{BB962C8B-B14F-4D97-AF65-F5344CB8AC3E}">
        <p14:creationId xmlns:p14="http://schemas.microsoft.com/office/powerpoint/2010/main" val="1121305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977C58B6-F175-414D-9DCE-9D8FE58D7FDF}"/>
              </a:ext>
            </a:extLst>
          </p:cNvPr>
          <p:cNvSpPr>
            <a:spLocks xmlns:a="http://schemas.openxmlformats.org/drawingml/2006/main" noGrp="1"/>
          </p:cNvSpPr>
          <p:nvPr/>
        </p:nvSpPr>
        <p:spPr>
          <a:xfrm xmlns:a="http://schemas.openxmlformats.org/drawingml/2006/main">
            <a:off x="457200" y="361950"/>
            <a:ext cx="112776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F172A"/>
                </a:solidFill>
              </a:defRPr>
            </a:pPr>
            <a:r>
              <a:rPr sz="2250" b="1">
                <a:solidFill>
                  <a:srgbClr val="0F172A"/>
                </a:solidFill>
              </a:rPr>
              <a:t>YOLO fine-tuning path is in place</a:t>
            </a:r>
          </a:p>
        </p:txBody>
      </p:sp>
      <p:sp>
        <p:nvSpPr>
          <p:cNvPr id="2" name="slide-subtitle">
            <a:extLst xmlns:a="http://schemas.openxmlformats.org/drawingml/2006/main">
              <a:ext uri="{FF2B5EF4-FFF2-40B4-BE49-F238E27FC236}">
                <a16:creationId xmlns:a16="http://schemas.microsoft.com/office/drawing/2014/main" id="{2D87132B-DEC6-401A-ACB0-F23F2AFC8CF0}"/>
              </a:ext>
            </a:extLst>
          </p:cNvPr>
          <p:cNvSpPr>
            <a:spLocks xmlns:a="http://schemas.openxmlformats.org/drawingml/2006/main" noGrp="1"/>
          </p:cNvSpPr>
          <p:nvPr/>
        </p:nvSpPr>
        <p:spPr>
          <a:xfrm xmlns:a="http://schemas.openxmlformats.org/drawingml/2006/main">
            <a:off x="457200" y="800100"/>
            <a:ext cx="94297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Auto-labels are structured to become training data for a compact student segmenter that can later be exported and benchmarked on edge hardware.</a:t>
            </a:r>
          </a:p>
        </p:txBody>
      </p:sp>
      <p:sp>
        <p:nvSpPr>
          <p:cNvPr id="3" name="dataset-build-card">
            <a:extLst xmlns:a="http://schemas.openxmlformats.org/drawingml/2006/main">
              <a:ext uri="{FF2B5EF4-FFF2-40B4-BE49-F238E27FC236}">
                <a16:creationId xmlns:a16="http://schemas.microsoft.com/office/drawing/2014/main" id="{DC3EE416-D60F-4D25-8F25-24E87D64C194}"/>
              </a:ext>
            </a:extLst>
          </p:cNvPr>
          <p:cNvSpPr>
            <a:spLocks xmlns:a="http://schemas.openxmlformats.org/drawingml/2006/main" noGrp="1"/>
          </p:cNvSpPr>
          <p:nvPr/>
        </p:nvSpPr>
        <p:spPr>
          <a:xfrm xmlns:a="http://schemas.openxmlformats.org/drawingml/2006/main">
            <a:off x="457200" y="1356360"/>
            <a:ext cx="3657600" cy="3952875"/>
          </a:xfrm>
          <a:prstGeom xmlns:a="http://schemas.openxmlformats.org/drawingml/2006/main" prst="roundRect">
            <a:avLst>
              <a:gd name="adj" fmla="val 2604"/>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AE25BF1F-3731-401E-8577-7B30EAD84BAF}"/>
              </a:ext>
            </a:extLst>
          </p:cNvPr>
          <p:cNvSpPr>
            <a:spLocks xmlns:a="http://schemas.openxmlformats.org/drawingml/2006/main" noGrp="1"/>
          </p:cNvSpPr>
          <p:nvPr/>
        </p:nvSpPr>
        <p:spPr>
          <a:xfrm xmlns:a="http://schemas.openxmlformats.org/drawingml/2006/main">
            <a:off x="628650" y="1504950"/>
            <a:ext cx="33147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F172A"/>
                </a:solidFill>
              </a:defRPr>
            </a:pPr>
            <a:r>
              <a:rPr sz="1275" b="1">
                <a:solidFill>
                  <a:srgbClr val="0F172A"/>
                </a:solidFill>
              </a:rPr>
              <a:t>1. Dataset build</a:t>
            </a:r>
          </a:p>
        </p:txBody>
      </p:sp>
      <p:sp>
        <p:nvSpPr>
          <p:cNvPr id="5" name="dot-discover-pairs">
            <a:extLst xmlns:a="http://schemas.openxmlformats.org/drawingml/2006/main">
              <a:ext uri="{FF2B5EF4-FFF2-40B4-BE49-F238E27FC236}">
                <a16:creationId xmlns:a16="http://schemas.microsoft.com/office/drawing/2014/main" id="{1E76F742-DC83-4BEC-9EBA-18863CB199F7}"/>
              </a:ext>
            </a:extLst>
          </p:cNvPr>
          <p:cNvSpPr>
            <a:spLocks xmlns:a="http://schemas.openxmlformats.org/drawingml/2006/main" noGrp="1"/>
          </p:cNvSpPr>
          <p:nvPr/>
        </p:nvSpPr>
        <p:spPr>
          <a:xfrm xmlns:a="http://schemas.openxmlformats.org/drawingml/2006/main">
            <a:off x="628650" y="1809750"/>
            <a:ext cx="85725" cy="85725"/>
          </a:xfrm>
          <a:prstGeom xmlns:a="http://schemas.openxmlformats.org/drawingml/2006/main" prst="ellipse">
            <a:avLst/>
          </a:prstGeom>
          <a:solidFill xmlns:a="http://schemas.openxmlformats.org/drawingml/2006/main">
            <a:srgbClr val="2563EB"/>
          </a:solidFill>
        </p:spPr>
      </p:sp>
      <p:sp>
        <p:nvSpPr>
          <p:cNvPr id="6" name="">
            <a:extLst xmlns:a="http://schemas.openxmlformats.org/drawingml/2006/main">
              <a:ext uri="{FF2B5EF4-FFF2-40B4-BE49-F238E27FC236}">
                <a16:creationId xmlns:a16="http://schemas.microsoft.com/office/drawing/2014/main" id="{01996280-3329-48DD-8357-F8B7F792A878}"/>
              </a:ext>
            </a:extLst>
          </p:cNvPr>
          <p:cNvSpPr>
            <a:spLocks xmlns:a="http://schemas.openxmlformats.org/drawingml/2006/main" noGrp="1"/>
          </p:cNvSpPr>
          <p:nvPr/>
        </p:nvSpPr>
        <p:spPr>
          <a:xfrm xmlns:a="http://schemas.openxmlformats.org/drawingml/2006/main">
            <a:off x="838200" y="1809750"/>
            <a:ext cx="31242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Discover pairs</a:t>
            </a:r>
            <a:r>
              <a:rPr sz="938">
                <a:solidFill>
                  <a:srgbClr val="334155"/>
                </a:solidFill>
              </a:rPr>
              <a:t> image paths from metadata plus segment label files</a:t>
            </a:r>
          </a:p>
        </p:txBody>
      </p:sp>
      <p:sp>
        <p:nvSpPr>
          <p:cNvPr id="7" name="dot-split-data">
            <a:extLst xmlns:a="http://schemas.openxmlformats.org/drawingml/2006/main">
              <a:ext uri="{FF2B5EF4-FFF2-40B4-BE49-F238E27FC236}">
                <a16:creationId xmlns:a16="http://schemas.microsoft.com/office/drawing/2014/main" id="{1ED08609-C6F4-44ED-8BE2-8599DF9A86E0}"/>
              </a:ext>
            </a:extLst>
          </p:cNvPr>
          <p:cNvSpPr>
            <a:spLocks xmlns:a="http://schemas.openxmlformats.org/drawingml/2006/main" noGrp="1"/>
          </p:cNvSpPr>
          <p:nvPr/>
        </p:nvSpPr>
        <p:spPr>
          <a:xfrm xmlns:a="http://schemas.openxmlformats.org/drawingml/2006/main">
            <a:off x="628650" y="2209800"/>
            <a:ext cx="85725" cy="85725"/>
          </a:xfrm>
          <a:prstGeom xmlns:a="http://schemas.openxmlformats.org/drawingml/2006/main" prst="ellipse">
            <a:avLst/>
          </a:prstGeom>
          <a:solidFill xmlns:a="http://schemas.openxmlformats.org/drawingml/2006/main">
            <a:srgbClr val="2563EB"/>
          </a:solidFill>
        </p:spPr>
      </p:sp>
      <p:sp>
        <p:nvSpPr>
          <p:cNvPr id="8" name="">
            <a:extLst xmlns:a="http://schemas.openxmlformats.org/drawingml/2006/main">
              <a:ext uri="{FF2B5EF4-FFF2-40B4-BE49-F238E27FC236}">
                <a16:creationId xmlns:a16="http://schemas.microsoft.com/office/drawing/2014/main" id="{BEDB2C03-DAD2-4C2E-9BC4-B8A8F011DE27}"/>
              </a:ext>
            </a:extLst>
          </p:cNvPr>
          <p:cNvSpPr>
            <a:spLocks xmlns:a="http://schemas.openxmlformats.org/drawingml/2006/main" noGrp="1"/>
          </p:cNvSpPr>
          <p:nvPr/>
        </p:nvSpPr>
        <p:spPr>
          <a:xfrm xmlns:a="http://schemas.openxmlformats.org/drawingml/2006/main">
            <a:off x="838200" y="2209800"/>
            <a:ext cx="3124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Split data</a:t>
            </a:r>
            <a:r>
              <a:rPr sz="938">
                <a:solidFill>
                  <a:srgbClr val="334155"/>
                </a:solidFill>
              </a:rPr>
              <a:t> train/validation layout with consistent stems</a:t>
            </a:r>
          </a:p>
        </p:txBody>
      </p:sp>
      <p:sp>
        <p:nvSpPr>
          <p:cNvPr id="9" name="dot-write-config">
            <a:extLst xmlns:a="http://schemas.openxmlformats.org/drawingml/2006/main">
              <a:ext uri="{FF2B5EF4-FFF2-40B4-BE49-F238E27FC236}">
                <a16:creationId xmlns:a16="http://schemas.microsoft.com/office/drawing/2014/main" id="{65721C9E-592D-44EA-A0C3-8286FF5B56EC}"/>
              </a:ext>
            </a:extLst>
          </p:cNvPr>
          <p:cNvSpPr>
            <a:spLocks xmlns:a="http://schemas.openxmlformats.org/drawingml/2006/main" noGrp="1"/>
          </p:cNvSpPr>
          <p:nvPr/>
        </p:nvSpPr>
        <p:spPr>
          <a:xfrm xmlns:a="http://schemas.openxmlformats.org/drawingml/2006/main">
            <a:off x="628650" y="2476500"/>
            <a:ext cx="85725" cy="85725"/>
          </a:xfrm>
          <a:prstGeom xmlns:a="http://schemas.openxmlformats.org/drawingml/2006/main" prst="ellipse">
            <a:avLst/>
          </a:prstGeom>
          <a:solidFill xmlns:a="http://schemas.openxmlformats.org/drawingml/2006/main">
            <a:srgbClr val="2563EB"/>
          </a:solidFill>
        </p:spPr>
      </p:sp>
      <p:sp>
        <p:nvSpPr>
          <p:cNvPr id="10" name="">
            <a:extLst xmlns:a="http://schemas.openxmlformats.org/drawingml/2006/main">
              <a:ext uri="{FF2B5EF4-FFF2-40B4-BE49-F238E27FC236}">
                <a16:creationId xmlns:a16="http://schemas.microsoft.com/office/drawing/2014/main" id="{65844863-A313-4863-830E-5F6D78A0F120}"/>
              </a:ext>
            </a:extLst>
          </p:cNvPr>
          <p:cNvSpPr>
            <a:spLocks xmlns:a="http://schemas.openxmlformats.org/drawingml/2006/main" noGrp="1"/>
          </p:cNvSpPr>
          <p:nvPr/>
        </p:nvSpPr>
        <p:spPr>
          <a:xfrm xmlns:a="http://schemas.openxmlformats.org/drawingml/2006/main">
            <a:off x="838200" y="2476500"/>
            <a:ext cx="31242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Write config</a:t>
            </a:r>
            <a:r>
              <a:rPr sz="938">
                <a:solidFill>
                  <a:srgbClr val="334155"/>
                </a:solidFill>
              </a:rPr>
              <a:t> Ultralytics data.yaml with nc and class names</a:t>
            </a:r>
          </a:p>
        </p:txBody>
      </p:sp>
      <p:sp>
        <p:nvSpPr>
          <p:cNvPr id="11" name="training-card">
            <a:extLst xmlns:a="http://schemas.openxmlformats.org/drawingml/2006/main">
              <a:ext uri="{FF2B5EF4-FFF2-40B4-BE49-F238E27FC236}">
                <a16:creationId xmlns:a16="http://schemas.microsoft.com/office/drawing/2014/main" id="{004AE570-1BF0-4163-8C61-2CCF879E5B14}"/>
              </a:ext>
            </a:extLst>
          </p:cNvPr>
          <p:cNvSpPr>
            <a:spLocks xmlns:a="http://schemas.openxmlformats.org/drawingml/2006/main" noGrp="1"/>
          </p:cNvSpPr>
          <p:nvPr/>
        </p:nvSpPr>
        <p:spPr>
          <a:xfrm xmlns:a="http://schemas.openxmlformats.org/drawingml/2006/main">
            <a:off x="4267200" y="1356360"/>
            <a:ext cx="3657600" cy="3952875"/>
          </a:xfrm>
          <a:prstGeom xmlns:a="http://schemas.openxmlformats.org/drawingml/2006/main" prst="roundRect">
            <a:avLst>
              <a:gd name="adj" fmla="val 2604"/>
            </a:avLst>
          </a:prstGeom>
          <a:solidFill xmlns:a="http://schemas.openxmlformats.org/drawingml/2006/main">
            <a:srgbClr val="F8FAFC"/>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B2A627A0-2F71-4721-8DD9-AD0CB4BD932E}"/>
              </a:ext>
            </a:extLst>
          </p:cNvPr>
          <p:cNvSpPr>
            <a:spLocks xmlns:a="http://schemas.openxmlformats.org/drawingml/2006/main" noGrp="1"/>
          </p:cNvSpPr>
          <p:nvPr/>
        </p:nvSpPr>
        <p:spPr>
          <a:xfrm xmlns:a="http://schemas.openxmlformats.org/drawingml/2006/main">
            <a:off x="4438650" y="1504950"/>
            <a:ext cx="33147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F172A"/>
                </a:solidFill>
              </a:defRPr>
            </a:pPr>
            <a:r>
              <a:rPr sz="1275" b="1">
                <a:solidFill>
                  <a:srgbClr val="0F172A"/>
                </a:solidFill>
              </a:rPr>
              <a:t>2. Fine-tune YOLO-seg</a:t>
            </a:r>
          </a:p>
        </p:txBody>
      </p:sp>
      <p:sp>
        <p:nvSpPr>
          <p:cNvPr id="13" name="dot-student-model">
            <a:extLst xmlns:a="http://schemas.openxmlformats.org/drawingml/2006/main">
              <a:ext uri="{FF2B5EF4-FFF2-40B4-BE49-F238E27FC236}">
                <a16:creationId xmlns:a16="http://schemas.microsoft.com/office/drawing/2014/main" id="{D9F9BE61-BE5A-46B3-9618-6E31DA6CB329}"/>
              </a:ext>
            </a:extLst>
          </p:cNvPr>
          <p:cNvSpPr>
            <a:spLocks xmlns:a="http://schemas.openxmlformats.org/drawingml/2006/main" noGrp="1"/>
          </p:cNvSpPr>
          <p:nvPr/>
        </p:nvSpPr>
        <p:spPr>
          <a:xfrm xmlns:a="http://schemas.openxmlformats.org/drawingml/2006/main">
            <a:off x="4438650" y="1809750"/>
            <a:ext cx="85725" cy="85725"/>
          </a:xfrm>
          <a:prstGeom xmlns:a="http://schemas.openxmlformats.org/drawingml/2006/main" prst="ellipse">
            <a:avLst/>
          </a:prstGeom>
          <a:solidFill xmlns:a="http://schemas.openxmlformats.org/drawingml/2006/main">
            <a:srgbClr val="2563EB"/>
          </a:solidFill>
        </p:spPr>
      </p:sp>
      <p:sp>
        <p:nvSpPr>
          <p:cNvPr id="14" name="">
            <a:extLst xmlns:a="http://schemas.openxmlformats.org/drawingml/2006/main">
              <a:ext uri="{FF2B5EF4-FFF2-40B4-BE49-F238E27FC236}">
                <a16:creationId xmlns:a16="http://schemas.microsoft.com/office/drawing/2014/main" id="{FAC1E5E8-AB65-4BC8-8C4E-B8030AC905AB}"/>
              </a:ext>
            </a:extLst>
          </p:cNvPr>
          <p:cNvSpPr>
            <a:spLocks xmlns:a="http://schemas.openxmlformats.org/drawingml/2006/main" noGrp="1"/>
          </p:cNvSpPr>
          <p:nvPr/>
        </p:nvSpPr>
        <p:spPr>
          <a:xfrm xmlns:a="http://schemas.openxmlformats.org/drawingml/2006/main">
            <a:off x="4648200" y="1809750"/>
            <a:ext cx="31242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Student model</a:t>
            </a:r>
            <a:r>
              <a:rPr sz="938">
                <a:solidFill>
                  <a:srgbClr val="334155"/>
                </a:solidFill>
              </a:rPr>
              <a:t> nano/small YOLO segmentation candidate</a:t>
            </a:r>
          </a:p>
        </p:txBody>
      </p:sp>
      <p:sp>
        <p:nvSpPr>
          <p:cNvPr id="15" name="dot-train-loop">
            <a:extLst xmlns:a="http://schemas.openxmlformats.org/drawingml/2006/main">
              <a:ext uri="{FF2B5EF4-FFF2-40B4-BE49-F238E27FC236}">
                <a16:creationId xmlns:a16="http://schemas.microsoft.com/office/drawing/2014/main" id="{35E095F3-7F99-4F78-A72E-FE530B78F6D0}"/>
              </a:ext>
            </a:extLst>
          </p:cNvPr>
          <p:cNvSpPr>
            <a:spLocks xmlns:a="http://schemas.openxmlformats.org/drawingml/2006/main" noGrp="1"/>
          </p:cNvSpPr>
          <p:nvPr/>
        </p:nvSpPr>
        <p:spPr>
          <a:xfrm xmlns:a="http://schemas.openxmlformats.org/drawingml/2006/main">
            <a:off x="4438650" y="2209800"/>
            <a:ext cx="85725" cy="85725"/>
          </a:xfrm>
          <a:prstGeom xmlns:a="http://schemas.openxmlformats.org/drawingml/2006/main" prst="ellipse">
            <a:avLst/>
          </a:prstGeom>
          <a:solidFill xmlns:a="http://schemas.openxmlformats.org/drawingml/2006/main">
            <a:srgbClr val="2563EB"/>
          </a:solidFill>
        </p:spPr>
      </p:sp>
      <p:sp>
        <p:nvSpPr>
          <p:cNvPr id="16" name="">
            <a:extLst xmlns:a="http://schemas.openxmlformats.org/drawingml/2006/main">
              <a:ext uri="{FF2B5EF4-FFF2-40B4-BE49-F238E27FC236}">
                <a16:creationId xmlns:a16="http://schemas.microsoft.com/office/drawing/2014/main" id="{1512E546-2EDB-4230-B855-68E924EEBD04}"/>
              </a:ext>
            </a:extLst>
          </p:cNvPr>
          <p:cNvSpPr>
            <a:spLocks xmlns:a="http://schemas.openxmlformats.org/drawingml/2006/main" noGrp="1"/>
          </p:cNvSpPr>
          <p:nvPr/>
        </p:nvSpPr>
        <p:spPr>
          <a:xfrm xmlns:a="http://schemas.openxmlformats.org/drawingml/2006/main">
            <a:off x="4648200" y="2209800"/>
            <a:ext cx="31242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Train loop</a:t>
            </a:r>
            <a:r>
              <a:rPr sz="938">
                <a:solidFill>
                  <a:srgbClr val="334155"/>
                </a:solidFill>
              </a:rPr>
              <a:t> Ultralytics yolo segment train from generated labels</a:t>
            </a:r>
          </a:p>
        </p:txBody>
      </p:sp>
      <p:sp>
        <p:nvSpPr>
          <p:cNvPr id="17" name="dot-device-aware">
            <a:extLst xmlns:a="http://schemas.openxmlformats.org/drawingml/2006/main">
              <a:ext uri="{FF2B5EF4-FFF2-40B4-BE49-F238E27FC236}">
                <a16:creationId xmlns:a16="http://schemas.microsoft.com/office/drawing/2014/main" id="{E87B96B7-A65C-4C6F-AB72-1F79E364BC2A}"/>
              </a:ext>
            </a:extLst>
          </p:cNvPr>
          <p:cNvSpPr>
            <a:spLocks xmlns:a="http://schemas.openxmlformats.org/drawingml/2006/main" noGrp="1"/>
          </p:cNvSpPr>
          <p:nvPr/>
        </p:nvSpPr>
        <p:spPr>
          <a:xfrm xmlns:a="http://schemas.openxmlformats.org/drawingml/2006/main">
            <a:off x="4438650" y="2609850"/>
            <a:ext cx="85725" cy="85725"/>
          </a:xfrm>
          <a:prstGeom xmlns:a="http://schemas.openxmlformats.org/drawingml/2006/main" prst="ellipse">
            <a:avLst/>
          </a:prstGeom>
          <a:solidFill xmlns:a="http://schemas.openxmlformats.org/drawingml/2006/main">
            <a:srgbClr val="2563EB"/>
          </a:solidFill>
        </p:spPr>
      </p:sp>
      <p:sp>
        <p:nvSpPr>
          <p:cNvPr id="18" name="">
            <a:extLst xmlns:a="http://schemas.openxmlformats.org/drawingml/2006/main">
              <a:ext uri="{FF2B5EF4-FFF2-40B4-BE49-F238E27FC236}">
                <a16:creationId xmlns:a16="http://schemas.microsoft.com/office/drawing/2014/main" id="{542F1CE9-4462-45DA-83EC-04A659E94B53}"/>
              </a:ext>
            </a:extLst>
          </p:cNvPr>
          <p:cNvSpPr>
            <a:spLocks xmlns:a="http://schemas.openxmlformats.org/drawingml/2006/main" noGrp="1"/>
          </p:cNvSpPr>
          <p:nvPr/>
        </p:nvSpPr>
        <p:spPr>
          <a:xfrm xmlns:a="http://schemas.openxmlformats.org/drawingml/2006/main">
            <a:off x="4648200" y="2609850"/>
            <a:ext cx="31242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Device-aware</a:t>
            </a:r>
            <a:r>
              <a:rPr sz="938">
                <a:solidFill>
                  <a:srgbClr val="334155"/>
                </a:solidFill>
              </a:rPr>
              <a:t> CPU/CUDA/MPS selection and export-ready weights</a:t>
            </a:r>
          </a:p>
        </p:txBody>
      </p:sp>
      <p:sp>
        <p:nvSpPr>
          <p:cNvPr id="19" name="validation-card">
            <a:extLst xmlns:a="http://schemas.openxmlformats.org/drawingml/2006/main">
              <a:ext uri="{FF2B5EF4-FFF2-40B4-BE49-F238E27FC236}">
                <a16:creationId xmlns:a16="http://schemas.microsoft.com/office/drawing/2014/main" id="{6E87D5DC-AF54-49CB-A898-D005ADB44239}"/>
              </a:ext>
            </a:extLst>
          </p:cNvPr>
          <p:cNvSpPr>
            <a:spLocks xmlns:a="http://schemas.openxmlformats.org/drawingml/2006/main" noGrp="1"/>
          </p:cNvSpPr>
          <p:nvPr/>
        </p:nvSpPr>
        <p:spPr>
          <a:xfrm xmlns:a="http://schemas.openxmlformats.org/drawingml/2006/main">
            <a:off x="8077200" y="1356360"/>
            <a:ext cx="3657600" cy="3952875"/>
          </a:xfrm>
          <a:prstGeom xmlns:a="http://schemas.openxmlformats.org/drawingml/2006/main" prst="roundRect">
            <a:avLst>
              <a:gd name="adj" fmla="val 2604"/>
            </a:avLst>
          </a:prstGeom>
          <a:solidFill xmlns:a="http://schemas.openxmlformats.org/drawingml/2006/main">
            <a:srgbClr val="F8FAFC"/>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09ACA085-261A-41CD-9DBC-12FD96F714D5}"/>
              </a:ext>
            </a:extLst>
          </p:cNvPr>
          <p:cNvSpPr>
            <a:spLocks xmlns:a="http://schemas.openxmlformats.org/drawingml/2006/main" noGrp="1"/>
          </p:cNvSpPr>
          <p:nvPr/>
        </p:nvSpPr>
        <p:spPr>
          <a:xfrm xmlns:a="http://schemas.openxmlformats.org/drawingml/2006/main">
            <a:off x="8248650" y="1504950"/>
            <a:ext cx="33147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F172A"/>
                </a:solidFill>
              </a:defRPr>
            </a:pPr>
            <a:r>
              <a:rPr sz="1275" b="1">
                <a:solidFill>
                  <a:srgbClr val="0F172A"/>
                </a:solidFill>
              </a:rPr>
              <a:t>3. Validate and iterate</a:t>
            </a:r>
          </a:p>
        </p:txBody>
      </p:sp>
      <p:sp>
        <p:nvSpPr>
          <p:cNvPr id="21" name="dot-quality-gates">
            <a:extLst xmlns:a="http://schemas.openxmlformats.org/drawingml/2006/main">
              <a:ext uri="{FF2B5EF4-FFF2-40B4-BE49-F238E27FC236}">
                <a16:creationId xmlns:a16="http://schemas.microsoft.com/office/drawing/2014/main" id="{F11BF209-9A6E-417F-8F54-A3E46FADC89E}"/>
              </a:ext>
            </a:extLst>
          </p:cNvPr>
          <p:cNvSpPr>
            <a:spLocks xmlns:a="http://schemas.openxmlformats.org/drawingml/2006/main" noGrp="1"/>
          </p:cNvSpPr>
          <p:nvPr/>
        </p:nvSpPr>
        <p:spPr>
          <a:xfrm xmlns:a="http://schemas.openxmlformats.org/drawingml/2006/main">
            <a:off x="8248650" y="1809750"/>
            <a:ext cx="85725" cy="85725"/>
          </a:xfrm>
          <a:prstGeom xmlns:a="http://schemas.openxmlformats.org/drawingml/2006/main" prst="ellipse">
            <a:avLst/>
          </a:prstGeom>
          <a:solidFill xmlns:a="http://schemas.openxmlformats.org/drawingml/2006/main">
            <a:srgbClr val="2563EB"/>
          </a:solidFill>
        </p:spPr>
      </p:sp>
      <p:sp>
        <p:nvSpPr>
          <p:cNvPr id="22" name="">
            <a:extLst xmlns:a="http://schemas.openxmlformats.org/drawingml/2006/main">
              <a:ext uri="{FF2B5EF4-FFF2-40B4-BE49-F238E27FC236}">
                <a16:creationId xmlns:a16="http://schemas.microsoft.com/office/drawing/2014/main" id="{67994CF5-C928-4B51-8B3D-F513D823FAA6}"/>
              </a:ext>
            </a:extLst>
          </p:cNvPr>
          <p:cNvSpPr>
            <a:spLocks xmlns:a="http://schemas.openxmlformats.org/drawingml/2006/main" noGrp="1"/>
          </p:cNvSpPr>
          <p:nvPr/>
        </p:nvSpPr>
        <p:spPr>
          <a:xfrm xmlns:a="http://schemas.openxmlformats.org/drawingml/2006/main">
            <a:off x="8458200" y="1809750"/>
            <a:ext cx="3124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Quality gates</a:t>
            </a:r>
            <a:r>
              <a:rPr sz="938">
                <a:solidFill>
                  <a:srgbClr val="334155"/>
                </a:solidFill>
              </a:rPr>
              <a:t> mAP, mask IoU, per-class precision/recall</a:t>
            </a:r>
          </a:p>
        </p:txBody>
      </p:sp>
      <p:sp>
        <p:nvSpPr>
          <p:cNvPr id="23" name="dot-failure-review">
            <a:extLst xmlns:a="http://schemas.openxmlformats.org/drawingml/2006/main">
              <a:ext uri="{FF2B5EF4-FFF2-40B4-BE49-F238E27FC236}">
                <a16:creationId xmlns:a16="http://schemas.microsoft.com/office/drawing/2014/main" id="{20C0433C-4EE3-4335-8733-A5B510B0ED5E}"/>
              </a:ext>
            </a:extLst>
          </p:cNvPr>
          <p:cNvSpPr>
            <a:spLocks xmlns:a="http://schemas.openxmlformats.org/drawingml/2006/main" noGrp="1"/>
          </p:cNvSpPr>
          <p:nvPr/>
        </p:nvSpPr>
        <p:spPr>
          <a:xfrm xmlns:a="http://schemas.openxmlformats.org/drawingml/2006/main">
            <a:off x="8248650" y="2076450"/>
            <a:ext cx="85725" cy="85725"/>
          </a:xfrm>
          <a:prstGeom xmlns:a="http://schemas.openxmlformats.org/drawingml/2006/main" prst="ellipse">
            <a:avLst/>
          </a:prstGeom>
          <a:solidFill xmlns:a="http://schemas.openxmlformats.org/drawingml/2006/main">
            <a:srgbClr val="2563EB"/>
          </a:solidFill>
        </p:spPr>
      </p:sp>
      <p:sp>
        <p:nvSpPr>
          <p:cNvPr id="24" name="">
            <a:extLst xmlns:a="http://schemas.openxmlformats.org/drawingml/2006/main">
              <a:ext uri="{FF2B5EF4-FFF2-40B4-BE49-F238E27FC236}">
                <a16:creationId xmlns:a16="http://schemas.microsoft.com/office/drawing/2014/main" id="{6CABDF4B-0A12-4BF7-8106-B86909E6862F}"/>
              </a:ext>
            </a:extLst>
          </p:cNvPr>
          <p:cNvSpPr>
            <a:spLocks xmlns:a="http://schemas.openxmlformats.org/drawingml/2006/main" noGrp="1"/>
          </p:cNvSpPr>
          <p:nvPr/>
        </p:nvSpPr>
        <p:spPr>
          <a:xfrm xmlns:a="http://schemas.openxmlformats.org/drawingml/2006/main">
            <a:off x="8458200" y="2076450"/>
            <a:ext cx="3124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Failure review</a:t>
            </a:r>
            <a:r>
              <a:rPr sz="938">
                <a:solidFill>
                  <a:srgbClr val="334155"/>
                </a:solidFill>
              </a:rPr>
              <a:t> scenario-level misses, false positives, drift</a:t>
            </a:r>
          </a:p>
        </p:txBody>
      </p:sp>
      <p:sp>
        <p:nvSpPr>
          <p:cNvPr id="25" name="dot-next-step">
            <a:extLst xmlns:a="http://schemas.openxmlformats.org/drawingml/2006/main">
              <a:ext uri="{FF2B5EF4-FFF2-40B4-BE49-F238E27FC236}">
                <a16:creationId xmlns:a16="http://schemas.microsoft.com/office/drawing/2014/main" id="{ED3DA62C-7ECB-4D74-A076-1BE14AC0E5B7}"/>
              </a:ext>
            </a:extLst>
          </p:cNvPr>
          <p:cNvSpPr>
            <a:spLocks xmlns:a="http://schemas.openxmlformats.org/drawingml/2006/main" noGrp="1"/>
          </p:cNvSpPr>
          <p:nvPr/>
        </p:nvSpPr>
        <p:spPr>
          <a:xfrm xmlns:a="http://schemas.openxmlformats.org/drawingml/2006/main">
            <a:off x="8248650" y="2324100"/>
            <a:ext cx="85725" cy="85725"/>
          </a:xfrm>
          <a:prstGeom xmlns:a="http://schemas.openxmlformats.org/drawingml/2006/main" prst="ellipse">
            <a:avLst/>
          </a:prstGeom>
          <a:solidFill xmlns:a="http://schemas.openxmlformats.org/drawingml/2006/main">
            <a:srgbClr val="2563EB"/>
          </a:solidFill>
        </p:spPr>
      </p:sp>
      <p:sp>
        <p:nvSpPr>
          <p:cNvPr id="26" name="">
            <a:extLst xmlns:a="http://schemas.openxmlformats.org/drawingml/2006/main">
              <a:ext uri="{FF2B5EF4-FFF2-40B4-BE49-F238E27FC236}">
                <a16:creationId xmlns:a16="http://schemas.microsoft.com/office/drawing/2014/main" id="{636C47C6-FB84-4C9D-85AF-094472A7A0B2}"/>
              </a:ext>
            </a:extLst>
          </p:cNvPr>
          <p:cNvSpPr>
            <a:spLocks xmlns:a="http://schemas.openxmlformats.org/drawingml/2006/main" noGrp="1"/>
          </p:cNvSpPr>
          <p:nvPr/>
        </p:nvSpPr>
        <p:spPr>
          <a:xfrm xmlns:a="http://schemas.openxmlformats.org/drawingml/2006/main">
            <a:off x="8458200" y="2324100"/>
            <a:ext cx="31242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38">
                <a:solidFill>
                  <a:srgbClr val="334155"/>
                </a:solidFill>
              </a:defRPr>
            </a:pPr>
            <a:r>
              <a:rPr sz="938" b="1">
                <a:solidFill>
                  <a:srgbClr val="334155"/>
                </a:solidFill>
              </a:rPr>
              <a:t>Next step</a:t>
            </a:r>
            <a:r>
              <a:rPr sz="938">
                <a:solidFill>
                  <a:srgbClr val="334155"/>
                </a:solidFill>
              </a:rPr>
              <a:t> edge export plus latency/FPS/memory benchmark</a:t>
            </a:r>
          </a:p>
        </p:txBody>
      </p:sp>
      <p:sp>
        <p:nvSpPr>
          <p:cNvPr id="27" name="bottom-callout">
            <a:extLst xmlns:a="http://schemas.openxmlformats.org/drawingml/2006/main">
              <a:ext uri="{FF2B5EF4-FFF2-40B4-BE49-F238E27FC236}">
                <a16:creationId xmlns:a16="http://schemas.microsoft.com/office/drawing/2014/main" id="{9DACCA4E-D7B7-4C9A-8D3E-919631B8D646}"/>
              </a:ext>
            </a:extLst>
          </p:cNvPr>
          <p:cNvSpPr>
            <a:spLocks xmlns:a="http://schemas.openxmlformats.org/drawingml/2006/main" noGrp="1"/>
          </p:cNvSpPr>
          <p:nvPr/>
        </p:nvSpPr>
        <p:spPr>
          <a:xfrm xmlns:a="http://schemas.openxmlformats.org/drawingml/2006/main">
            <a:off x="457200" y="5499735"/>
            <a:ext cx="11277600" cy="556412"/>
          </a:xfrm>
          <a:prstGeom xmlns:a="http://schemas.openxmlformats.org/drawingml/2006/main" prst="roundRect">
            <a:avLst>
              <a:gd name="adj" fmla="val 17119"/>
            </a:avLst>
          </a:prstGeom>
          <a:solidFill xmlns:a="http://schemas.openxmlformats.org/drawingml/2006/main">
            <a:srgbClr val="EFF6FF"/>
          </a:solidFill>
        </p:spPr>
      </p:sp>
      <p:sp>
        <p:nvSpPr>
          <p:cNvPr id="28" name="">
            <a:extLst xmlns:a="http://schemas.openxmlformats.org/drawingml/2006/main">
              <a:ext uri="{FF2B5EF4-FFF2-40B4-BE49-F238E27FC236}">
                <a16:creationId xmlns:a16="http://schemas.microsoft.com/office/drawing/2014/main" id="{27A350EE-6103-4E50-A054-1917C3E8F782}"/>
              </a:ext>
            </a:extLst>
          </p:cNvPr>
          <p:cNvSpPr>
            <a:spLocks xmlns:a="http://schemas.openxmlformats.org/drawingml/2006/main" noGrp="1"/>
          </p:cNvSpPr>
          <p:nvPr/>
        </p:nvSpPr>
        <p:spPr>
          <a:xfrm xmlns:a="http://schemas.openxmlformats.org/drawingml/2006/main">
            <a:off x="628650" y="5619750"/>
            <a:ext cx="109347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13" b="1">
                <a:solidFill>
                  <a:srgbClr val="1D4ED8"/>
                </a:solidFill>
              </a:defRPr>
            </a:pPr>
            <a:r>
              <a:rPr sz="1013" b="1">
                <a:solidFill>
                  <a:srgbClr val="1D4ED8"/>
                </a:solidFill>
              </a:rPr>
              <a:t>Current state: label generation, taxonomy cleanup, YOLO dataset assembly, and training notebooks are implemented; pilot runs should now focus on label quality thresholds and measurable edge benchmarks.</a:t>
            </a:r>
          </a:p>
        </p:txBody>
      </p:sp>
    </p:spTree>
    <p:extLst>
      <p:ext uri="{BB962C8B-B14F-4D97-AF65-F5344CB8AC3E}">
        <p14:creationId xmlns:p14="http://schemas.microsoft.com/office/powerpoint/2010/main" val="12679177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699147F-468F-4AD8-AA83-6BDB27CD6901}"/>
              </a:ext>
            </a:extLst>
          </p:cNvPr>
          <p:cNvSpPr>
            <a:spLocks xmlns:a="http://schemas.openxmlformats.org/drawingml/2006/main" noGrp="1"/>
          </p:cNvSpPr>
          <p:nvPr/>
        </p:nvSpPr>
        <p:spPr>
          <a:xfrm xmlns:a="http://schemas.openxmlformats.org/drawingml/2006/main">
            <a:off x="548640" y="502920"/>
            <a:ext cx="8046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72A"/>
                </a:solidFill>
              </a:rPr>
              <a:t>Risks and mitigations</a:t>
            </a:r>
          </a:p>
        </p:txBody>
      </p:sp>
      <p:graphicFrame>
        <p:nvGraphicFramePr>
          <p:cNvPr id="3" name="Table 0"/>
          <p:cNvGraphicFramePr/>
          <p:nvPr/>
        </p:nvGraphicFramePr>
        <p:xfrm>
          <a:off xmlns:a="http://schemas.openxmlformats.org/drawingml/2006/main" x="640080" y="1463040"/>
          <a:ext xmlns:a="http://schemas.openxmlformats.org/drawingml/2006/main" cx="10927080" cy="3886200"/>
        </p:xfrm>
        <a:graphic xmlns:a="http://schemas.openxmlformats.org/drawingml/2006/main">
          <a:graphicData uri="http://schemas.openxmlformats.org/drawingml/2006/table">
            <a:tbl>
              <a:tblPr/>
              <a:tblGrid>
                <a:gridCol w="2011680"/>
                <a:gridCol w="2743200"/>
                <a:gridCol w="6172200"/>
              </a:tblGrid>
              <a:tr h="411480">
                <a:tc>
                  <a:txBody>
                    <a:bodyPr/>
                    <a:lstStyle/>
                    <a:p>
                      <a:pPr marL="0" indent="0" algn="ctr">
                        <a:buNone/>
                      </a:pPr>
                      <a:r>
                        <a:rPr sz="1500" b="1">
                          <a:solidFill>
                            <a:srgbClr val="FFFFFF"/>
                          </a:solidFill>
                        </a:rPr>
                        <a:t>Risk area</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0F172A"/>
                    </a:solidFill>
                  </a:tcPr>
                </a:tc>
                <a:tc>
                  <a:txBody>
                    <a:bodyPr/>
                    <a:lstStyle/>
                    <a:p>
                      <a:pPr marL="0" indent="0" algn="ctr">
                        <a:buNone/>
                      </a:pPr>
                      <a:r>
                        <a:rPr sz="1500" b="1">
                          <a:solidFill>
                            <a:srgbClr val="FFFFFF"/>
                          </a:solidFill>
                        </a:rPr>
                        <a:t>Concern</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0F172A"/>
                    </a:solidFill>
                  </a:tcPr>
                </a:tc>
                <a:tc>
                  <a:txBody>
                    <a:bodyPr/>
                    <a:lstStyle/>
                    <a:p>
                      <a:pPr marL="0" indent="0" algn="ctr">
                        <a:buNone/>
                      </a:pPr>
                      <a:r>
                        <a:rPr sz="1500" b="1">
                          <a:solidFill>
                            <a:srgbClr val="FFFFFF"/>
                          </a:solidFill>
                        </a:rPr>
                        <a:t>Mitigation</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0F172A"/>
                    </a:solidFill>
                  </a:tcPr>
                </a:tc>
              </a:tr>
              <a:tr h="868680">
                <a:tc>
                  <a:txBody>
                    <a:bodyPr/>
                    <a:lstStyle/>
                    <a:p>
                      <a:pPr marL="0" indent="0">
                        <a:buNone/>
                      </a:pPr>
                      <a:r>
                        <a:rPr sz="1500">
                          <a:solidFill>
                            <a:srgbClr val="334155"/>
                          </a:solidFill>
                        </a:rPr>
                        <a:t>Edge constraints</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Model is too slow or too large</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Start with nano/small models; reduce resolution; use FP16/INT8; benchmark early</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r>
              <a:tr h="868680">
                <a:tc>
                  <a:txBody>
                    <a:bodyPr/>
                    <a:lstStyle/>
                    <a:p>
                      <a:pPr marL="0" indent="0">
                        <a:buNone/>
                      </a:pPr>
                      <a:r>
                        <a:rPr sz="1500">
                          <a:solidFill>
                            <a:srgbClr val="334155"/>
                          </a:solidFill>
                        </a:rPr>
                        <a:t>Label quality</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Pre-labels are not good enough</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Keep human review mandatory; define acceptance gates; limit pilot scope</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r>
              <a:tr h="868680">
                <a:tc>
                  <a:txBody>
                    <a:bodyPr/>
                    <a:lstStyle/>
                    <a:p>
                      <a:pPr marL="0" indent="0">
                        <a:buNone/>
                      </a:pPr>
                      <a:r>
                        <a:rPr sz="1500">
                          <a:solidFill>
                            <a:srgbClr val="334155"/>
                          </a:solidFill>
                        </a:rPr>
                        <a:t>Domain shift</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Performance varies by scenario</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Use representative splits; scenario-level reporting; active-learning loop</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r>
              <a:tr h="868680">
                <a:tc>
                  <a:txBody>
                    <a:bodyPr/>
                    <a:lstStyle/>
                    <a:p>
                      <a:pPr marL="0" indent="0">
                        <a:buNone/>
                      </a:pPr>
                      <a:r>
                        <a:rPr sz="1500">
                          <a:solidFill>
                            <a:srgbClr val="334155"/>
                          </a:solidFill>
                        </a:rPr>
                        <a:t>Integration</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Outputs do not fit review pipelines</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c>
                  <a:txBody>
                    <a:bodyPr/>
                    <a:lstStyle/>
                    <a:p>
                      <a:pPr marL="0" indent="0">
                        <a:buNone/>
                      </a:pPr>
                      <a:r>
                        <a:rPr sz="1500">
                          <a:solidFill>
                            <a:srgbClr val="334155"/>
                          </a:solidFill>
                        </a:rPr>
                        <a:t>Standardize output schema; version metadata; integrate with existing workflows</a:t>
                      </a:r>
                    </a:p>
                  </a:txBody>
                  <a:tcPr marL="73152" marR="73152" marT="73152" marB="73152">
                    <a:lnL w="12700">
                      <a:solidFill>
                        <a:srgbClr val="CBD5E1"/>
                      </a:solidFill>
                      <a:prstDash val="solid"/>
                    </a:lnL>
                    <a:lnR w="12700">
                      <a:solidFill>
                        <a:srgbClr val="CBD5E1"/>
                      </a:solidFill>
                      <a:prstDash val="solid"/>
                    </a:lnR>
                    <a:lnT w="12700">
                      <a:solidFill>
                        <a:srgbClr val="CBD5E1"/>
                      </a:solidFill>
                      <a:prstDash val="solid"/>
                    </a:lnT>
                    <a:lnB w="12700">
                      <a:solidFill>
                        <a:srgbClr val="CBD5E1"/>
                      </a:solidFill>
                      <a:prstDash val="solid"/>
                    </a:lnB>
                    <a:solidFill>
                      <a:srgbClr val="FFFFFF"/>
                    </a:solidFill>
                  </a:tcPr>
                </a:tc>
              </a:tr>
            </a:tbl>
          </a:graphicData>
        </a:graphic>
      </p:graphicFrame>
    </p:spTree>
    <p:extLst>
      <p:ext uri="{BB962C8B-B14F-4D97-AF65-F5344CB8AC3E}">
        <p14:creationId xmlns:p14="http://schemas.microsoft.com/office/powerpoint/2010/main" val="21265337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9B9A44-44BA-4499-8731-D72562B08839}"/>
              </a:ext>
            </a:extLst>
          </p:cNvPr>
          <p:cNvSpPr>
            <a:spLocks xmlns:a="http://schemas.openxmlformats.org/drawingml/2006/main" noGrp="1"/>
          </p:cNvSpPr>
          <p:nvPr/>
        </p:nvSpPr>
        <p:spPr>
          <a:xfrm xmlns:a="http://schemas.openxmlformats.org/drawingml/2006/main">
            <a:off x="548640" y="502920"/>
            <a:ext cx="8046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72A"/>
                </a:solidFill>
              </a:rPr>
              <a:t>Expected impact and business case</a:t>
            </a:r>
          </a:p>
        </p:txBody>
      </p:sp>
      <p:graphicFrame>
        <p:nvGraphicFramePr>
          <p:cNvPr id="3" name="Chart 0"/>
          <p:cNvGraphicFramePr/>
          <p:nvPr/>
        </p:nvGraphicFramePr>
        <p:xfrm>
          <a:off xmlns:a="http://schemas.openxmlformats.org/drawingml/2006/main" x="640080" y="1508760"/>
          <a:ext xmlns:a="http://schemas.openxmlformats.org/drawingml/2006/main" cx="5669280" cy="4206240"/>
        </p:xfrm>
        <a:graphic xmlns:a="http://schemas.openxmlformats.org/drawingml/2006/main">
          <a:graphicData uri="http://schemas.openxmlformats.org/drawingml/2006/chart">
            <c:chart xmlns:r="http://schemas.openxmlformats.org/officeDocument/2006/relationships" xmlns:c="http://schemas.openxmlformats.org/drawingml/2006/chart" r:id="Rf07285c815754575"/>
          </a:graphicData>
        </a:graphic>
      </p:graphicFrame>
      <p:sp>
        <p:nvSpPr>
          <p:cNvPr id="4" name="Shape 1">
            <a:extLst xmlns:a="http://schemas.openxmlformats.org/drawingml/2006/main">
              <a:ext uri="{FF2B5EF4-FFF2-40B4-BE49-F238E27FC236}">
                <a16:creationId xmlns:a16="http://schemas.microsoft.com/office/drawing/2014/main" id="{5C799D2B-5C70-4B0E-AF86-4EE5D903AC23}"/>
              </a:ext>
            </a:extLst>
          </p:cNvPr>
          <p:cNvSpPr>
            <a:spLocks xmlns:a="http://schemas.openxmlformats.org/drawingml/2006/main" noGrp="1"/>
          </p:cNvSpPr>
          <p:nvPr/>
        </p:nvSpPr>
        <p:spPr>
          <a:xfrm xmlns:a="http://schemas.openxmlformats.org/drawingml/2006/main">
            <a:off x="6629400" y="1645920"/>
            <a:ext cx="4663440" cy="1143000"/>
          </a:xfrm>
          <a:prstGeom xmlns:a="http://schemas.openxmlformats.org/drawingml/2006/main" prst="roundRect">
            <a:avLst>
              <a:gd name="adj" fmla="val 4800"/>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 name="Text 2">
            <a:extLst xmlns:a="http://schemas.openxmlformats.org/drawingml/2006/main">
              <a:ext uri="{FF2B5EF4-FFF2-40B4-BE49-F238E27FC236}">
                <a16:creationId xmlns:a16="http://schemas.microsoft.com/office/drawing/2014/main" id="{13ED943D-96A0-4444-90CA-AE8733A91798}"/>
              </a:ext>
            </a:extLst>
          </p:cNvPr>
          <p:cNvSpPr>
            <a:spLocks xmlns:a="http://schemas.openxmlformats.org/drawingml/2006/main" noGrp="1"/>
          </p:cNvSpPr>
          <p:nvPr/>
        </p:nvSpPr>
        <p:spPr>
          <a:xfrm xmlns:a="http://schemas.openxmlformats.org/drawingml/2006/main">
            <a:off x="6793992" y="1792224"/>
            <a:ext cx="433425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Conservative annual benefit</a:t>
            </a:r>
          </a:p>
        </p:txBody>
      </p:sp>
      <p:sp>
        <p:nvSpPr>
          <p:cNvPr id="6" name="Text 3">
            <a:extLst xmlns:a="http://schemas.openxmlformats.org/drawingml/2006/main">
              <a:ext uri="{FF2B5EF4-FFF2-40B4-BE49-F238E27FC236}">
                <a16:creationId xmlns:a16="http://schemas.microsoft.com/office/drawing/2014/main" id="{1D7AF9EE-E2D6-46F3-9041-61D07B66C382}"/>
              </a:ext>
            </a:extLst>
          </p:cNvPr>
          <p:cNvSpPr>
            <a:spLocks xmlns:a="http://schemas.openxmlformats.org/drawingml/2006/main" noGrp="1"/>
          </p:cNvSpPr>
          <p:nvPr/>
        </p:nvSpPr>
        <p:spPr>
          <a:xfrm xmlns:a="http://schemas.openxmlformats.org/drawingml/2006/main">
            <a:off x="6793992" y="2103120"/>
            <a:ext cx="433425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~€35k–€55k if the prototype becomes reusable across multiple similar workflows.</a:t>
            </a:r>
          </a:p>
        </p:txBody>
      </p:sp>
      <p:sp>
        <p:nvSpPr>
          <p:cNvPr id="7" name="Shape 4">
            <a:extLst xmlns:a="http://schemas.openxmlformats.org/drawingml/2006/main">
              <a:ext uri="{FF2B5EF4-FFF2-40B4-BE49-F238E27FC236}">
                <a16:creationId xmlns:a16="http://schemas.microsoft.com/office/drawing/2014/main" id="{56A52BD8-4B39-4A40-9EEC-3CED3ACCA0DF}"/>
              </a:ext>
            </a:extLst>
          </p:cNvPr>
          <p:cNvSpPr>
            <a:spLocks xmlns:a="http://schemas.openxmlformats.org/drawingml/2006/main" noGrp="1"/>
          </p:cNvSpPr>
          <p:nvPr/>
        </p:nvSpPr>
        <p:spPr>
          <a:xfrm xmlns:a="http://schemas.openxmlformats.org/drawingml/2006/main">
            <a:off x="6629400" y="2926080"/>
            <a:ext cx="4663440" cy="1051560"/>
          </a:xfrm>
          <a:prstGeom xmlns:a="http://schemas.openxmlformats.org/drawingml/2006/main" prst="roundRect">
            <a:avLst>
              <a:gd name="adj" fmla="val 5217"/>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A9F6E271-BE8D-4C4C-8D97-0FC9D6CA8C80}"/>
              </a:ext>
            </a:extLst>
          </p:cNvPr>
          <p:cNvSpPr>
            <a:spLocks xmlns:a="http://schemas.openxmlformats.org/drawingml/2006/main" noGrp="1"/>
          </p:cNvSpPr>
          <p:nvPr/>
        </p:nvSpPr>
        <p:spPr>
          <a:xfrm xmlns:a="http://schemas.openxmlformats.org/drawingml/2006/main">
            <a:off x="6793992" y="3072384"/>
            <a:ext cx="433425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Direct savings example</a:t>
            </a:r>
          </a:p>
        </p:txBody>
      </p:sp>
      <p:sp>
        <p:nvSpPr>
          <p:cNvPr id="9" name="Text 6">
            <a:extLst xmlns:a="http://schemas.openxmlformats.org/drawingml/2006/main">
              <a:ext uri="{FF2B5EF4-FFF2-40B4-BE49-F238E27FC236}">
                <a16:creationId xmlns:a16="http://schemas.microsoft.com/office/drawing/2014/main" id="{B6FE9721-3E1F-412A-9843-9E555D17E468}"/>
              </a:ext>
            </a:extLst>
          </p:cNvPr>
          <p:cNvSpPr>
            <a:spLocks xmlns:a="http://schemas.openxmlformats.org/drawingml/2006/main" noGrp="1"/>
          </p:cNvSpPr>
          <p:nvPr/>
        </p:nvSpPr>
        <p:spPr>
          <a:xfrm xmlns:a="http://schemas.openxmlformats.org/drawingml/2006/main">
            <a:off x="6793992" y="3383280"/>
            <a:ext cx="4334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100k frames/year × 20 sec manual first-pass ≈ 556 hours. A 25–35% reduction saves ~139–194 hours/year.</a:t>
            </a:r>
          </a:p>
        </p:txBody>
      </p:sp>
      <p:sp>
        <p:nvSpPr>
          <p:cNvPr id="10" name="Shape 7">
            <a:extLst xmlns:a="http://schemas.openxmlformats.org/drawingml/2006/main">
              <a:ext uri="{FF2B5EF4-FFF2-40B4-BE49-F238E27FC236}">
                <a16:creationId xmlns:a16="http://schemas.microsoft.com/office/drawing/2014/main" id="{B717A13B-8F73-48FC-A085-0FCDE19B64A0}"/>
              </a:ext>
            </a:extLst>
          </p:cNvPr>
          <p:cNvSpPr>
            <a:spLocks xmlns:a="http://schemas.openxmlformats.org/drawingml/2006/main" noGrp="1"/>
          </p:cNvSpPr>
          <p:nvPr/>
        </p:nvSpPr>
        <p:spPr>
          <a:xfrm xmlns:a="http://schemas.openxmlformats.org/drawingml/2006/main">
            <a:off x="6629400" y="4114800"/>
            <a:ext cx="4663440" cy="1051560"/>
          </a:xfrm>
          <a:prstGeom xmlns:a="http://schemas.openxmlformats.org/drawingml/2006/main" prst="roundRect">
            <a:avLst>
              <a:gd name="adj" fmla="val 5217"/>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511A866F-0699-438C-A559-0F90E5645B1D}"/>
              </a:ext>
            </a:extLst>
          </p:cNvPr>
          <p:cNvSpPr>
            <a:spLocks xmlns:a="http://schemas.openxmlformats.org/drawingml/2006/main" noGrp="1"/>
          </p:cNvSpPr>
          <p:nvPr/>
        </p:nvSpPr>
        <p:spPr>
          <a:xfrm xmlns:a="http://schemas.openxmlformats.org/drawingml/2006/main">
            <a:off x="6793992" y="4261104"/>
            <a:ext cx="433425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Cycle-time gain</a:t>
            </a:r>
          </a:p>
        </p:txBody>
      </p:sp>
      <p:sp>
        <p:nvSpPr>
          <p:cNvPr id="12" name="Text 9">
            <a:extLst xmlns:a="http://schemas.openxmlformats.org/drawingml/2006/main">
              <a:ext uri="{FF2B5EF4-FFF2-40B4-BE49-F238E27FC236}">
                <a16:creationId xmlns:a16="http://schemas.microsoft.com/office/drawing/2014/main" id="{C53A6830-0F76-4A9F-8B59-6315CFA96874}"/>
              </a:ext>
            </a:extLst>
          </p:cNvPr>
          <p:cNvSpPr>
            <a:spLocks xmlns:a="http://schemas.openxmlformats.org/drawingml/2006/main" noGrp="1"/>
          </p:cNvSpPr>
          <p:nvPr/>
        </p:nvSpPr>
        <p:spPr>
          <a:xfrm xmlns:a="http://schemas.openxmlformats.org/drawingml/2006/main">
            <a:off x="6793992" y="4572000"/>
            <a:ext cx="4334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If each dataset iteration saves 1–2 working days across 10–15 iterations/year, additional savings can be substantial.</a:t>
            </a:r>
          </a:p>
        </p:txBody>
      </p:sp>
    </p:spTree>
    <p:extLst>
      <p:ext uri="{BB962C8B-B14F-4D97-AF65-F5344CB8AC3E}">
        <p14:creationId xmlns:p14="http://schemas.microsoft.com/office/powerpoint/2010/main" val="152613120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540A59F-8024-4EB0-86A1-3345120D9057}"/>
              </a:ext>
            </a:extLst>
          </p:cNvPr>
          <p:cNvSpPr>
            <a:spLocks xmlns:a="http://schemas.openxmlformats.org/drawingml/2006/main" noGrp="1"/>
          </p:cNvSpPr>
          <p:nvPr/>
        </p:nvSpPr>
        <p:spPr>
          <a:xfrm xmlns:a="http://schemas.openxmlformats.org/drawingml/2006/main">
            <a:off x="548640" y="502920"/>
            <a:ext cx="8046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72A"/>
                </a:solidFill>
              </a:rPr>
              <a:t>Implementation plan and ask</a:t>
            </a:r>
          </a:p>
        </p:txBody>
      </p:sp>
      <p:sp>
        <p:nvSpPr>
          <p:cNvPr id="3" name="Shape 1">
            <a:extLst xmlns:a="http://schemas.openxmlformats.org/drawingml/2006/main">
              <a:ext uri="{FF2B5EF4-FFF2-40B4-BE49-F238E27FC236}">
                <a16:creationId xmlns:a16="http://schemas.microsoft.com/office/drawing/2014/main" id="{7F1E7860-9EC0-4D66-B554-E56EC5122F22}"/>
              </a:ext>
            </a:extLst>
          </p:cNvPr>
          <p:cNvSpPr>
            <a:spLocks xmlns:a="http://schemas.openxmlformats.org/drawingml/2006/main" noGrp="1"/>
          </p:cNvSpPr>
          <p:nvPr/>
        </p:nvSpPr>
        <p:spPr>
          <a:xfrm xmlns:a="http://schemas.openxmlformats.org/drawingml/2006/main">
            <a:off x="640080" y="1417320"/>
            <a:ext cx="3657600" cy="4480560"/>
          </a:xfrm>
          <a:prstGeom xmlns:a="http://schemas.openxmlformats.org/drawingml/2006/main" prst="roundRect">
            <a:avLst>
              <a:gd name="adj" fmla="val 1500"/>
            </a:avLst>
          </a:prstGeom>
          <a:solidFill xmlns:a="http://schemas.openxmlformats.org/drawingml/2006/main">
            <a:srgbClr val="FFFF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10AE4720-00DB-4C44-B922-1759DD730DE5}"/>
              </a:ext>
            </a:extLst>
          </p:cNvPr>
          <p:cNvSpPr>
            <a:spLocks xmlns:a="http://schemas.openxmlformats.org/drawingml/2006/main" noGrp="1"/>
          </p:cNvSpPr>
          <p:nvPr/>
        </p:nvSpPr>
        <p:spPr>
          <a:xfrm xmlns:a="http://schemas.openxmlformats.org/drawingml/2006/main">
            <a:off x="804672" y="1563624"/>
            <a:ext cx="3328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Indicative timeline</a:t>
            </a:r>
          </a:p>
        </p:txBody>
      </p:sp>
      <p:sp>
        <p:nvSpPr>
          <p:cNvPr id="5" name="Text 3">
            <a:extLst xmlns:a="http://schemas.openxmlformats.org/drawingml/2006/main">
              <a:ext uri="{FF2B5EF4-FFF2-40B4-BE49-F238E27FC236}">
                <a16:creationId xmlns:a16="http://schemas.microsoft.com/office/drawing/2014/main" id="{B826946F-D195-4961-81A3-6899F2874AF4}"/>
              </a:ext>
            </a:extLst>
          </p:cNvPr>
          <p:cNvSpPr>
            <a:spLocks xmlns:a="http://schemas.openxmlformats.org/drawingml/2006/main" noGrp="1"/>
          </p:cNvSpPr>
          <p:nvPr/>
        </p:nvSpPr>
        <p:spPr>
          <a:xfrm xmlns:a="http://schemas.openxmlformats.org/drawingml/2006/main">
            <a:off x="804672" y="1874520"/>
            <a:ext cx="332841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Weeks 1–2: scope, data, ontology, baseline</a:t>
            </a:r>
          </a:p>
          <a:p xmlns:a="http://schemas.openxmlformats.org/drawingml/2006/main">
            <a:pPr marL="0" indent="0">
              <a:buNone/>
            </a:pPr>
            <a:r>
              <a:rPr sz="1500">
                <a:solidFill>
                  <a:srgbClr val="334155"/>
                </a:solidFill>
              </a:rPr>
              <a:t>Weeks 3–5: training + pseudo-label pipeline</a:t>
            </a:r>
          </a:p>
          <a:p xmlns:a="http://schemas.openxmlformats.org/drawingml/2006/main">
            <a:pPr marL="0" indent="0">
              <a:buNone/>
            </a:pPr>
            <a:r>
              <a:rPr sz="1500">
                <a:solidFill>
                  <a:srgbClr val="334155"/>
                </a:solidFill>
              </a:rPr>
              <a:t>Weeks 6–8: export, optimization, deployment</a:t>
            </a:r>
          </a:p>
          <a:p xmlns:a="http://schemas.openxmlformats.org/drawingml/2006/main">
            <a:pPr marL="0" indent="0">
              <a:buNone/>
            </a:pPr>
            <a:r>
              <a:rPr sz="1500">
                <a:solidFill>
                  <a:srgbClr val="334155"/>
                </a:solidFill>
              </a:rPr>
              <a:t>Weeks 9–10: review integration + validation</a:t>
            </a:r>
          </a:p>
          <a:p xmlns:a="http://schemas.openxmlformats.org/drawingml/2006/main">
            <a:pPr marL="0" indent="0">
              <a:buNone/>
            </a:pPr>
            <a:r>
              <a:rPr sz="1500">
                <a:solidFill>
                  <a:srgbClr val="334155"/>
                </a:solidFill>
              </a:rPr>
              <a:t>Weeks 11–12: report, documentation, handoff</a:t>
            </a:r>
          </a:p>
        </p:txBody>
      </p:sp>
      <p:sp>
        <p:nvSpPr>
          <p:cNvPr id="6" name="Shape 4">
            <a:extLst xmlns:a="http://schemas.openxmlformats.org/drawingml/2006/main">
              <a:ext uri="{FF2B5EF4-FFF2-40B4-BE49-F238E27FC236}">
                <a16:creationId xmlns:a16="http://schemas.microsoft.com/office/drawing/2014/main" id="{9CF231F7-E450-4D45-8DA3-3B6AE35D3ABF}"/>
              </a:ext>
            </a:extLst>
          </p:cNvPr>
          <p:cNvSpPr>
            <a:spLocks xmlns:a="http://schemas.openxmlformats.org/drawingml/2006/main" noGrp="1"/>
          </p:cNvSpPr>
          <p:nvPr/>
        </p:nvSpPr>
        <p:spPr>
          <a:xfrm xmlns:a="http://schemas.openxmlformats.org/drawingml/2006/main">
            <a:off x="4480560" y="1417320"/>
            <a:ext cx="3200400" cy="4480560"/>
          </a:xfrm>
          <a:prstGeom xmlns:a="http://schemas.openxmlformats.org/drawingml/2006/main" prst="roundRect">
            <a:avLst>
              <a:gd name="adj" fmla="val 1714"/>
            </a:avLst>
          </a:prstGeom>
          <a:solidFill xmlns:a="http://schemas.openxmlformats.org/drawingml/2006/main">
            <a:srgbClr val="F8FAFC"/>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5696666B-A97D-46EB-ADD3-131C69BCBA97}"/>
              </a:ext>
            </a:extLst>
          </p:cNvPr>
          <p:cNvSpPr>
            <a:spLocks xmlns:a="http://schemas.openxmlformats.org/drawingml/2006/main" noGrp="1"/>
          </p:cNvSpPr>
          <p:nvPr/>
        </p:nvSpPr>
        <p:spPr>
          <a:xfrm xmlns:a="http://schemas.openxmlformats.org/drawingml/2006/main">
            <a:off x="4645152" y="1563624"/>
            <a:ext cx="2871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Required inputs</a:t>
            </a:r>
          </a:p>
        </p:txBody>
      </p:sp>
      <p:sp>
        <p:nvSpPr>
          <p:cNvPr id="8" name="Text 6">
            <a:extLst xmlns:a="http://schemas.openxmlformats.org/drawingml/2006/main">
              <a:ext uri="{FF2B5EF4-FFF2-40B4-BE49-F238E27FC236}">
                <a16:creationId xmlns:a16="http://schemas.microsoft.com/office/drawing/2014/main" id="{ECB45B32-3AFC-4E37-8700-F2D820B1EE31}"/>
              </a:ext>
            </a:extLst>
          </p:cNvPr>
          <p:cNvSpPr>
            <a:spLocks xmlns:a="http://schemas.openxmlformats.org/drawingml/2006/main" noGrp="1"/>
          </p:cNvSpPr>
          <p:nvPr/>
        </p:nvSpPr>
        <p:spPr>
          <a:xfrm xmlns:a="http://schemas.openxmlformats.org/drawingml/2006/main">
            <a:off x="4645152" y="1874520"/>
            <a:ext cx="287121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Representative dataset</a:t>
            </a:r>
          </a:p>
          <a:p xmlns:a="http://schemas.openxmlformats.org/drawingml/2006/main">
            <a:pPr marL="0" indent="0">
              <a:buNone/>
            </a:pPr>
            <a:r>
              <a:rPr sz="1500">
                <a:solidFill>
                  <a:srgbClr val="334155"/>
                </a:solidFill>
              </a:rPr>
              <a:t>Target device or equivalent benchmark hardware</a:t>
            </a:r>
          </a:p>
          <a:p xmlns:a="http://schemas.openxmlformats.org/drawingml/2006/main">
            <a:pPr marL="0" indent="0">
              <a:buNone/>
            </a:pPr>
            <a:r>
              <a:rPr sz="1500">
                <a:solidFill>
                  <a:srgbClr val="334155"/>
                </a:solidFill>
              </a:rPr>
              <a:t>Selected classes / ontology</a:t>
            </a:r>
          </a:p>
          <a:p xmlns:a="http://schemas.openxmlformats.org/drawingml/2006/main">
            <a:pPr marL="0" indent="0">
              <a:buNone/>
            </a:pPr>
            <a:r>
              <a:rPr sz="1500">
                <a:solidFill>
                  <a:srgbClr val="334155"/>
                </a:solidFill>
              </a:rPr>
              <a:t>Access to review workflow</a:t>
            </a:r>
          </a:p>
        </p:txBody>
      </p:sp>
      <p:sp>
        <p:nvSpPr>
          <p:cNvPr id="9" name="Shape 7">
            <a:extLst xmlns:a="http://schemas.openxmlformats.org/drawingml/2006/main">
              <a:ext uri="{FF2B5EF4-FFF2-40B4-BE49-F238E27FC236}">
                <a16:creationId xmlns:a16="http://schemas.microsoft.com/office/drawing/2014/main" id="{0D73CAD4-1DBF-4232-BD59-1CCF2E6995F5}"/>
              </a:ext>
            </a:extLst>
          </p:cNvPr>
          <p:cNvSpPr>
            <a:spLocks xmlns:a="http://schemas.openxmlformats.org/drawingml/2006/main" noGrp="1"/>
          </p:cNvSpPr>
          <p:nvPr/>
        </p:nvSpPr>
        <p:spPr>
          <a:xfrm xmlns:a="http://schemas.openxmlformats.org/drawingml/2006/main">
            <a:off x="7863840" y="1417320"/>
            <a:ext cx="3657600" cy="4480560"/>
          </a:xfrm>
          <a:prstGeom xmlns:a="http://schemas.openxmlformats.org/drawingml/2006/main" prst="roundRect">
            <a:avLst>
              <a:gd name="adj" fmla="val 1500"/>
            </a:avLst>
          </a:prstGeom>
          <a:solidFill xmlns:a="http://schemas.openxmlformats.org/drawingml/2006/main">
            <a:srgbClr val="EEF2FF"/>
          </a:solidFill>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347AE93E-70FE-48F2-ACD1-698C41953876}"/>
              </a:ext>
            </a:extLst>
          </p:cNvPr>
          <p:cNvSpPr>
            <a:spLocks xmlns:a="http://schemas.openxmlformats.org/drawingml/2006/main" noGrp="1"/>
          </p:cNvSpPr>
          <p:nvPr/>
        </p:nvSpPr>
        <p:spPr>
          <a:xfrm xmlns:a="http://schemas.openxmlformats.org/drawingml/2006/main">
            <a:off x="8028432" y="1563624"/>
            <a:ext cx="3328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72A"/>
                </a:solidFill>
              </a:rPr>
              <a:t>Decision message</a:t>
            </a:r>
          </a:p>
        </p:txBody>
      </p:sp>
      <p:sp>
        <p:nvSpPr>
          <p:cNvPr id="11" name="Text 9">
            <a:extLst xmlns:a="http://schemas.openxmlformats.org/drawingml/2006/main">
              <a:ext uri="{FF2B5EF4-FFF2-40B4-BE49-F238E27FC236}">
                <a16:creationId xmlns:a16="http://schemas.microsoft.com/office/drawing/2014/main" id="{AAD94879-2EA4-462B-A59D-48AB406FA9A7}"/>
              </a:ext>
            </a:extLst>
          </p:cNvPr>
          <p:cNvSpPr>
            <a:spLocks xmlns:a="http://schemas.openxmlformats.org/drawingml/2006/main" noGrp="1"/>
          </p:cNvSpPr>
          <p:nvPr/>
        </p:nvSpPr>
        <p:spPr>
          <a:xfrm xmlns:a="http://schemas.openxmlformats.org/drawingml/2006/main">
            <a:off x="8028432" y="1874520"/>
            <a:ext cx="3328416" cy="3886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334155"/>
                </a:solidFill>
              </a:rPr>
              <a:t>Approve the DSX Senior Phase proposal as a reusable, edge-aware labeling assistant prototype with measurable quality, runtime, and traceability outcomes.</a:t>
            </a:r>
          </a:p>
        </p:txBody>
      </p:sp>
    </p:spTree>
    <p:extLst>
      <p:ext uri="{BB962C8B-B14F-4D97-AF65-F5344CB8AC3E}">
        <p14:creationId xmlns:p14="http://schemas.microsoft.com/office/powerpoint/2010/main" val="814391081"/>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2026-05-11T01:53:29.1130000Z</dcterms:created>
  <dcterms:modified xsi:type="dcterms:W3CDTF">2026-05-11T01:53:29.1130000Z</dcterms:modified>
</coreProperties>
</file>